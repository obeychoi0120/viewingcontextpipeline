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945600" cy="12344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6459200" cy="73152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4000" b="1">
                <a:solidFill>
                  <a:srgbClr val="142D50"/>
                </a:solidFill>
                <a:latin typeface="Liberation Sans"/>
              </a:defRPr>
            </a:pPr>
            <a:r>
              <a:t>ViewingContextPipeline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562320" y="347472"/>
            <a:ext cx="2834640" cy="530352"/>
          </a:xfrm>
          <a:prstGeom prst="roundRect">
            <a:avLst>
              <a:gd name="adj" fmla="val 10000"/>
            </a:avLst>
          </a:prstGeom>
          <a:solidFill>
            <a:srgbClr val="EEF4FF"/>
          </a:solidFill>
          <a:ln w="12700">
            <a:solidFill>
              <a:srgbClr val="ADC6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726912" y="429768"/>
            <a:ext cx="2560320" cy="36576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42D50"/>
                </a:solidFill>
                <a:latin typeface="Liberation Sans"/>
              </a:defRPr>
            </a:pPr>
            <a:r>
              <a:t>v4 · FULL ROLLING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005840"/>
            <a:ext cx="20116800" cy="4114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100" b="0">
                <a:solidFill>
                  <a:srgbClr val="516985"/>
                </a:solidFill>
                <a:latin typeface="Liberation Sans"/>
              </a:defRPr>
            </a:pPr>
            <a:r>
              <a:t>Visual item representations for sequential recommendation · MicroLens-100K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72768"/>
            <a:ext cx="9966960" cy="457200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969264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142D50"/>
                </a:solidFill>
                <a:latin typeface="Liberation Sans"/>
              </a:defRPr>
            </a:pPr>
            <a:r>
              <a:t>100,000 users   ·   719,405 interactions   ·   19,738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698480" y="1572768"/>
            <a:ext cx="10698480" cy="457200"/>
          </a:xfrm>
          <a:prstGeom prst="roundRect">
            <a:avLst>
              <a:gd name="adj" fmla="val 10000"/>
            </a:avLst>
          </a:prstGeom>
          <a:solidFill>
            <a:srgbClr val="EAF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63072" y="1627632"/>
            <a:ext cx="1033272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PRIMARY COMPARISON   graph_qwen_meta − meta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67712"/>
            <a:ext cx="740664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01   SHARED GENERATION · 4 SOURCES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267712"/>
            <a:ext cx="662940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02   BGE INPUTS · 6 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0" y="2267712"/>
            <a:ext cx="5852160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142D50"/>
                </a:solidFill>
                <a:latin typeface="Liberation Sans"/>
              </a:defRPr>
            </a:pPr>
            <a:r>
              <a:t>03   ENCODE + RECOMMEND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88920"/>
            <a:ext cx="740664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66760" y="2788920"/>
            <a:ext cx="662940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5544800" y="2788920"/>
            <a:ext cx="5852160" cy="5806440"/>
          </a:xfrm>
          <a:prstGeom prst="roundRect">
            <a:avLst>
              <a:gd name="adj" fmla="val 3500"/>
            </a:avLst>
          </a:prstGeom>
          <a:solidFill>
            <a:srgbClr val="F8FAFC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2971800"/>
            <a:ext cx="6858000" cy="521207"/>
          </a:xfrm>
          <a:prstGeom prst="roundRect">
            <a:avLst>
              <a:gd name="adj" fmla="val 10000"/>
            </a:avLst>
          </a:prstGeom>
          <a:solidFill>
            <a:srgbClr val="EDF3FA"/>
          </a:solidFill>
          <a:ln w="12700">
            <a:solidFill>
              <a:srgbClr val="D8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044952"/>
            <a:ext cx="6537960" cy="36576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142D50"/>
                </a:solidFill>
                <a:latin typeface="Liberation Sans"/>
              </a:defRPr>
            </a:pPr>
            <a:r>
              <a:t>Shared keyframes · fixed 30s windows · ≤6 frames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40080" y="3236976"/>
            <a:ext cx="137160" cy="0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" y="370332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794759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87E66"/>
                </a:solidFill>
                <a:latin typeface="Liberation Sans"/>
              </a:defRPr>
            </a:pPr>
            <a:r>
              <a:t>Qwen3-VL-2B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178808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graphs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206240" y="4137659"/>
            <a:ext cx="393192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17720" y="370332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3794759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87E66"/>
                </a:solidFill>
                <a:latin typeface="Liberation Sans"/>
              </a:defRPr>
            </a:pPr>
            <a:r>
              <a:t>GQ  Summary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4178808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3236976"/>
            <a:ext cx="0" cy="900683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40080" y="4137659"/>
            <a:ext cx="137160" cy="0"/>
          </a:xfrm>
          <a:prstGeom prst="line">
            <a:avLst/>
          </a:prstGeom>
          <a:ln w="1270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406640" y="4137659"/>
            <a:ext cx="704087" cy="0"/>
          </a:xfrm>
          <a:prstGeom prst="line">
            <a:avLst/>
          </a:prstGeom>
          <a:ln w="20320">
            <a:solidFill>
              <a:srgbClr val="087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10727" y="4137659"/>
            <a:ext cx="0" cy="777241"/>
          </a:xfrm>
          <a:prstGeom prst="line">
            <a:avLst/>
          </a:prstGeom>
          <a:ln w="20320">
            <a:solidFill>
              <a:srgbClr val="087E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10727" y="4137660"/>
            <a:ext cx="502921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110727" y="4914900"/>
            <a:ext cx="502921" cy="0"/>
          </a:xfrm>
          <a:prstGeom prst="line">
            <a:avLst/>
          </a:prstGeom>
          <a:ln w="20320">
            <a:solidFill>
              <a:srgbClr val="087E6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77240" y="475488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846320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848C"/>
                </a:solidFill>
                <a:latin typeface="Liberation Sans"/>
              </a:defRPr>
            </a:pPr>
            <a:r>
              <a:t>gemini-3.8-flash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230368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graphs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06240" y="5189220"/>
            <a:ext cx="393192" cy="0"/>
          </a:xfrm>
          <a:prstGeom prst="line">
            <a:avLst/>
          </a:prstGeom>
          <a:ln w="2032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617720" y="475488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4846320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00848C"/>
                </a:solidFill>
                <a:latin typeface="Liberation Sans"/>
              </a:defRPr>
            </a:pPr>
            <a:r>
              <a:t>GG  Summary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3168" y="5230368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3236976"/>
            <a:ext cx="0" cy="1952244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40080" y="5189220"/>
            <a:ext cx="137160" cy="0"/>
          </a:xfrm>
          <a:prstGeom prst="line">
            <a:avLst/>
          </a:prstGeom>
          <a:ln w="1270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406640" y="5189220"/>
            <a:ext cx="704087" cy="0"/>
          </a:xfrm>
          <a:prstGeom prst="line">
            <a:avLst/>
          </a:prstGeom>
          <a:ln w="20320">
            <a:solidFill>
              <a:srgbClr val="008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10727" y="5189220"/>
            <a:ext cx="0" cy="502920"/>
          </a:xfrm>
          <a:prstGeom prst="line">
            <a:avLst/>
          </a:prstGeom>
          <a:ln w="20320">
            <a:solidFill>
              <a:srgbClr val="0084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110727" y="5692140"/>
            <a:ext cx="502921" cy="0"/>
          </a:xfrm>
          <a:prstGeom prst="line">
            <a:avLst/>
          </a:prstGeom>
          <a:ln w="20320">
            <a:solidFill>
              <a:srgbClr val="00848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77240" y="580644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" y="5897879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285CE5"/>
                </a:solidFill>
                <a:latin typeface="Liberation Sans"/>
              </a:defRPr>
            </a:pPr>
            <a:r>
              <a:t>Qwen3-VL-2B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" y="6281927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descriptions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206240" y="6240779"/>
            <a:ext cx="393192" cy="0"/>
          </a:xfrm>
          <a:prstGeom prst="line">
            <a:avLst/>
          </a:prstGeom>
          <a:ln w="2032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4617720" y="580644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73168" y="5897879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285CE5"/>
                </a:solidFill>
                <a:latin typeface="Liberation Sans"/>
              </a:defRPr>
            </a:pPr>
            <a:r>
              <a:t>DQ  Summary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73168" y="6281927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40080" y="3236976"/>
            <a:ext cx="0" cy="3003803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40080" y="6240779"/>
            <a:ext cx="137160" cy="0"/>
          </a:xfrm>
          <a:prstGeom prst="line">
            <a:avLst/>
          </a:prstGeom>
          <a:ln w="1270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406640" y="6240779"/>
            <a:ext cx="704087" cy="0"/>
          </a:xfrm>
          <a:prstGeom prst="line">
            <a:avLst/>
          </a:prstGeom>
          <a:ln w="20320">
            <a:solidFill>
              <a:srgbClr val="285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110727" y="6240779"/>
            <a:ext cx="0" cy="228601"/>
          </a:xfrm>
          <a:prstGeom prst="line">
            <a:avLst/>
          </a:prstGeom>
          <a:ln w="20320">
            <a:solidFill>
              <a:srgbClr val="285C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110727" y="6469380"/>
            <a:ext cx="502921" cy="0"/>
          </a:xfrm>
          <a:prstGeom prst="line">
            <a:avLst/>
          </a:prstGeom>
          <a:ln w="20320">
            <a:solidFill>
              <a:srgbClr val="285CE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777240" y="6858000"/>
            <a:ext cx="342900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742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6949440"/>
            <a:ext cx="3154680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5742A1"/>
                </a:solidFill>
                <a:latin typeface="Liberation Sans"/>
              </a:defRPr>
            </a:pPr>
            <a:r>
              <a:t>gemini-3.8-flash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" y="7333488"/>
            <a:ext cx="3154680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Scene descriptions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206240" y="7292340"/>
            <a:ext cx="393192" cy="0"/>
          </a:xfrm>
          <a:prstGeom prst="line">
            <a:avLst/>
          </a:prstGeom>
          <a:ln w="20320">
            <a:solidFill>
              <a:srgbClr val="5742A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4617720" y="685800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742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73168" y="6949440"/>
            <a:ext cx="24963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5742A1"/>
                </a:solidFill>
                <a:latin typeface="Liberation Sans"/>
              </a:defRPr>
            </a:pPr>
            <a:r>
              <a:t>DG  Summary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73168" y="7333488"/>
            <a:ext cx="2496312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Title-free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40080" y="3236976"/>
            <a:ext cx="0" cy="4055364"/>
          </a:xfrm>
          <a:prstGeom prst="line">
            <a:avLst/>
          </a:prstGeom>
          <a:ln w="12700">
            <a:solidFill>
              <a:srgbClr val="5169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40080" y="7292340"/>
            <a:ext cx="137160" cy="0"/>
          </a:xfrm>
          <a:prstGeom prst="line">
            <a:avLst/>
          </a:prstGeom>
          <a:ln w="12700">
            <a:solidFill>
              <a:srgbClr val="5742A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406640" y="7292340"/>
            <a:ext cx="704087" cy="0"/>
          </a:xfrm>
          <a:prstGeom prst="line">
            <a:avLst/>
          </a:prstGeom>
          <a:ln w="20320">
            <a:solidFill>
              <a:srgbClr val="5742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8110727" y="7246620"/>
            <a:ext cx="0" cy="45720"/>
          </a:xfrm>
          <a:prstGeom prst="line">
            <a:avLst/>
          </a:prstGeom>
          <a:ln w="20320">
            <a:solidFill>
              <a:srgbClr val="5742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110727" y="7246620"/>
            <a:ext cx="502921" cy="0"/>
          </a:xfrm>
          <a:prstGeom prst="line">
            <a:avLst/>
          </a:prstGeom>
          <a:ln w="20320">
            <a:solidFill>
              <a:srgbClr val="5742A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32104" y="7900416"/>
            <a:ext cx="6629400" cy="53035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Summary model: Qwen in README example; selectable via CLI.</a:t>
            </a:r>
          </a:p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GQ Summary is shared by graph_qwen and graph_qwen_meta.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13648" y="303580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860">
            <a:solidFill>
              <a:srgbClr val="636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622792" y="3063239"/>
            <a:ext cx="59436" cy="594360"/>
          </a:xfrm>
          <a:prstGeom prst="rect">
            <a:avLst/>
          </a:prstGeom>
          <a:solidFill>
            <a:srgbClr val="636F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87384" y="317296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636F80"/>
                </a:solidFill>
                <a:latin typeface="Liberation Sans"/>
              </a:defRPr>
            </a:pPr>
            <a:r>
              <a:t>meta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408408" y="318211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636F80"/>
                </a:solidFill>
                <a:latin typeface="Liberation Sans"/>
              </a:defRPr>
            </a:pPr>
            <a:r>
              <a:t>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613648" y="381304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622792" y="3840480"/>
            <a:ext cx="59436" cy="594360"/>
          </a:xfrm>
          <a:prstGeom prst="rect">
            <a:avLst/>
          </a:prstGeom>
          <a:solidFill>
            <a:srgbClr val="087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87384" y="395020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graph_qwen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408408" y="395935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87E66"/>
                </a:solidFill>
                <a:latin typeface="Liberation Sans"/>
              </a:defRPr>
            </a:pPr>
            <a:r>
              <a:t>GQ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613648" y="459028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EAF6F1"/>
          </a:solidFill>
          <a:ln w="22860">
            <a:solidFill>
              <a:srgbClr val="087E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622792" y="4617720"/>
            <a:ext cx="59436" cy="594360"/>
          </a:xfrm>
          <a:prstGeom prst="rect">
            <a:avLst/>
          </a:prstGeom>
          <a:solidFill>
            <a:srgbClr val="087E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87384" y="472744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87E66"/>
                </a:solidFill>
                <a:latin typeface="Liberation Sans"/>
              </a:defRPr>
            </a:pPr>
            <a:r>
              <a:t>graph_qwen_meta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2408408" y="473659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87E66"/>
                </a:solidFill>
                <a:latin typeface="Liberation Sans"/>
              </a:defRPr>
            </a:pPr>
            <a:r>
              <a:t>T + GQ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13648" y="5367527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8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622792" y="5394959"/>
            <a:ext cx="59436" cy="594360"/>
          </a:xfrm>
          <a:prstGeom prst="rect">
            <a:avLst/>
          </a:prstGeom>
          <a:solidFill>
            <a:srgbClr val="008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87384" y="550468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00848C"/>
                </a:solidFill>
                <a:latin typeface="Liberation Sans"/>
              </a:defRPr>
            </a:pPr>
            <a:r>
              <a:t>graph_gemini_meta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408408" y="5513831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00848C"/>
                </a:solidFill>
                <a:latin typeface="Liberation Sans"/>
              </a:defRPr>
            </a:pPr>
            <a:r>
              <a:t>T + GG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613648" y="614476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85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22792" y="6172200"/>
            <a:ext cx="59436" cy="594360"/>
          </a:xfrm>
          <a:prstGeom prst="rect">
            <a:avLst/>
          </a:prstGeom>
          <a:solidFill>
            <a:srgbClr val="285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787384" y="628192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285CE5"/>
                </a:solidFill>
                <a:latin typeface="Liberation Sans"/>
              </a:defRPr>
            </a:pPr>
            <a:r>
              <a:t>desc_qwen_meta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408408" y="629107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285CE5"/>
                </a:solidFill>
                <a:latin typeface="Liberation Sans"/>
              </a:defRPr>
            </a:pPr>
            <a:r>
              <a:t>T + DQ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613648" y="6922008"/>
            <a:ext cx="5486400" cy="6492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742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22792" y="6949440"/>
            <a:ext cx="59436" cy="594360"/>
          </a:xfrm>
          <a:prstGeom prst="rect">
            <a:avLst/>
          </a:prstGeom>
          <a:solidFill>
            <a:srgbClr val="5742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787384" y="7059168"/>
            <a:ext cx="3593592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desc_gemini_meta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408408" y="7068312"/>
            <a:ext cx="1554480" cy="3931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800" b="1">
                <a:solidFill>
                  <a:srgbClr val="5742A1"/>
                </a:solidFill>
                <a:latin typeface="Liberation Sans"/>
              </a:defRPr>
            </a:pPr>
            <a:r>
              <a:t>T + DG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153144" y="7882127"/>
            <a:ext cx="4946904" cy="438912"/>
          </a:xfrm>
          <a:prstGeom prst="roundRect">
            <a:avLst>
              <a:gd name="adj" fmla="val 10000"/>
            </a:avLst>
          </a:prstGeom>
          <a:solidFill>
            <a:srgbClr val="EEF0F4"/>
          </a:solidFill>
          <a:ln w="12700">
            <a:solidFill>
              <a:srgbClr val="636F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99448" y="7936992"/>
            <a:ext cx="4608576" cy="31089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636F80"/>
                </a:solidFill>
                <a:latin typeface="Liberation Sans"/>
              </a:defRPr>
            </a:pPr>
            <a:r>
              <a:t>T = English title  ·  bypasses all LLMs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4100048" y="8101583"/>
            <a:ext cx="402336" cy="0"/>
          </a:xfrm>
          <a:prstGeom prst="line">
            <a:avLst/>
          </a:prstGeom>
          <a:ln w="20320">
            <a:solidFill>
              <a:srgbClr val="636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4502384" y="3360420"/>
            <a:ext cx="0" cy="4741163"/>
          </a:xfrm>
          <a:prstGeom prst="line">
            <a:avLst/>
          </a:prstGeom>
          <a:ln w="20320">
            <a:solidFill>
              <a:srgbClr val="636F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14100048" y="336042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14100048" y="491490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H="1">
            <a:off x="14100048" y="569214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14100048" y="646938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14100048" y="7246620"/>
            <a:ext cx="402336" cy="0"/>
          </a:xfrm>
          <a:prstGeom prst="line">
            <a:avLst/>
          </a:prstGeom>
          <a:ln w="20320">
            <a:solidFill>
              <a:srgbClr val="636F8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8741664" y="7616952"/>
            <a:ext cx="5495544" cy="23774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16985"/>
                </a:solidFill>
                <a:latin typeface="Liberation Sans"/>
              </a:defRPr>
            </a:pPr>
            <a:r>
              <a:t>+ = text concatenation with one blank line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4996159" y="3959352"/>
            <a:ext cx="822961" cy="0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15828263" y="3227832"/>
            <a:ext cx="5276088" cy="14721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91A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6056863" y="3364992"/>
            <a:ext cx="4818888" cy="3840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100" b="1">
                <a:solidFill>
                  <a:srgbClr val="142D50"/>
                </a:solidFill>
                <a:latin typeface="Liberation Sans"/>
              </a:defRPr>
            </a:pPr>
            <a:r>
              <a:t>Frozen BGE-large-en-v1.5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056863" y="3867912"/>
            <a:ext cx="4818888" cy="6400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≤512 tokens per input → 1024-D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Truncate after title + Summary composition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18470880" y="4700016"/>
            <a:ext cx="0" cy="356616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15828263" y="5074920"/>
            <a:ext cx="5276088" cy="1353312"/>
          </a:xfrm>
          <a:prstGeom prst="roundRect">
            <a:avLst>
              <a:gd name="adj" fmla="val 10000"/>
            </a:avLst>
          </a:prstGeom>
          <a:solidFill>
            <a:srgbClr val="14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6056863" y="5239512"/>
            <a:ext cx="4818888" cy="676656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Projection + Residual MLPs</a:t>
            </a:r>
          </a:p>
          <a:p>
            <a:pPr>
              <a:spcAft>
                <a:spcPts val="300"/>
              </a:spcAft>
              <a:defRPr sz="2200" b="1">
                <a:solidFill>
                  <a:srgbClr val="FFFFFF"/>
                </a:solidFill>
                <a:latin typeface="Liberation Sans"/>
              </a:defRPr>
            </a:pPr>
            <a:r>
              <a:t>+ SASRec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6056863" y="6007608"/>
            <a:ext cx="4818888" cy="32004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FFFFFF"/>
                </a:solidFill>
                <a:latin typeface="Liberation Sans"/>
              </a:defRPr>
            </a:pPr>
            <a:r>
              <a:t>1024 → 512-D · trainable per arm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5828263" y="6995160"/>
            <a:ext cx="5276088" cy="813816"/>
          </a:xfrm>
          <a:prstGeom prst="roundRect">
            <a:avLst>
              <a:gd name="adj" fmla="val 10000"/>
            </a:avLst>
          </a:prstGeom>
          <a:solidFill>
            <a:srgbClr val="ECF2FC"/>
          </a:solidFill>
          <a:ln w="12700">
            <a:solidFill>
              <a:srgbClr val="91AC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6056863" y="7095744"/>
            <a:ext cx="4818888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000" b="1">
                <a:solidFill>
                  <a:srgbClr val="142D50"/>
                </a:solidFill>
                <a:latin typeface="Liberation Sans"/>
              </a:defRPr>
            </a:pPr>
            <a:r>
              <a:t>Common user histories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6056863" y="7461504"/>
            <a:ext cx="4818888" cy="27432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Strictly earlier events · last 10 items</a:t>
            </a:r>
          </a:p>
        </p:txBody>
      </p:sp>
      <p:cxnSp>
        <p:nvCxnSpPr>
          <p:cNvPr id="114" name="Connector 113"/>
          <p:cNvCxnSpPr/>
          <p:nvPr/>
        </p:nvCxnSpPr>
        <p:spPr>
          <a:xfrm flipV="1">
            <a:off x="18470880" y="6428232"/>
            <a:ext cx="0" cy="566928"/>
          </a:xfrm>
          <a:prstGeom prst="line">
            <a:avLst/>
          </a:prstGeom>
          <a:ln w="25400">
            <a:solidFill>
              <a:srgbClr val="142D5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15937992" y="8037575"/>
            <a:ext cx="5129784" cy="32004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500" b="0">
                <a:solidFill>
                  <a:srgbClr val="516985"/>
                </a:solidFill>
                <a:latin typeface="Liberation Sans"/>
              </a:defRPr>
            </a:pPr>
            <a:r>
              <a:t>Same architecture · independent weights per arm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502920" y="8924544"/>
            <a:ext cx="20894040" cy="3026664"/>
          </a:xfrm>
          <a:prstGeom prst="roundRect">
            <a:avLst>
              <a:gd name="adj" fmla="val 3500"/>
            </a:avLst>
          </a:prstGeom>
          <a:solidFill>
            <a:srgbClr val="F7F5FD"/>
          </a:solidFill>
          <a:ln w="12700">
            <a:solidFill>
              <a:srgbClr val="B7A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49808" y="9089136"/>
            <a:ext cx="20071080" cy="411480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2300" b="1">
                <a:solidFill>
                  <a:srgbClr val="5742A1"/>
                </a:solidFill>
                <a:latin typeface="Liberation Sans"/>
              </a:defRPr>
            </a:pPr>
            <a:r>
              <a:t>SHARED EVALUATION · ALL SIX ARMS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58952" y="9619488"/>
            <a:ext cx="5715000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6684264" y="9619488"/>
            <a:ext cx="5486400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12380976" y="9619488"/>
            <a:ext cx="8741664" cy="15453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0C5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2688" y="9747504"/>
            <a:ext cx="5367528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ROLLING PROTOCOL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932688" y="10168128"/>
            <a:ext cx="5367528" cy="8503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7 days × 3 seeds × 6 arms = 126 runs</a:t>
            </a:r>
          </a:p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Select epoch → fresh refit → test</a:t>
            </a:r>
          </a:p>
          <a:p>
            <a:pPr>
              <a:spcAft>
                <a:spcPts val="300"/>
              </a:spcAft>
              <a:defRPr sz="1700" b="0">
                <a:solidFill>
                  <a:srgbClr val="516985"/>
                </a:solidFill>
                <a:latin typeface="Liberation Sans"/>
              </a:defRPr>
            </a:pPr>
            <a:r>
              <a:t>Same catalog and evaluation events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876288" y="9747504"/>
            <a:ext cx="5102352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FULL-CATALOG RANKING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876288" y="10168128"/>
            <a:ext cx="5102352" cy="85039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19,738 items · existing-history masking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Primary: NDCG@10 · Also: HR@10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Empty input → zero vector; retain item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2573000" y="9747504"/>
            <a:ext cx="8321040" cy="347472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900" b="1">
                <a:solidFill>
                  <a:srgbClr val="5742A1"/>
                </a:solidFill>
                <a:latin typeface="Liberation Sans"/>
              </a:defRPr>
            </a:pPr>
            <a:r>
              <a:t>STATISTICAL COMPARISONS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2573000" y="10168128"/>
            <a:ext cx="8321040" cy="841248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Two-sided Bonferroni CIs: vs Meta (5) · representation (2) · title (1)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Teacher reference: graph_gemini_meta − graph_qwen_meta</a:t>
            </a:r>
          </a:p>
          <a:p>
            <a:pPr>
              <a:spcAft>
                <a:spcPts val="300"/>
              </a:spcAft>
              <a:defRPr sz="1600" b="0">
                <a:solidFill>
                  <a:srgbClr val="516985"/>
                </a:solidFill>
                <a:latin typeface="Liberation Sans"/>
              </a:defRPr>
            </a:pPr>
            <a:r>
              <a:t>Exploratory, unadjusted 95% CI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59536" y="11320272"/>
            <a:ext cx="20098512" cy="32918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700" b="0">
                <a:solidFill>
                  <a:srgbClr val="5742A1"/>
                </a:solidFill>
                <a:latin typeface="Liberation Sans"/>
              </a:defRPr>
            </a:pPr>
            <a:r>
              <a:t>User-level paired bootstrap · 10,000 samples · average seeds, then equally average days · familywise α = 0.05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59536" y="11686032"/>
            <a:ext cx="20098512" cy="237744"/>
          </a:xfrm>
          <a:prstGeom prst="rect">
            <a:avLst/>
          </a:prstGeom>
          <a:noFill/>
        </p:spPr>
        <p:txBody>
          <a:bodyPr wrap="square" lIns="18288" rIns="18288" tIns="13716" bIns="0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516985"/>
                </a:solidFill>
                <a:latin typeface="Liberation Sans"/>
              </a:defRPr>
            </a:pPr>
            <a:r>
              <a:t>Combined arms use the available title / Summary; neither available → zero vector. Standalone arms do not substitute another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ViewingContextPipeline v4</dc:title>
  <dc:subject>Four shared generation sources and six evaluation arms</dc:subject>
  <dc:creator>ViewingContextPipeline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