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945600" cy="123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6459200" cy="73152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4000" b="1">
                <a:solidFill>
                  <a:srgbClr val="142D50"/>
                </a:solidFill>
                <a:latin typeface="Liberation Sans"/>
              </a:defRPr>
            </a:pPr>
            <a:r>
              <a:t>ViewingContextPipeline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562320" y="347472"/>
            <a:ext cx="2834640" cy="530352"/>
          </a:xfrm>
          <a:prstGeom prst="roundRect">
            <a:avLst>
              <a:gd name="adj" fmla="val 10000"/>
            </a:avLst>
          </a:prstGeom>
          <a:solidFill>
            <a:srgbClr val="EEF4FF"/>
          </a:solidFill>
          <a:ln w="12700">
            <a:solidFill>
              <a:srgbClr val="ADC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26912" y="429768"/>
            <a:ext cx="2560320" cy="36576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42D50"/>
                </a:solidFill>
                <a:latin typeface="Liberation Sans"/>
              </a:defRPr>
            </a:pPr>
            <a:r>
              <a:t>v4 · FULL ROLLING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05840"/>
            <a:ext cx="20116800" cy="41148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100" b="0">
                <a:solidFill>
                  <a:srgbClr val="516985"/>
                </a:solidFill>
                <a:latin typeface="Liberation Sans"/>
              </a:defRPr>
            </a:pPr>
            <a:r>
              <a:t>Visual item representations for sequential recommendation · MicroLens-100K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72768"/>
            <a:ext cx="9966960" cy="457200"/>
          </a:xfrm>
          <a:prstGeom prst="roundRect">
            <a:avLst>
              <a:gd name="adj" fmla="val 10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9692640" cy="34747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142D50"/>
                </a:solidFill>
                <a:latin typeface="Liberation Sans"/>
              </a:defRPr>
            </a:pPr>
            <a:r>
              <a:t>100,000 users   ·   719,405 interactions   ·   19,738 items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98480" y="1572768"/>
            <a:ext cx="10698480" cy="457200"/>
          </a:xfrm>
          <a:prstGeom prst="roundRect">
            <a:avLst>
              <a:gd name="adj" fmla="val 10000"/>
            </a:avLst>
          </a:prstGeom>
          <a:solidFill>
            <a:srgbClr val="EA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63072" y="1627632"/>
            <a:ext cx="10332720" cy="34747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087E66"/>
                </a:solidFill>
                <a:latin typeface="Liberation Sans"/>
              </a:defRPr>
            </a:pPr>
            <a:r>
              <a:t>PRIMARY COMPARISON   graph_qwen_meta − meta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67712"/>
            <a:ext cx="7406640" cy="384048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142D50"/>
                </a:solidFill>
                <a:latin typeface="Liberation Sans"/>
              </a:defRPr>
            </a:pPr>
            <a:r>
              <a:t>01   SHARED GENERATION · 3 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267712"/>
            <a:ext cx="6629400" cy="384048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142D50"/>
                </a:solidFill>
                <a:latin typeface="Liberation Sans"/>
              </a:defRPr>
            </a:pPr>
            <a:r>
              <a:t>02   BGE INPUTS · 6 ARMS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0" y="2267712"/>
            <a:ext cx="5852160" cy="384048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142D50"/>
                </a:solidFill>
                <a:latin typeface="Liberation Sans"/>
              </a:defRPr>
            </a:pPr>
            <a:r>
              <a:t>03   ENCODE + RECOMMEND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788920"/>
            <a:ext cx="7406640" cy="5806440"/>
          </a:xfrm>
          <a:prstGeom prst="roundRect">
            <a:avLst>
              <a:gd name="adj" fmla="val 3500"/>
            </a:avLst>
          </a:prstGeom>
          <a:solidFill>
            <a:srgbClr val="F8FAFC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66760" y="2788920"/>
            <a:ext cx="6629400" cy="5806440"/>
          </a:xfrm>
          <a:prstGeom prst="roundRect">
            <a:avLst>
              <a:gd name="adj" fmla="val 3500"/>
            </a:avLst>
          </a:prstGeom>
          <a:solidFill>
            <a:srgbClr val="F8FAFC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544800" y="2788920"/>
            <a:ext cx="5852160" cy="5806440"/>
          </a:xfrm>
          <a:prstGeom prst="roundRect">
            <a:avLst>
              <a:gd name="adj" fmla="val 3500"/>
            </a:avLst>
          </a:prstGeom>
          <a:solidFill>
            <a:srgbClr val="F8FAFC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971800"/>
            <a:ext cx="6858000" cy="521207"/>
          </a:xfrm>
          <a:prstGeom prst="roundRect">
            <a:avLst>
              <a:gd name="adj" fmla="val 10000"/>
            </a:avLst>
          </a:prstGeom>
          <a:solidFill>
            <a:srgbClr val="EDF3FA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044952"/>
            <a:ext cx="6537960" cy="36576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42D50"/>
                </a:solidFill>
                <a:latin typeface="Liberation Sans"/>
              </a:defRPr>
            </a:pPr>
            <a:r>
              <a:t>Shared keyframes · fixed 30s windows · ≤6 frames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40080" y="3236976"/>
            <a:ext cx="137160" cy="0"/>
          </a:xfrm>
          <a:prstGeom prst="line">
            <a:avLst/>
          </a:prstGeom>
          <a:ln w="12700">
            <a:solidFill>
              <a:srgbClr val="516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" y="3703320"/>
            <a:ext cx="34290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87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13048"/>
            <a:ext cx="3154680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087E66"/>
                </a:solidFill>
                <a:latin typeface="Liberation Sans"/>
              </a:defRPr>
            </a:pPr>
            <a:r>
              <a:t>Qwen3-VL-2B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251959"/>
            <a:ext cx="3154680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16985"/>
                </a:solidFill>
                <a:latin typeface="Liberation Sans"/>
              </a:defRPr>
            </a:pPr>
            <a:r>
              <a:t>Scene graphs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206240" y="4206240"/>
            <a:ext cx="393192" cy="0"/>
          </a:xfrm>
          <a:prstGeom prst="line">
            <a:avLst/>
          </a:prstGeom>
          <a:ln w="20320">
            <a:solidFill>
              <a:srgbClr val="087E6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617720" y="3703320"/>
            <a:ext cx="27889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87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3813048"/>
            <a:ext cx="2496312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087E66"/>
                </a:solidFill>
                <a:latin typeface="Liberation Sans"/>
              </a:defRPr>
            </a:pPr>
            <a:r>
              <a:t>GQ 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3168" y="4251959"/>
            <a:ext cx="2496312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Title-free · shared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080" y="3236976"/>
            <a:ext cx="0" cy="969264"/>
          </a:xfrm>
          <a:prstGeom prst="line">
            <a:avLst/>
          </a:prstGeom>
          <a:ln w="12700">
            <a:solidFill>
              <a:srgbClr val="087E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40080" y="4206240"/>
            <a:ext cx="137160" cy="0"/>
          </a:xfrm>
          <a:prstGeom prst="line">
            <a:avLst/>
          </a:prstGeom>
          <a:ln w="12700">
            <a:solidFill>
              <a:srgbClr val="087E6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406640" y="4206240"/>
            <a:ext cx="704087" cy="0"/>
          </a:xfrm>
          <a:prstGeom prst="line">
            <a:avLst/>
          </a:prstGeom>
          <a:ln w="20320">
            <a:solidFill>
              <a:srgbClr val="087E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110727" y="3360420"/>
            <a:ext cx="0" cy="845820"/>
          </a:xfrm>
          <a:prstGeom prst="line">
            <a:avLst/>
          </a:prstGeom>
          <a:ln w="20320">
            <a:solidFill>
              <a:srgbClr val="087E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10727" y="3360420"/>
            <a:ext cx="502921" cy="0"/>
          </a:xfrm>
          <a:prstGeom prst="line">
            <a:avLst/>
          </a:prstGeom>
          <a:ln w="20320">
            <a:solidFill>
              <a:srgbClr val="087E6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10727" y="4137660"/>
            <a:ext cx="502921" cy="0"/>
          </a:xfrm>
          <a:prstGeom prst="line">
            <a:avLst/>
          </a:prstGeom>
          <a:ln w="20320">
            <a:solidFill>
              <a:srgbClr val="087E6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77240" y="5166360"/>
            <a:ext cx="34290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85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5276088"/>
            <a:ext cx="3154680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285CE5"/>
                </a:solidFill>
                <a:latin typeface="Liberation Sans"/>
              </a:defRPr>
            </a:pPr>
            <a:r>
              <a:t>Qwen3-VL-2B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715000"/>
            <a:ext cx="3154680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16985"/>
                </a:solidFill>
                <a:latin typeface="Liberation Sans"/>
              </a:defRPr>
            </a:pPr>
            <a:r>
              <a:t>Scene descriptions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206240" y="5669280"/>
            <a:ext cx="393192" cy="0"/>
          </a:xfrm>
          <a:prstGeom prst="line">
            <a:avLst/>
          </a:prstGeom>
          <a:ln w="20320">
            <a:solidFill>
              <a:srgbClr val="285CE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617720" y="5166360"/>
            <a:ext cx="27889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85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5276088"/>
            <a:ext cx="2496312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285CE5"/>
                </a:solidFill>
                <a:latin typeface="Liberation Sans"/>
              </a:defRPr>
            </a:pPr>
            <a:r>
              <a:t>DQ  Summary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73168" y="5715000"/>
            <a:ext cx="2496312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Title-free · shared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3236976"/>
            <a:ext cx="0" cy="2432304"/>
          </a:xfrm>
          <a:prstGeom prst="line">
            <a:avLst/>
          </a:prstGeom>
          <a:ln w="12700">
            <a:solidFill>
              <a:srgbClr val="285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0080" y="5669280"/>
            <a:ext cx="137160" cy="0"/>
          </a:xfrm>
          <a:prstGeom prst="line">
            <a:avLst/>
          </a:prstGeom>
          <a:ln w="12700">
            <a:solidFill>
              <a:srgbClr val="285CE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406640" y="5669280"/>
            <a:ext cx="704087" cy="0"/>
          </a:xfrm>
          <a:prstGeom prst="line">
            <a:avLst/>
          </a:prstGeom>
          <a:ln w="20320">
            <a:solidFill>
              <a:srgbClr val="285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110727" y="4914900"/>
            <a:ext cx="0" cy="777240"/>
          </a:xfrm>
          <a:prstGeom prst="line">
            <a:avLst/>
          </a:prstGeom>
          <a:ln w="20320">
            <a:solidFill>
              <a:srgbClr val="285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110727" y="4914900"/>
            <a:ext cx="502921" cy="0"/>
          </a:xfrm>
          <a:prstGeom prst="line">
            <a:avLst/>
          </a:prstGeom>
          <a:ln w="20320">
            <a:solidFill>
              <a:srgbClr val="285CE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110727" y="5692140"/>
            <a:ext cx="502921" cy="0"/>
          </a:xfrm>
          <a:prstGeom prst="line">
            <a:avLst/>
          </a:prstGeom>
          <a:ln w="20320">
            <a:solidFill>
              <a:srgbClr val="285CE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77240" y="6629400"/>
            <a:ext cx="34290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8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2688" y="6739128"/>
            <a:ext cx="3154680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00848C"/>
                </a:solidFill>
                <a:latin typeface="Liberation Sans"/>
              </a:defRPr>
            </a:pPr>
            <a:r>
              <a:t>gemini-3.8-flash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" y="7178040"/>
            <a:ext cx="3154680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16985"/>
                </a:solidFill>
                <a:latin typeface="Liberation Sans"/>
              </a:defRPr>
            </a:pPr>
            <a:r>
              <a:t>Scene graphs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206240" y="7132320"/>
            <a:ext cx="393192" cy="0"/>
          </a:xfrm>
          <a:prstGeom prst="line">
            <a:avLst/>
          </a:prstGeom>
          <a:ln w="20320">
            <a:solidFill>
              <a:srgbClr val="0084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617720" y="6629400"/>
            <a:ext cx="27889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8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73168" y="6739128"/>
            <a:ext cx="2496312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00848C"/>
                </a:solidFill>
                <a:latin typeface="Liberation Sans"/>
              </a:defRPr>
            </a:pPr>
            <a:r>
              <a:t>GG  Summary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73168" y="7178040"/>
            <a:ext cx="2496312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Title-free · shared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40080" y="3236976"/>
            <a:ext cx="0" cy="3895344"/>
          </a:xfrm>
          <a:prstGeom prst="line">
            <a:avLst/>
          </a:prstGeom>
          <a:ln w="12700">
            <a:solidFill>
              <a:srgbClr val="008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40080" y="7132320"/>
            <a:ext cx="137160" cy="0"/>
          </a:xfrm>
          <a:prstGeom prst="line">
            <a:avLst/>
          </a:prstGeom>
          <a:ln w="12700">
            <a:solidFill>
              <a:srgbClr val="0084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406640" y="7132320"/>
            <a:ext cx="704087" cy="0"/>
          </a:xfrm>
          <a:prstGeom prst="line">
            <a:avLst/>
          </a:prstGeom>
          <a:ln w="20320">
            <a:solidFill>
              <a:srgbClr val="008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110727" y="6469380"/>
            <a:ext cx="0" cy="662940"/>
          </a:xfrm>
          <a:prstGeom prst="line">
            <a:avLst/>
          </a:prstGeom>
          <a:ln w="20320">
            <a:solidFill>
              <a:srgbClr val="008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110727" y="6469380"/>
            <a:ext cx="502921" cy="0"/>
          </a:xfrm>
          <a:prstGeom prst="line">
            <a:avLst/>
          </a:prstGeom>
          <a:ln w="20320">
            <a:solidFill>
              <a:srgbClr val="0084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32104" y="7900416"/>
            <a:ext cx="6629400" cy="53035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16985"/>
                </a:solidFill>
                <a:latin typeface="Liberation Sans"/>
              </a:defRPr>
            </a:pPr>
            <a:r>
              <a:t>Summary model: Qwen in README example; selectable via CLI.</a:t>
            </a:r>
          </a:p>
          <a:p>
            <a:pPr>
              <a:spcAft>
                <a:spcPts val="300"/>
              </a:spcAft>
              <a:defRPr sz="1500" b="0">
                <a:solidFill>
                  <a:srgbClr val="516985"/>
                </a:solidFill>
                <a:latin typeface="Liberation Sans"/>
              </a:defRPr>
            </a:pPr>
            <a:r>
              <a:t>One Summary per source feeds its standalone / combined arms.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613648" y="3035808"/>
            <a:ext cx="5486400" cy="6492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87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22792" y="3063239"/>
            <a:ext cx="59436" cy="594360"/>
          </a:xfrm>
          <a:prstGeom prst="rect">
            <a:avLst/>
          </a:prstGeom>
          <a:solidFill>
            <a:srgbClr val="087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787384" y="3172968"/>
            <a:ext cx="3593592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087E66"/>
                </a:solidFill>
                <a:latin typeface="Liberation Sans"/>
              </a:defRPr>
            </a:pPr>
            <a:r>
              <a:t>graph_qwen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408408" y="3182112"/>
            <a:ext cx="1554480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087E66"/>
                </a:solidFill>
                <a:latin typeface="Liberation Sans"/>
              </a:defRPr>
            </a:pPr>
            <a:r>
              <a:t>GQ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13648" y="3813048"/>
            <a:ext cx="5486400" cy="649224"/>
          </a:xfrm>
          <a:prstGeom prst="roundRect">
            <a:avLst>
              <a:gd name="adj" fmla="val 10000"/>
            </a:avLst>
          </a:prstGeom>
          <a:solidFill>
            <a:srgbClr val="EAF6F1"/>
          </a:solidFill>
          <a:ln w="22860">
            <a:solidFill>
              <a:srgbClr val="087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622792" y="3840480"/>
            <a:ext cx="59436" cy="594360"/>
          </a:xfrm>
          <a:prstGeom prst="rect">
            <a:avLst/>
          </a:prstGeom>
          <a:solidFill>
            <a:srgbClr val="087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87384" y="3950208"/>
            <a:ext cx="3593592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087E66"/>
                </a:solidFill>
                <a:latin typeface="Liberation Sans"/>
              </a:defRPr>
            </a:pPr>
            <a:r>
              <a:t>graph_qwen_meta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408408" y="3959352"/>
            <a:ext cx="1554480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087E66"/>
                </a:solidFill>
                <a:latin typeface="Liberation Sans"/>
              </a:defRPr>
            </a:pPr>
            <a:r>
              <a:t>T + GQ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613648" y="4590288"/>
            <a:ext cx="5486400" cy="6492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85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622792" y="4617720"/>
            <a:ext cx="59436" cy="594360"/>
          </a:xfrm>
          <a:prstGeom prst="rect">
            <a:avLst/>
          </a:prstGeom>
          <a:solidFill>
            <a:srgbClr val="285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87384" y="4727448"/>
            <a:ext cx="3593592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285CE5"/>
                </a:solidFill>
                <a:latin typeface="Liberation Sans"/>
              </a:defRPr>
            </a:pPr>
            <a:r>
              <a:t>desc_qwen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408408" y="4736592"/>
            <a:ext cx="1554480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285CE5"/>
                </a:solidFill>
                <a:latin typeface="Liberation Sans"/>
              </a:defRPr>
            </a:pPr>
            <a:r>
              <a:t>DQ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613648" y="5367527"/>
            <a:ext cx="5486400" cy="6492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85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622792" y="5394959"/>
            <a:ext cx="59436" cy="594360"/>
          </a:xfrm>
          <a:prstGeom prst="rect">
            <a:avLst/>
          </a:prstGeom>
          <a:solidFill>
            <a:srgbClr val="285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87384" y="5504688"/>
            <a:ext cx="3593592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285CE5"/>
                </a:solidFill>
                <a:latin typeface="Liberation Sans"/>
              </a:defRPr>
            </a:pPr>
            <a:r>
              <a:t>desc_qwen_meta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408408" y="5513831"/>
            <a:ext cx="1554480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285CE5"/>
                </a:solidFill>
                <a:latin typeface="Liberation Sans"/>
              </a:defRPr>
            </a:pPr>
            <a:r>
              <a:t>T + DQ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13648" y="6144768"/>
            <a:ext cx="5486400" cy="6492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8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622792" y="6172200"/>
            <a:ext cx="59436" cy="594360"/>
          </a:xfrm>
          <a:prstGeom prst="rect">
            <a:avLst/>
          </a:prstGeom>
          <a:solidFill>
            <a:srgbClr val="00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787384" y="6281928"/>
            <a:ext cx="3593592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00848C"/>
                </a:solidFill>
                <a:latin typeface="Liberation Sans"/>
              </a:defRPr>
            </a:pPr>
            <a:r>
              <a:t>graph_gemini_meta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408408" y="6291072"/>
            <a:ext cx="1554480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00848C"/>
                </a:solidFill>
                <a:latin typeface="Liberation Sans"/>
              </a:defRPr>
            </a:pPr>
            <a:r>
              <a:t>T + GG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13648" y="6922008"/>
            <a:ext cx="5486400" cy="6492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860">
            <a:solidFill>
              <a:srgbClr val="636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22792" y="6949440"/>
            <a:ext cx="59436" cy="594360"/>
          </a:xfrm>
          <a:prstGeom prst="rect">
            <a:avLst/>
          </a:prstGeom>
          <a:solidFill>
            <a:srgbClr val="636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787384" y="7059168"/>
            <a:ext cx="3593592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636F80"/>
                </a:solidFill>
                <a:latin typeface="Liberation Sans"/>
              </a:defRPr>
            </a:pPr>
            <a:r>
              <a:t>meta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408408" y="7068312"/>
            <a:ext cx="1554480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636F80"/>
                </a:solidFill>
                <a:latin typeface="Liberation Sans"/>
              </a:defRPr>
            </a:pPr>
            <a:r>
              <a:t>T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153144" y="7882127"/>
            <a:ext cx="4946904" cy="438912"/>
          </a:xfrm>
          <a:prstGeom prst="roundRect">
            <a:avLst>
              <a:gd name="adj" fmla="val 10000"/>
            </a:avLst>
          </a:prstGeom>
          <a:solidFill>
            <a:srgbClr val="EEF0F4"/>
          </a:solidFill>
          <a:ln w="12700">
            <a:solidFill>
              <a:srgbClr val="636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299448" y="7936992"/>
            <a:ext cx="4608576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636F80"/>
                </a:solidFill>
                <a:latin typeface="Liberation Sans"/>
              </a:defRPr>
            </a:pPr>
            <a:r>
              <a:t>T = English title  ·  bypasses all LLMs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14100048" y="8101583"/>
            <a:ext cx="402336" cy="0"/>
          </a:xfrm>
          <a:prstGeom prst="line">
            <a:avLst/>
          </a:prstGeom>
          <a:ln w="20320">
            <a:solidFill>
              <a:srgbClr val="636F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4502384" y="4137660"/>
            <a:ext cx="0" cy="3963923"/>
          </a:xfrm>
          <a:prstGeom prst="line">
            <a:avLst/>
          </a:prstGeom>
          <a:ln w="20320">
            <a:solidFill>
              <a:srgbClr val="636F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4100048" y="4137660"/>
            <a:ext cx="402336" cy="0"/>
          </a:xfrm>
          <a:prstGeom prst="line">
            <a:avLst/>
          </a:prstGeom>
          <a:ln w="20320">
            <a:solidFill>
              <a:srgbClr val="636F8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4100048" y="5692140"/>
            <a:ext cx="402336" cy="0"/>
          </a:xfrm>
          <a:prstGeom prst="line">
            <a:avLst/>
          </a:prstGeom>
          <a:ln w="20320">
            <a:solidFill>
              <a:srgbClr val="636F8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4100048" y="6469380"/>
            <a:ext cx="402336" cy="0"/>
          </a:xfrm>
          <a:prstGeom prst="line">
            <a:avLst/>
          </a:prstGeom>
          <a:ln w="20320">
            <a:solidFill>
              <a:srgbClr val="636F8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4100048" y="7246620"/>
            <a:ext cx="402336" cy="0"/>
          </a:xfrm>
          <a:prstGeom prst="line">
            <a:avLst/>
          </a:prstGeom>
          <a:ln w="20320">
            <a:solidFill>
              <a:srgbClr val="636F8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8741664" y="7616952"/>
            <a:ext cx="5495544" cy="23774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16985"/>
                </a:solidFill>
                <a:latin typeface="Liberation Sans"/>
              </a:defRPr>
            </a:pPr>
            <a:r>
              <a:t>+ = text concatenation with one blank line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4996159" y="3959352"/>
            <a:ext cx="822961" cy="0"/>
          </a:xfrm>
          <a:prstGeom prst="line">
            <a:avLst/>
          </a:prstGeom>
          <a:ln w="25400">
            <a:solidFill>
              <a:srgbClr val="142D5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15828263" y="3227832"/>
            <a:ext cx="5276088" cy="14721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91A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6056863" y="3364992"/>
            <a:ext cx="4818888" cy="384048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100" b="1">
                <a:solidFill>
                  <a:srgbClr val="142D50"/>
                </a:solidFill>
                <a:latin typeface="Liberation Sans"/>
              </a:defRPr>
            </a:pPr>
            <a:r>
              <a:t>Frozen BGE-large-en-v1.5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6056863" y="3867912"/>
            <a:ext cx="4818888" cy="64008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≤512 tokens per input → 1024-D</a:t>
            </a:r>
          </a:p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Truncate after title + Summary composition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18470880" y="4700016"/>
            <a:ext cx="0" cy="356616"/>
          </a:xfrm>
          <a:prstGeom prst="line">
            <a:avLst/>
          </a:prstGeom>
          <a:ln w="25400">
            <a:solidFill>
              <a:srgbClr val="142D5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15828263" y="5074920"/>
            <a:ext cx="5276088" cy="1353312"/>
          </a:xfrm>
          <a:prstGeom prst="roundRect">
            <a:avLst>
              <a:gd name="adj" fmla="val 10000"/>
            </a:avLst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6056863" y="5239512"/>
            <a:ext cx="4818888" cy="67665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Projection + Residual MLPs</a:t>
            </a:r>
          </a:p>
          <a:p>
            <a:pPr>
              <a:spcAft>
                <a:spcPts val="30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+ SASRec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056863" y="6007608"/>
            <a:ext cx="4818888" cy="32004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Liberation Sans"/>
              </a:defRPr>
            </a:pPr>
            <a:r>
              <a:t>1024 → 512-D · trainable per arm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5828263" y="6995160"/>
            <a:ext cx="5276088" cy="813816"/>
          </a:xfrm>
          <a:prstGeom prst="roundRect">
            <a:avLst>
              <a:gd name="adj" fmla="val 10000"/>
            </a:avLst>
          </a:prstGeom>
          <a:solidFill>
            <a:srgbClr val="ECF2FC"/>
          </a:solidFill>
          <a:ln w="12700">
            <a:solidFill>
              <a:srgbClr val="91A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6056863" y="7095744"/>
            <a:ext cx="4818888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142D50"/>
                </a:solidFill>
                <a:latin typeface="Liberation Sans"/>
              </a:defRPr>
            </a:pPr>
            <a:r>
              <a:t>Common user histories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6056863" y="7461504"/>
            <a:ext cx="4818888" cy="27432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Strictly earlier events · last 10 items</a:t>
            </a:r>
          </a:p>
        </p:txBody>
      </p:sp>
      <p:cxnSp>
        <p:nvCxnSpPr>
          <p:cNvPr id="102" name="Connector 101"/>
          <p:cNvCxnSpPr/>
          <p:nvPr/>
        </p:nvCxnSpPr>
        <p:spPr>
          <a:xfrm flipV="1">
            <a:off x="18470880" y="6428232"/>
            <a:ext cx="0" cy="566928"/>
          </a:xfrm>
          <a:prstGeom prst="line">
            <a:avLst/>
          </a:prstGeom>
          <a:ln w="25400">
            <a:solidFill>
              <a:srgbClr val="142D5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937992" y="8037575"/>
            <a:ext cx="5129784" cy="32004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16985"/>
                </a:solidFill>
                <a:latin typeface="Liberation Sans"/>
              </a:defRPr>
            </a:pPr>
            <a:r>
              <a:t>Same architecture · independent weights per arm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02920" y="8924544"/>
            <a:ext cx="20894040" cy="3026664"/>
          </a:xfrm>
          <a:prstGeom prst="roundRect">
            <a:avLst>
              <a:gd name="adj" fmla="val 3500"/>
            </a:avLst>
          </a:prstGeom>
          <a:solidFill>
            <a:srgbClr val="F7F5FD"/>
          </a:solidFill>
          <a:ln w="12700">
            <a:solidFill>
              <a:srgbClr val="B7A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49808" y="9089136"/>
            <a:ext cx="20071080" cy="41148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300" b="1">
                <a:solidFill>
                  <a:srgbClr val="5742A1"/>
                </a:solidFill>
                <a:latin typeface="Liberation Sans"/>
              </a:defRPr>
            </a:pPr>
            <a:r>
              <a:t>SHARED EVALUATION · ALL SIX ARMS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58952" y="9619488"/>
            <a:ext cx="5715000" cy="1545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C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6684264" y="9619488"/>
            <a:ext cx="5486400" cy="1545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C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12380976" y="9619488"/>
            <a:ext cx="8741664" cy="1545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C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32688" y="9747504"/>
            <a:ext cx="5367528" cy="34747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5742A1"/>
                </a:solidFill>
                <a:latin typeface="Liberation Sans"/>
              </a:defRPr>
            </a:pPr>
            <a:r>
              <a:t>ROLLING PROTOCOL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2688" y="10168128"/>
            <a:ext cx="5367528" cy="8503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16985"/>
                </a:solidFill>
                <a:latin typeface="Liberation Sans"/>
              </a:defRPr>
            </a:pPr>
            <a:r>
              <a:t>7 days × 3 seeds × 6 arms = 126 runs</a:t>
            </a:r>
          </a:p>
          <a:p>
            <a:pPr>
              <a:spcAft>
                <a:spcPts val="300"/>
              </a:spcAft>
              <a:defRPr sz="1700" b="0">
                <a:solidFill>
                  <a:srgbClr val="516985"/>
                </a:solidFill>
                <a:latin typeface="Liberation Sans"/>
              </a:defRPr>
            </a:pPr>
            <a:r>
              <a:t>Select epoch → fresh refit → test</a:t>
            </a:r>
          </a:p>
          <a:p>
            <a:pPr>
              <a:spcAft>
                <a:spcPts val="300"/>
              </a:spcAft>
              <a:defRPr sz="1700" b="0">
                <a:solidFill>
                  <a:srgbClr val="516985"/>
                </a:solidFill>
                <a:latin typeface="Liberation Sans"/>
              </a:defRPr>
            </a:pPr>
            <a:r>
              <a:t>Same catalog and evaluation events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76288" y="9747504"/>
            <a:ext cx="5102352" cy="34747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5742A1"/>
                </a:solidFill>
                <a:latin typeface="Liberation Sans"/>
              </a:defRPr>
            </a:pPr>
            <a:r>
              <a:t>FULL-CATALOG RANKING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76288" y="10168128"/>
            <a:ext cx="5102352" cy="8503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19,738 items · existing-history masking</a:t>
            </a:r>
          </a:p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Primary: NDCG@10 · Also: HR@10</a:t>
            </a:r>
          </a:p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Empty input → zero vector; retain item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573000" y="9747504"/>
            <a:ext cx="8321040" cy="34747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5742A1"/>
                </a:solidFill>
                <a:latin typeface="Liberation Sans"/>
              </a:defRPr>
            </a:pPr>
            <a:r>
              <a:t>STATISTICAL COMPARISONS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2573000" y="10168128"/>
            <a:ext cx="8321040" cy="841248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Two-sided Bonferroni CIs: vs Meta (5) · representation (2) · title (2)</a:t>
            </a:r>
          </a:p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Teacher reference: graph_gemini_meta − graph_qwen_meta</a:t>
            </a:r>
          </a:p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Exploratory, unadjusted 95% CI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59536" y="11320272"/>
            <a:ext cx="20098512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742A1"/>
                </a:solidFill>
                <a:latin typeface="Liberation Sans"/>
              </a:defRPr>
            </a:pPr>
            <a:r>
              <a:t>User-level paired bootstrap · 10,000 samples · average seeds, then equally average days · familywise α = 0.05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59536" y="11686032"/>
            <a:ext cx="20098512" cy="23774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16985"/>
                </a:solidFill>
                <a:latin typeface="Liberation Sans"/>
              </a:defRPr>
            </a:pPr>
            <a:r>
              <a:t>Combined arms use the available title / Summary; neither available → zero vector. Standalone arms do not substitute another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ViewingContextPipeline v4</dc:title>
  <dc:subject>Three shared generation sources and six evaluation arms</dc:subject>
  <dc:creator>ViewingContextPipeline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