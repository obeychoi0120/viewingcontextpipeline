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  <ns0:Default Extension="png" ContentType="image/png"/>
</ns0: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2" Type="http://schemas.openxmlformats.org/package/2006/relationships/metadata/thumbnail" Target="docProps/thumbnail.png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Native PowerPoint diagram rebuilt from the approved TO-BE composition. Every visible object is editable text, a shape or a connector; no generated image is embedded. Frozen BGE features feed independently trained projection and SASRec models. Common histories contain only earlier-timestamp events, up to 10 items. All 19,738 catalog items are scored, with previously seen items masked except the target. The non-inferiority margin is relative 5%; Qwen versus Gemini is exploratory. Gemini summary fallback and raw-output coverage follow README.md and docs/full_rolling.md. The PNG is rendered from this presentation at 3840 × 2160.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iagram-title"/>
          <p:cNvSpPr txBox="1"/>
          <p:nvPr/>
        </p:nvSpPr>
        <p:spPr>
          <a:xfrm>
            <a:off x="365760" y="114300"/>
            <a:ext cx="10820400" cy="59436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40" b="1" lang="en-US">
                <a:solidFill>
                  <a:srgbClr val="12284B"/>
                </a:solidFill>
                <a:latin typeface="Arial"/>
              </a:rPr>
              <a:t>ViewingContextPipeline</a:t>
            </a:r>
          </a:p>
        </p:txBody>
      </p:sp>
      <p:sp>
        <p:nvSpPr>
          <p:cNvPr id="3" name="diagram-subtitle"/>
          <p:cNvSpPr txBox="1"/>
          <p:nvPr/>
        </p:nvSpPr>
        <p:spPr>
          <a:xfrm>
            <a:off x="365760" y="701040"/>
            <a:ext cx="13754100" cy="3429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en-US">
                <a:solidFill>
                  <a:srgbClr val="405779"/>
                </a:solidFill>
                <a:latin typeface="Arial"/>
              </a:rPr>
              <a:t>Visual item representations for sequential recommendation · MicroLens-100K · v4</a:t>
            </a:r>
          </a:p>
        </p:txBody>
      </p:sp>
      <p:sp>
        <p:nvSpPr>
          <p:cNvPr id="4" name="protocol-badge"/>
          <p:cNvSpPr/>
          <p:nvPr/>
        </p:nvSpPr>
        <p:spPr>
          <a:xfrm>
            <a:off x="12344400" y="182880"/>
            <a:ext cx="1920240" cy="365760"/>
          </a:xfrm>
          <a:prstGeom prst="roundRect">
            <a:avLst>
              <a:gd name="adj" fmla="val 18750"/>
            </a:avLst>
          </a:prstGeom>
          <a:solidFill>
            <a:srgbClr val="F0F5FD"/>
          </a:solidFill>
          <a:ln w="11429">
            <a:solidFill>
              <a:srgbClr val="B3C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12284B"/>
                </a:solidFill>
                <a:latin typeface="Arial"/>
              </a:rPr>
              <a:t>v4 · FULL ROLLING</a:t>
            </a:r>
          </a:p>
        </p:txBody>
      </p:sp>
      <p:sp>
        <p:nvSpPr>
          <p:cNvPr id="5" name="dataset-counts"/>
          <p:cNvSpPr/>
          <p:nvPr/>
        </p:nvSpPr>
        <p:spPr>
          <a:xfrm>
            <a:off x="365760" y="1150620"/>
            <a:ext cx="5715000" cy="365760"/>
          </a:xfrm>
          <a:prstGeom prst="roundRect">
            <a:avLst>
              <a:gd name="adj" fmla="val 14583"/>
            </a:avLst>
          </a:prstGeom>
          <a:solidFill>
            <a:srgbClr val="F4F6FA"/>
          </a:solidFill>
          <a:ln w="11429">
            <a:solidFill>
              <a:srgbClr val="CDD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en-US">
                <a:solidFill>
                  <a:srgbClr val="12284B"/>
                </a:solidFill>
                <a:latin typeface="Arial"/>
              </a:rPr>
              <a:t>100,000 users  ·  719,405 interactions  ·  19,738 items</a:t>
            </a:r>
          </a:p>
        </p:txBody>
      </p:sp>
      <p:sp>
        <p:nvSpPr>
          <p:cNvPr id="6" name="common-history"/>
          <p:cNvSpPr/>
          <p:nvPr/>
        </p:nvSpPr>
        <p:spPr>
          <a:xfrm>
            <a:off x="9265920" y="1097280"/>
            <a:ext cx="5013960" cy="480060"/>
          </a:xfrm>
          <a:prstGeom prst="roundRect">
            <a:avLst>
              <a:gd name="adj" fmla="val 17460"/>
            </a:avLst>
          </a:prstGeom>
          <a:solidFill>
            <a:srgbClr val="EEF5FF"/>
          </a:solidFill>
          <a:ln w="11429">
            <a:solidFill>
              <a:srgbClr val="77A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12284B"/>
                </a:solidFill>
                <a:latin typeface="Arial"/>
              </a:rPr>
              <a:t>Common user histories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12284B"/>
                </a:solidFill>
                <a:latin typeface="Arial"/>
              </a:rPr>
              <a:t>Strictly earlier events · last 10 items</a:t>
            </a:r>
          </a:p>
        </p:txBody>
      </p:sp>
      <p:sp>
        <p:nvSpPr>
          <p:cNvPr id="7" name="column-0"/>
          <p:cNvSpPr txBox="1"/>
          <p:nvPr/>
        </p:nvSpPr>
        <p:spPr>
          <a:xfrm>
            <a:off x="365760" y="1691640"/>
            <a:ext cx="124968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ARM</a:t>
            </a:r>
          </a:p>
        </p:txBody>
      </p:sp>
      <p:sp>
        <p:nvSpPr>
          <p:cNvPr id="8" name="column-1"/>
          <p:cNvSpPr txBox="1"/>
          <p:nvPr/>
        </p:nvSpPr>
        <p:spPr>
          <a:xfrm>
            <a:off x="1950720" y="1691640"/>
            <a:ext cx="195072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VISUAL / TEXT INPUT</a:t>
            </a:r>
          </a:p>
        </p:txBody>
      </p:sp>
      <p:sp>
        <p:nvSpPr>
          <p:cNvPr id="9" name="column-2"/>
          <p:cNvSpPr txBox="1"/>
          <p:nvPr/>
        </p:nvSpPr>
        <p:spPr>
          <a:xfrm>
            <a:off x="4236720" y="1691640"/>
            <a:ext cx="188976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SCENE EXTRACTION</a:t>
            </a:r>
          </a:p>
        </p:txBody>
      </p:sp>
      <p:sp>
        <p:nvSpPr>
          <p:cNvPr id="10" name="column-3"/>
          <p:cNvSpPr txBox="1"/>
          <p:nvPr/>
        </p:nvSpPr>
        <p:spPr>
          <a:xfrm>
            <a:off x="6461760" y="1691640"/>
            <a:ext cx="176784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VIDEO TEXT</a:t>
            </a:r>
          </a:p>
        </p:txBody>
      </p:sp>
      <p:sp>
        <p:nvSpPr>
          <p:cNvPr id="11" name="column-4"/>
          <p:cNvSpPr txBox="1"/>
          <p:nvPr/>
        </p:nvSpPr>
        <p:spPr>
          <a:xfrm>
            <a:off x="8564880" y="1691640"/>
            <a:ext cx="178308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ENCODING</a:t>
            </a:r>
          </a:p>
        </p:txBody>
      </p:sp>
      <p:sp>
        <p:nvSpPr>
          <p:cNvPr id="12" name="column-5"/>
          <p:cNvSpPr txBox="1"/>
          <p:nvPr/>
        </p:nvSpPr>
        <p:spPr>
          <a:xfrm>
            <a:off x="10698480" y="1691640"/>
            <a:ext cx="225552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RECOMMENDATION</a:t>
            </a:r>
          </a:p>
        </p:txBody>
      </p:sp>
      <p:sp>
        <p:nvSpPr>
          <p:cNvPr id="13" name="graph-qwen-lane"/>
          <p:cNvSpPr/>
          <p:nvPr/>
        </p:nvSpPr>
        <p:spPr>
          <a:xfrm>
            <a:off x="365760" y="2072640"/>
            <a:ext cx="12694920" cy="746760"/>
          </a:xfrm>
          <a:prstGeom prst="roundRect">
            <a:avLst>
              <a:gd name="adj" fmla="val 10204"/>
            </a:avLst>
          </a:prstGeom>
          <a:solidFill>
            <a:srgbClr val="EFF9F5"/>
          </a:solidFill>
          <a:ln w="9144">
            <a:solidFill>
              <a:srgbClr val="8FD0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aph-qwen-arm"/>
          <p:cNvSpPr/>
          <p:nvPr/>
        </p:nvSpPr>
        <p:spPr>
          <a:xfrm>
            <a:off x="411480" y="2125980"/>
            <a:ext cx="1203960" cy="640080"/>
          </a:xfrm>
          <a:prstGeom prst="roundRect">
            <a:avLst>
              <a:gd name="adj" fmla="val 9523"/>
            </a:avLst>
          </a:prstGeom>
          <a:solidFill>
            <a:srgbClr val="0879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FFFFFF"/>
                </a:solidFill>
                <a:latin typeface="Arial"/>
              </a:rPr>
              <a:t>Graph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FFFFFF"/>
                </a:solidFill>
                <a:latin typeface="Arial"/>
              </a:rPr>
              <a:t>Qwen</a:t>
            </a:r>
          </a:p>
        </p:txBody>
      </p:sp>
      <p:cxnSp>
        <p:nvCxnSpPr>
          <p:cNvPr id="15" name="graph-qwen-arm-to-input"/>
          <p:cNvCxnSpPr/>
          <p:nvPr/>
        </p:nvCxnSpPr>
        <p:spPr>
          <a:xfrm>
            <a:off x="1615440" y="2446020"/>
            <a:ext cx="335280" cy="0"/>
          </a:xfrm>
          <a:prstGeom prst="line">
            <a:avLst/>
          </a:prstGeom>
          <a:ln w="17526">
            <a:solidFill>
              <a:srgbClr val="08795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raph-qwen-keyframes"/>
          <p:cNvSpPr/>
          <p:nvPr/>
        </p:nvSpPr>
        <p:spPr>
          <a:xfrm>
            <a:off x="1950720" y="2141220"/>
            <a:ext cx="195072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FD0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05604A"/>
                </a:solidFill>
                <a:latin typeface="Arial"/>
              </a:rPr>
              <a:t>Shared keyframes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Fixed 30s · ≤6 frames</a:t>
            </a:r>
          </a:p>
        </p:txBody>
      </p:sp>
      <p:sp>
        <p:nvSpPr>
          <p:cNvPr id="17" name="graph-qwen-scene-extraction"/>
          <p:cNvSpPr/>
          <p:nvPr/>
        </p:nvSpPr>
        <p:spPr>
          <a:xfrm>
            <a:off x="4236720" y="2141220"/>
            <a:ext cx="188976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FD0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05604A"/>
                </a:solidFill>
                <a:latin typeface="Arial"/>
              </a:rPr>
              <a:t>Qwen3-VL-2B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Scene graphs</a:t>
            </a:r>
          </a:p>
        </p:txBody>
      </p:sp>
      <p:sp>
        <p:nvSpPr>
          <p:cNvPr id="18" name="graph-qwen-video-text"/>
          <p:cNvSpPr/>
          <p:nvPr/>
        </p:nvSpPr>
        <p:spPr>
          <a:xfrm>
            <a:off x="6461760" y="2141220"/>
            <a:ext cx="176784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FD0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05604A"/>
                </a:solidFill>
                <a:latin typeface="Arial"/>
              </a:rPr>
              <a:t>Qwen summary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Graph → text</a:t>
            </a:r>
          </a:p>
        </p:txBody>
      </p:sp>
      <p:cxnSp>
        <p:nvCxnSpPr>
          <p:cNvPr id="19" name="graph-qwen-flow-0"/>
          <p:cNvCxnSpPr/>
          <p:nvPr/>
        </p:nvCxnSpPr>
        <p:spPr>
          <a:xfrm>
            <a:off x="3901440" y="2446020"/>
            <a:ext cx="335280" cy="0"/>
          </a:xfrm>
          <a:prstGeom prst="line">
            <a:avLst/>
          </a:prstGeom>
          <a:ln w="17526">
            <a:solidFill>
              <a:srgbClr val="08795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raph-qwen-flow-1"/>
          <p:cNvCxnSpPr/>
          <p:nvPr/>
        </p:nvCxnSpPr>
        <p:spPr>
          <a:xfrm>
            <a:off x="6126480" y="2446020"/>
            <a:ext cx="335280" cy="0"/>
          </a:xfrm>
          <a:prstGeom prst="line">
            <a:avLst/>
          </a:prstGeom>
          <a:ln w="17526">
            <a:solidFill>
              <a:srgbClr val="08795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raph-qwen-flow-2"/>
          <p:cNvCxnSpPr/>
          <p:nvPr/>
        </p:nvCxnSpPr>
        <p:spPr>
          <a:xfrm>
            <a:off x="8229600" y="2446020"/>
            <a:ext cx="335280" cy="0"/>
          </a:xfrm>
          <a:prstGeom prst="line">
            <a:avLst/>
          </a:prstGeom>
          <a:ln w="17526">
            <a:solidFill>
              <a:srgbClr val="08795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raph-qwen-frozen-bge"/>
          <p:cNvSpPr/>
          <p:nvPr/>
        </p:nvSpPr>
        <p:spPr>
          <a:xfrm>
            <a:off x="8564880" y="2141220"/>
            <a:ext cx="178308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FD0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05604A"/>
                </a:solidFill>
                <a:latin typeface="Arial"/>
              </a:rPr>
              <a:t>Frozen BGE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1024-D</a:t>
            </a:r>
          </a:p>
        </p:txBody>
      </p:sp>
      <p:cxnSp>
        <p:nvCxnSpPr>
          <p:cNvPr id="23" name="graph-qwen-embedding-to-recommender"/>
          <p:cNvCxnSpPr/>
          <p:nvPr/>
        </p:nvCxnSpPr>
        <p:spPr>
          <a:xfrm>
            <a:off x="10347960" y="2446020"/>
            <a:ext cx="350520" cy="0"/>
          </a:xfrm>
          <a:prstGeom prst="line">
            <a:avLst/>
          </a:prstGeom>
          <a:ln w="17526">
            <a:solidFill>
              <a:srgbClr val="08795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graph-qwen-recommender"/>
          <p:cNvSpPr/>
          <p:nvPr/>
        </p:nvSpPr>
        <p:spPr>
          <a:xfrm>
            <a:off x="10698480" y="2141220"/>
            <a:ext cx="2255520" cy="609600"/>
          </a:xfrm>
          <a:prstGeom prst="roundRect">
            <a:avLst>
              <a:gd name="adj" fmla="val 11250"/>
            </a:avLst>
          </a:prstGeom>
          <a:solidFill>
            <a:srgbClr val="0879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FFFFFF"/>
                </a:solidFill>
                <a:latin typeface="Arial"/>
              </a:rPr>
              <a:t>Projection + SASRec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FFFFFF"/>
                </a:solidFill>
                <a:latin typeface="Arial"/>
              </a:rPr>
              <a:t>Trainable</a:t>
            </a:r>
          </a:p>
        </p:txBody>
      </p:sp>
      <p:sp>
        <p:nvSpPr>
          <p:cNvPr id="25" name="graph-gemini-lane"/>
          <p:cNvSpPr/>
          <p:nvPr/>
        </p:nvSpPr>
        <p:spPr>
          <a:xfrm>
            <a:off x="365760" y="2956560"/>
            <a:ext cx="12694920" cy="746760"/>
          </a:xfrm>
          <a:prstGeom prst="roundRect">
            <a:avLst>
              <a:gd name="adj" fmla="val 10204"/>
            </a:avLst>
          </a:prstGeom>
          <a:solidFill>
            <a:srgbClr val="EFFAF9"/>
          </a:solidFill>
          <a:ln w="9144">
            <a:solidFill>
              <a:srgbClr val="86CE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aph-gemini-arm"/>
          <p:cNvSpPr/>
          <p:nvPr/>
        </p:nvSpPr>
        <p:spPr>
          <a:xfrm>
            <a:off x="411480" y="3009900"/>
            <a:ext cx="1203960" cy="640080"/>
          </a:xfrm>
          <a:prstGeom prst="roundRect">
            <a:avLst>
              <a:gd name="adj" fmla="val 9523"/>
            </a:avLst>
          </a:prstGeom>
          <a:solidFill>
            <a:srgbClr val="087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FFFFFF"/>
                </a:solidFill>
                <a:latin typeface="Arial"/>
              </a:rPr>
              <a:t>Graph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FFFFFF"/>
                </a:solidFill>
                <a:latin typeface="Arial"/>
              </a:rPr>
              <a:t>Gemini</a:t>
            </a:r>
          </a:p>
        </p:txBody>
      </p:sp>
      <p:cxnSp>
        <p:nvCxnSpPr>
          <p:cNvPr id="27" name="graph-gemini-arm-to-input"/>
          <p:cNvCxnSpPr/>
          <p:nvPr/>
        </p:nvCxnSpPr>
        <p:spPr>
          <a:xfrm>
            <a:off x="1615440" y="3329940"/>
            <a:ext cx="335280" cy="0"/>
          </a:xfrm>
          <a:prstGeom prst="line">
            <a:avLst/>
          </a:prstGeom>
          <a:ln w="17526">
            <a:solidFill>
              <a:srgbClr val="087F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graph-gemini-keyframes"/>
          <p:cNvSpPr/>
          <p:nvPr/>
        </p:nvSpPr>
        <p:spPr>
          <a:xfrm>
            <a:off x="1950720" y="3025140"/>
            <a:ext cx="195072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6CE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07686B"/>
                </a:solidFill>
                <a:latin typeface="Arial"/>
              </a:rPr>
              <a:t>Shared keyframes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Fixed 30s · ≤6 frames</a:t>
            </a:r>
          </a:p>
        </p:txBody>
      </p:sp>
      <p:sp>
        <p:nvSpPr>
          <p:cNvPr id="29" name="graph-gemini-scene-extraction"/>
          <p:cNvSpPr/>
          <p:nvPr/>
        </p:nvSpPr>
        <p:spPr>
          <a:xfrm>
            <a:off x="4236720" y="3025140"/>
            <a:ext cx="188976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6CE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07686B"/>
                </a:solidFill>
                <a:latin typeface="Arial"/>
              </a:rPr>
              <a:t>Gemini 3.7 Flash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Scene graphs</a:t>
            </a:r>
          </a:p>
        </p:txBody>
      </p:sp>
      <p:sp>
        <p:nvSpPr>
          <p:cNvPr id="30" name="graph-gemini-video-text"/>
          <p:cNvSpPr/>
          <p:nvPr/>
        </p:nvSpPr>
        <p:spPr>
          <a:xfrm>
            <a:off x="6461760" y="3025140"/>
            <a:ext cx="176784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6CE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07686B"/>
                </a:solidFill>
                <a:latin typeface="Arial"/>
              </a:rPr>
              <a:t>Qwen summary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Graph → text</a:t>
            </a:r>
          </a:p>
        </p:txBody>
      </p:sp>
      <p:cxnSp>
        <p:nvCxnSpPr>
          <p:cNvPr id="31" name="graph-gemini-flow-0"/>
          <p:cNvCxnSpPr/>
          <p:nvPr/>
        </p:nvCxnSpPr>
        <p:spPr>
          <a:xfrm>
            <a:off x="3901440" y="3329940"/>
            <a:ext cx="335280" cy="0"/>
          </a:xfrm>
          <a:prstGeom prst="line">
            <a:avLst/>
          </a:prstGeom>
          <a:ln w="17526">
            <a:solidFill>
              <a:srgbClr val="087F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raph-gemini-flow-1"/>
          <p:cNvCxnSpPr/>
          <p:nvPr/>
        </p:nvCxnSpPr>
        <p:spPr>
          <a:xfrm>
            <a:off x="6126480" y="3329940"/>
            <a:ext cx="335280" cy="0"/>
          </a:xfrm>
          <a:prstGeom prst="line">
            <a:avLst/>
          </a:prstGeom>
          <a:ln w="17526">
            <a:solidFill>
              <a:srgbClr val="087F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raph-gemini-flow-2"/>
          <p:cNvCxnSpPr/>
          <p:nvPr/>
        </p:nvCxnSpPr>
        <p:spPr>
          <a:xfrm>
            <a:off x="8229600" y="3329940"/>
            <a:ext cx="335280" cy="0"/>
          </a:xfrm>
          <a:prstGeom prst="line">
            <a:avLst/>
          </a:prstGeom>
          <a:ln w="17526">
            <a:solidFill>
              <a:srgbClr val="087F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graph-gemini-frozen-bge"/>
          <p:cNvSpPr/>
          <p:nvPr/>
        </p:nvSpPr>
        <p:spPr>
          <a:xfrm>
            <a:off x="8564880" y="3025140"/>
            <a:ext cx="178308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6CE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07686B"/>
                </a:solidFill>
                <a:latin typeface="Arial"/>
              </a:rPr>
              <a:t>Frozen BGE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1024-D</a:t>
            </a:r>
          </a:p>
        </p:txBody>
      </p:sp>
      <p:cxnSp>
        <p:nvCxnSpPr>
          <p:cNvPr id="35" name="graph-gemini-embedding-to-recommender"/>
          <p:cNvCxnSpPr/>
          <p:nvPr/>
        </p:nvCxnSpPr>
        <p:spPr>
          <a:xfrm>
            <a:off x="10347960" y="3329940"/>
            <a:ext cx="350520" cy="0"/>
          </a:xfrm>
          <a:prstGeom prst="line">
            <a:avLst/>
          </a:prstGeom>
          <a:ln w="17526">
            <a:solidFill>
              <a:srgbClr val="087F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graph-gemini-recommender"/>
          <p:cNvSpPr/>
          <p:nvPr/>
        </p:nvSpPr>
        <p:spPr>
          <a:xfrm>
            <a:off x="10698480" y="3025140"/>
            <a:ext cx="2255520" cy="609600"/>
          </a:xfrm>
          <a:prstGeom prst="roundRect">
            <a:avLst>
              <a:gd name="adj" fmla="val 11250"/>
            </a:avLst>
          </a:prstGeom>
          <a:solidFill>
            <a:srgbClr val="087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FFFFFF"/>
                </a:solidFill>
                <a:latin typeface="Arial"/>
              </a:rPr>
              <a:t>Projection + SASRec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FFFFFF"/>
                </a:solidFill>
                <a:latin typeface="Arial"/>
              </a:rPr>
              <a:t>Trainable</a:t>
            </a:r>
          </a:p>
        </p:txBody>
      </p:sp>
      <p:sp>
        <p:nvSpPr>
          <p:cNvPr id="37" name="description-lane"/>
          <p:cNvSpPr/>
          <p:nvPr/>
        </p:nvSpPr>
        <p:spPr>
          <a:xfrm>
            <a:off x="365760" y="3840480"/>
            <a:ext cx="12694920" cy="746760"/>
          </a:xfrm>
          <a:prstGeom prst="roundRect">
            <a:avLst>
              <a:gd name="adj" fmla="val 10204"/>
            </a:avLst>
          </a:prstGeom>
          <a:solidFill>
            <a:srgbClr val="F0F5FF"/>
          </a:solidFill>
          <a:ln w="9144">
            <a:solidFill>
              <a:srgbClr val="A7B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escription-arm"/>
          <p:cNvSpPr/>
          <p:nvPr/>
        </p:nvSpPr>
        <p:spPr>
          <a:xfrm>
            <a:off x="411480" y="3893820"/>
            <a:ext cx="1203960" cy="640080"/>
          </a:xfrm>
          <a:prstGeom prst="roundRect">
            <a:avLst>
              <a:gd name="adj" fmla="val 9523"/>
            </a:avLst>
          </a:prstGeom>
          <a:solidFill>
            <a:srgbClr val="256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FFFFFF"/>
                </a:solidFill>
                <a:latin typeface="Arial"/>
              </a:rPr>
              <a:t>Description</a:t>
            </a:r>
          </a:p>
        </p:txBody>
      </p:sp>
      <p:cxnSp>
        <p:nvCxnSpPr>
          <p:cNvPr id="39" name="description-arm-to-input"/>
          <p:cNvCxnSpPr/>
          <p:nvPr/>
        </p:nvCxnSpPr>
        <p:spPr>
          <a:xfrm>
            <a:off x="1615440" y="4213860"/>
            <a:ext cx="335280" cy="0"/>
          </a:xfrm>
          <a:prstGeom prst="line">
            <a:avLst/>
          </a:prstGeom>
          <a:ln w="17526">
            <a:solidFill>
              <a:srgbClr val="2563E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description-keyframes"/>
          <p:cNvSpPr/>
          <p:nvPr/>
        </p:nvSpPr>
        <p:spPr>
          <a:xfrm>
            <a:off x="1950720" y="3909060"/>
            <a:ext cx="195072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A7B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2454B8"/>
                </a:solidFill>
                <a:latin typeface="Arial"/>
              </a:rPr>
              <a:t>Shared keyframes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Fixed 30s · ≤6 frames</a:t>
            </a:r>
          </a:p>
        </p:txBody>
      </p:sp>
      <p:sp>
        <p:nvSpPr>
          <p:cNvPr id="41" name="description-scene-extraction"/>
          <p:cNvSpPr/>
          <p:nvPr/>
        </p:nvSpPr>
        <p:spPr>
          <a:xfrm>
            <a:off x="4236720" y="3909060"/>
            <a:ext cx="188976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A7B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2454B8"/>
                </a:solidFill>
                <a:latin typeface="Arial"/>
              </a:rPr>
              <a:t>Qwen3-VL-2B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Scene descriptions</a:t>
            </a:r>
          </a:p>
        </p:txBody>
      </p:sp>
      <p:sp>
        <p:nvSpPr>
          <p:cNvPr id="42" name="description-video-text"/>
          <p:cNvSpPr/>
          <p:nvPr/>
        </p:nvSpPr>
        <p:spPr>
          <a:xfrm>
            <a:off x="6461760" y="3909060"/>
            <a:ext cx="176784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A7B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2454B8"/>
                </a:solidFill>
                <a:latin typeface="Arial"/>
              </a:rPr>
              <a:t>Qwen summary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Description → text</a:t>
            </a:r>
          </a:p>
        </p:txBody>
      </p:sp>
      <p:cxnSp>
        <p:nvCxnSpPr>
          <p:cNvPr id="43" name="description-flow-0"/>
          <p:cNvCxnSpPr/>
          <p:nvPr/>
        </p:nvCxnSpPr>
        <p:spPr>
          <a:xfrm>
            <a:off x="3901440" y="4213860"/>
            <a:ext cx="335280" cy="0"/>
          </a:xfrm>
          <a:prstGeom prst="line">
            <a:avLst/>
          </a:prstGeom>
          <a:ln w="17526">
            <a:solidFill>
              <a:srgbClr val="2563E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description-flow-1"/>
          <p:cNvCxnSpPr/>
          <p:nvPr/>
        </p:nvCxnSpPr>
        <p:spPr>
          <a:xfrm>
            <a:off x="6126480" y="4213860"/>
            <a:ext cx="335280" cy="0"/>
          </a:xfrm>
          <a:prstGeom prst="line">
            <a:avLst/>
          </a:prstGeom>
          <a:ln w="17526">
            <a:solidFill>
              <a:srgbClr val="2563E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description-flow-2"/>
          <p:cNvCxnSpPr/>
          <p:nvPr/>
        </p:nvCxnSpPr>
        <p:spPr>
          <a:xfrm>
            <a:off x="8229600" y="4213860"/>
            <a:ext cx="335280" cy="0"/>
          </a:xfrm>
          <a:prstGeom prst="line">
            <a:avLst/>
          </a:prstGeom>
          <a:ln w="17526">
            <a:solidFill>
              <a:srgbClr val="2563E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description-frozen-bge"/>
          <p:cNvSpPr/>
          <p:nvPr/>
        </p:nvSpPr>
        <p:spPr>
          <a:xfrm>
            <a:off x="8564880" y="3909060"/>
            <a:ext cx="178308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A7B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2454B8"/>
                </a:solidFill>
                <a:latin typeface="Arial"/>
              </a:rPr>
              <a:t>Frozen BGE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1024-D</a:t>
            </a:r>
          </a:p>
        </p:txBody>
      </p:sp>
      <p:cxnSp>
        <p:nvCxnSpPr>
          <p:cNvPr id="47" name="description-embedding-to-recommender"/>
          <p:cNvCxnSpPr/>
          <p:nvPr/>
        </p:nvCxnSpPr>
        <p:spPr>
          <a:xfrm>
            <a:off x="10347960" y="4213860"/>
            <a:ext cx="350520" cy="0"/>
          </a:xfrm>
          <a:prstGeom prst="line">
            <a:avLst/>
          </a:prstGeom>
          <a:ln w="17526">
            <a:solidFill>
              <a:srgbClr val="2563E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escription-recommender"/>
          <p:cNvSpPr/>
          <p:nvPr/>
        </p:nvSpPr>
        <p:spPr>
          <a:xfrm>
            <a:off x="10698480" y="3909060"/>
            <a:ext cx="2255520" cy="609600"/>
          </a:xfrm>
          <a:prstGeom prst="roundRect">
            <a:avLst>
              <a:gd name="adj" fmla="val 11250"/>
            </a:avLst>
          </a:prstGeom>
          <a:solidFill>
            <a:srgbClr val="256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FFFFFF"/>
                </a:solidFill>
                <a:latin typeface="Arial"/>
              </a:rPr>
              <a:t>Projection + SASRec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FFFFFF"/>
                </a:solidFill>
                <a:latin typeface="Arial"/>
              </a:rPr>
              <a:t>Trainable</a:t>
            </a:r>
          </a:p>
        </p:txBody>
      </p:sp>
      <p:sp>
        <p:nvSpPr>
          <p:cNvPr id="49" name="metadata-lane"/>
          <p:cNvSpPr/>
          <p:nvPr/>
        </p:nvSpPr>
        <p:spPr>
          <a:xfrm>
            <a:off x="365760" y="4724400"/>
            <a:ext cx="12694920" cy="746760"/>
          </a:xfrm>
          <a:prstGeom prst="roundRect">
            <a:avLst>
              <a:gd name="adj" fmla="val 10204"/>
            </a:avLst>
          </a:prstGeom>
          <a:solidFill>
            <a:srgbClr val="F5F6F8"/>
          </a:solidFill>
          <a:ln w="9144">
            <a:solidFill>
              <a:srgbClr val="C4C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metadata-arm"/>
          <p:cNvSpPr/>
          <p:nvPr/>
        </p:nvSpPr>
        <p:spPr>
          <a:xfrm>
            <a:off x="411480" y="4777740"/>
            <a:ext cx="1203960" cy="640080"/>
          </a:xfrm>
          <a:prstGeom prst="roundRect">
            <a:avLst>
              <a:gd name="adj" fmla="val 9523"/>
            </a:avLst>
          </a:prstGeom>
          <a:solidFill>
            <a:srgbClr val="60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FFFFFF"/>
                </a:solidFill>
                <a:latin typeface="Arial"/>
              </a:rPr>
              <a:t>Metadata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lang="en-US">
                <a:solidFill>
                  <a:srgbClr val="FFFFFF"/>
                </a:solidFill>
                <a:latin typeface="Arial"/>
              </a:rPr>
              <a:t>Baseline</a:t>
            </a:r>
          </a:p>
        </p:txBody>
      </p:sp>
      <p:cxnSp>
        <p:nvCxnSpPr>
          <p:cNvPr id="51" name="metadata-arm-to-input"/>
          <p:cNvCxnSpPr/>
          <p:nvPr/>
        </p:nvCxnSpPr>
        <p:spPr>
          <a:xfrm>
            <a:off x="1615440" y="5097780"/>
            <a:ext cx="335280" cy="0"/>
          </a:xfrm>
          <a:prstGeom prst="line">
            <a:avLst/>
          </a:prstGeom>
          <a:ln w="17526">
            <a:solidFill>
              <a:srgbClr val="60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metadata-title-input"/>
          <p:cNvSpPr/>
          <p:nvPr/>
        </p:nvSpPr>
        <p:spPr>
          <a:xfrm>
            <a:off x="1950720" y="4792980"/>
            <a:ext cx="195072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C4C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 lang="en-US">
                <a:solidFill>
                  <a:srgbClr val="12284B"/>
                </a:solidFill>
                <a:latin typeface="Arial"/>
              </a:rPr>
              <a:t>English title</a:t>
            </a:r>
          </a:p>
        </p:txBody>
      </p:sp>
      <p:cxnSp>
        <p:nvCxnSpPr>
          <p:cNvPr id="53" name="metadata-title-bypass"/>
          <p:cNvCxnSpPr/>
          <p:nvPr/>
        </p:nvCxnSpPr>
        <p:spPr>
          <a:xfrm>
            <a:off x="3901440" y="5097780"/>
            <a:ext cx="4663440" cy="0"/>
          </a:xfrm>
          <a:prstGeom prst="line">
            <a:avLst/>
          </a:prstGeom>
          <a:ln w="16002">
            <a:solidFill>
              <a:srgbClr val="60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metadata-bypass-label"/>
          <p:cNvSpPr txBox="1"/>
          <p:nvPr/>
        </p:nvSpPr>
        <p:spPr>
          <a:xfrm>
            <a:off x="5410200" y="4808220"/>
            <a:ext cx="1645920" cy="21336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lang="en-US">
                <a:solidFill>
                  <a:srgbClr val="405779"/>
                </a:solidFill>
                <a:latin typeface="Arial"/>
              </a:rPr>
              <a:t>(bypass)</a:t>
            </a:r>
          </a:p>
        </p:txBody>
      </p:sp>
      <p:sp>
        <p:nvSpPr>
          <p:cNvPr id="55" name="metadata-frozen-bge"/>
          <p:cNvSpPr/>
          <p:nvPr/>
        </p:nvSpPr>
        <p:spPr>
          <a:xfrm>
            <a:off x="8564880" y="4792980"/>
            <a:ext cx="178308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C4C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414B5A"/>
                </a:solidFill>
                <a:latin typeface="Arial"/>
              </a:rPr>
              <a:t>Frozen BGE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1024-D</a:t>
            </a:r>
          </a:p>
        </p:txBody>
      </p:sp>
      <p:cxnSp>
        <p:nvCxnSpPr>
          <p:cNvPr id="56" name="metadata-embedding-to-recommender"/>
          <p:cNvCxnSpPr/>
          <p:nvPr/>
        </p:nvCxnSpPr>
        <p:spPr>
          <a:xfrm>
            <a:off x="10347960" y="5097780"/>
            <a:ext cx="350520" cy="0"/>
          </a:xfrm>
          <a:prstGeom prst="line">
            <a:avLst/>
          </a:prstGeom>
          <a:ln w="17526">
            <a:solidFill>
              <a:srgbClr val="60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metadata-recommender"/>
          <p:cNvSpPr/>
          <p:nvPr/>
        </p:nvSpPr>
        <p:spPr>
          <a:xfrm>
            <a:off x="10698480" y="4792980"/>
            <a:ext cx="2255520" cy="609600"/>
          </a:xfrm>
          <a:prstGeom prst="roundRect">
            <a:avLst>
              <a:gd name="adj" fmla="val 11250"/>
            </a:avLst>
          </a:prstGeom>
          <a:solidFill>
            <a:srgbClr val="60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en-US">
                <a:solidFill>
                  <a:srgbClr val="FFFFFF"/>
                </a:solidFill>
                <a:latin typeface="Arial"/>
              </a:rPr>
              <a:t>Projection + SASRec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FFFFFF"/>
                </a:solidFill>
                <a:latin typeface="Arial"/>
              </a:rPr>
              <a:t>Trainable</a:t>
            </a:r>
          </a:p>
        </p:txBody>
      </p:sp>
      <p:cxnSp>
        <p:nvCxnSpPr>
          <p:cNvPr id="58" name="common-history-rail"/>
          <p:cNvCxnSpPr/>
          <p:nvPr/>
        </p:nvCxnSpPr>
        <p:spPr>
          <a:xfrm>
            <a:off x="13700760" y="1577340"/>
            <a:ext cx="0" cy="3520440"/>
          </a:xfrm>
          <a:prstGeom prst="line">
            <a:avLst/>
          </a:prstGeom>
          <a:ln w="24384">
            <a:solidFill>
              <a:srgbClr val="1228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raph-qwen-history-input"/>
          <p:cNvCxnSpPr/>
          <p:nvPr/>
        </p:nvCxnSpPr>
        <p:spPr>
          <a:xfrm flipH="1">
            <a:off x="12954000" y="2446020"/>
            <a:ext cx="746760" cy="0"/>
          </a:xfrm>
          <a:prstGeom prst="line">
            <a:avLst/>
          </a:prstGeom>
          <a:ln w="24384">
            <a:solidFill>
              <a:srgbClr val="12284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raph-gemini-history-input"/>
          <p:cNvCxnSpPr/>
          <p:nvPr/>
        </p:nvCxnSpPr>
        <p:spPr>
          <a:xfrm flipH="1">
            <a:off x="12954000" y="3329940"/>
            <a:ext cx="746760" cy="0"/>
          </a:xfrm>
          <a:prstGeom prst="line">
            <a:avLst/>
          </a:prstGeom>
          <a:ln w="24384">
            <a:solidFill>
              <a:srgbClr val="12284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description-history-input"/>
          <p:cNvCxnSpPr/>
          <p:nvPr/>
        </p:nvCxnSpPr>
        <p:spPr>
          <a:xfrm flipH="1">
            <a:off x="12954000" y="4213860"/>
            <a:ext cx="746760" cy="0"/>
          </a:xfrm>
          <a:prstGeom prst="line">
            <a:avLst/>
          </a:prstGeom>
          <a:ln w="24384">
            <a:solidFill>
              <a:srgbClr val="12284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metadata-history-input"/>
          <p:cNvCxnSpPr/>
          <p:nvPr/>
        </p:nvCxnSpPr>
        <p:spPr>
          <a:xfrm flipH="1">
            <a:off x="12954000" y="5097780"/>
            <a:ext cx="746760" cy="0"/>
          </a:xfrm>
          <a:prstGeom prst="line">
            <a:avLst/>
          </a:prstGeom>
          <a:ln w="24384">
            <a:solidFill>
              <a:srgbClr val="12284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ommon-history-rail-label"/>
          <p:cNvSpPr txBox="1"/>
          <p:nvPr/>
        </p:nvSpPr>
        <p:spPr>
          <a:xfrm>
            <a:off x="13815060" y="3116580"/>
            <a:ext cx="701040" cy="8001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12284B"/>
                </a:solidFill>
                <a:latin typeface="Arial"/>
              </a:rPr>
              <a:t>User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12284B"/>
                </a:solidFill>
                <a:latin typeface="Arial"/>
              </a:rPr>
              <a:t>history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12284B"/>
                </a:solidFill>
                <a:latin typeface="Arial"/>
              </a:rPr>
              <a:t>(input)</a:t>
            </a:r>
          </a:p>
        </p:txBody>
      </p:sp>
      <p:sp>
        <p:nvSpPr>
          <p:cNvPr id="64" name="bge-model-note"/>
          <p:cNvSpPr txBox="1"/>
          <p:nvPr/>
        </p:nvSpPr>
        <p:spPr>
          <a:xfrm>
            <a:off x="8382000" y="5524500"/>
            <a:ext cx="2148840" cy="3886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405779"/>
                </a:solidFill>
                <a:latin typeface="Arial"/>
              </a:rPr>
              <a:t>BGE-large-en-v1.5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405779"/>
                </a:solidFill>
                <a:latin typeface="Arial"/>
              </a:rPr>
              <a:t>Frozen across all arms</a:t>
            </a:r>
          </a:p>
        </p:txBody>
      </p:sp>
      <p:sp>
        <p:nvSpPr>
          <p:cNvPr id="65" name="recommender-model-note"/>
          <p:cNvSpPr txBox="1"/>
          <p:nvPr/>
        </p:nvSpPr>
        <p:spPr>
          <a:xfrm>
            <a:off x="10561320" y="5524500"/>
            <a:ext cx="2529840" cy="3886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405779"/>
                </a:solidFill>
                <a:latin typeface="Arial"/>
              </a:rPr>
              <a:t>Same architecture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405779"/>
                </a:solidFill>
                <a:latin typeface="Arial"/>
              </a:rPr>
              <a:t>Independent weights per arm</a:t>
            </a:r>
          </a:p>
        </p:txBody>
      </p:sp>
      <p:sp>
        <p:nvSpPr>
          <p:cNvPr id="66" name="shared-evaluation-panel"/>
          <p:cNvSpPr/>
          <p:nvPr/>
        </p:nvSpPr>
        <p:spPr>
          <a:xfrm>
            <a:off x="243840" y="6057900"/>
            <a:ext cx="14142720" cy="1981200"/>
          </a:xfrm>
          <a:prstGeom prst="roundRect">
            <a:avLst>
              <a:gd name="adj" fmla="val 4615"/>
            </a:avLst>
          </a:prstGeom>
          <a:solidFill>
            <a:srgbClr val="F8F6FD"/>
          </a:solidFill>
          <a:ln w="13716">
            <a:solidFill>
              <a:srgbClr val="A28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shared-evaluation-title"/>
          <p:cNvSpPr txBox="1"/>
          <p:nvPr/>
        </p:nvSpPr>
        <p:spPr>
          <a:xfrm>
            <a:off x="426720" y="6134100"/>
            <a:ext cx="12192000" cy="28956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 lang="en-US">
                <a:solidFill>
                  <a:srgbClr val="4B3592"/>
                </a:solidFill>
                <a:latin typeface="Arial"/>
              </a:rPr>
              <a:t>SHARED EVALUATION · ALL FOUR ARMS</a:t>
            </a:r>
          </a:p>
        </p:txBody>
      </p:sp>
      <p:sp>
        <p:nvSpPr>
          <p:cNvPr id="68" name="evaluation-card-rolling"/>
          <p:cNvSpPr/>
          <p:nvPr/>
        </p:nvSpPr>
        <p:spPr>
          <a:xfrm>
            <a:off x="426720" y="6492240"/>
            <a:ext cx="4450080" cy="937260"/>
          </a:xfrm>
          <a:prstGeom prst="roundRect">
            <a:avLst>
              <a:gd name="adj" fmla="val 10569"/>
            </a:avLst>
          </a:prstGeom>
          <a:solidFill>
            <a:srgbClr val="FFFFFF"/>
          </a:solidFill>
          <a:ln w="10668">
            <a:solidFill>
              <a:srgbClr val="C6B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valuation-card-ranking"/>
          <p:cNvSpPr/>
          <p:nvPr/>
        </p:nvSpPr>
        <p:spPr>
          <a:xfrm>
            <a:off x="4998720" y="6492240"/>
            <a:ext cx="3893820" cy="937260"/>
          </a:xfrm>
          <a:prstGeom prst="roundRect">
            <a:avLst>
              <a:gd name="adj" fmla="val 10569"/>
            </a:avLst>
          </a:prstGeom>
          <a:solidFill>
            <a:srgbClr val="FFFFFF"/>
          </a:solidFill>
          <a:ln w="10668">
            <a:solidFill>
              <a:srgbClr val="C6B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valuation-card-comparisons"/>
          <p:cNvSpPr/>
          <p:nvPr/>
        </p:nvSpPr>
        <p:spPr>
          <a:xfrm>
            <a:off x="9014460" y="6492240"/>
            <a:ext cx="5189220" cy="937260"/>
          </a:xfrm>
          <a:prstGeom prst="roundRect">
            <a:avLst>
              <a:gd name="adj" fmla="val 10569"/>
            </a:avLst>
          </a:prstGeom>
          <a:solidFill>
            <a:srgbClr val="FFFFFF"/>
          </a:solidFill>
          <a:ln w="10668">
            <a:solidFill>
              <a:srgbClr val="C6B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lling-icon-bar-0"/>
          <p:cNvSpPr/>
          <p:nvPr/>
        </p:nvSpPr>
        <p:spPr>
          <a:xfrm>
            <a:off x="693420" y="6987540"/>
            <a:ext cx="99060" cy="167640"/>
          </a:xfrm>
          <a:prstGeom prst="roundRect">
            <a:avLst>
              <a:gd name="adj" fmla="val 15384"/>
            </a:avLst>
          </a:prstGeom>
          <a:solidFill>
            <a:srgbClr val="4B3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lling-icon-bar-1"/>
          <p:cNvSpPr/>
          <p:nvPr/>
        </p:nvSpPr>
        <p:spPr>
          <a:xfrm>
            <a:off x="838200" y="6873240"/>
            <a:ext cx="99060" cy="281940"/>
          </a:xfrm>
          <a:prstGeom prst="roundRect">
            <a:avLst>
              <a:gd name="adj" fmla="val 15384"/>
            </a:avLst>
          </a:prstGeom>
          <a:solidFill>
            <a:srgbClr val="4B3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lling-icon-bar-2"/>
          <p:cNvSpPr/>
          <p:nvPr/>
        </p:nvSpPr>
        <p:spPr>
          <a:xfrm>
            <a:off x="982980" y="6736080"/>
            <a:ext cx="99060" cy="419100"/>
          </a:xfrm>
          <a:prstGeom prst="roundRect">
            <a:avLst>
              <a:gd name="adj" fmla="val 15384"/>
            </a:avLst>
          </a:prstGeom>
          <a:solidFill>
            <a:srgbClr val="4B3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anking-icon-document"/>
          <p:cNvSpPr/>
          <p:nvPr/>
        </p:nvSpPr>
        <p:spPr>
          <a:xfrm>
            <a:off x="5227320" y="6705600"/>
            <a:ext cx="297180" cy="434340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30480">
            <a:solidFill>
              <a:srgbClr val="4B3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ranking-icon-line-0"/>
          <p:cNvCxnSpPr/>
          <p:nvPr/>
        </p:nvCxnSpPr>
        <p:spPr>
          <a:xfrm>
            <a:off x="5303520" y="6819900"/>
            <a:ext cx="144780" cy="0"/>
          </a:xfrm>
          <a:prstGeom prst="line">
            <a:avLst/>
          </a:prstGeom>
          <a:ln w="22859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ranking-icon-line-1"/>
          <p:cNvCxnSpPr/>
          <p:nvPr/>
        </p:nvCxnSpPr>
        <p:spPr>
          <a:xfrm>
            <a:off x="5303520" y="6911340"/>
            <a:ext cx="144780" cy="0"/>
          </a:xfrm>
          <a:prstGeom prst="line">
            <a:avLst/>
          </a:prstGeom>
          <a:ln w="22859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ranking-icon-line-2"/>
          <p:cNvCxnSpPr/>
          <p:nvPr/>
        </p:nvCxnSpPr>
        <p:spPr>
          <a:xfrm>
            <a:off x="5303520" y="7002780"/>
            <a:ext cx="91440" cy="0"/>
          </a:xfrm>
          <a:prstGeom prst="line">
            <a:avLst/>
          </a:prstGeom>
          <a:ln w="22859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mparison-icon-post"/>
          <p:cNvCxnSpPr/>
          <p:nvPr/>
        </p:nvCxnSpPr>
        <p:spPr>
          <a:xfrm>
            <a:off x="9342120" y="6705600"/>
            <a:ext cx="0" cy="434340"/>
          </a:xfrm>
          <a:prstGeom prst="line">
            <a:avLst/>
          </a:prstGeom>
          <a:ln w="28955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mparison-icon-base"/>
          <p:cNvCxnSpPr/>
          <p:nvPr/>
        </p:nvCxnSpPr>
        <p:spPr>
          <a:xfrm>
            <a:off x="9204960" y="7139940"/>
            <a:ext cx="274320" cy="0"/>
          </a:xfrm>
          <a:prstGeom prst="line">
            <a:avLst/>
          </a:prstGeom>
          <a:ln w="28955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mparison-icon-beam"/>
          <p:cNvCxnSpPr/>
          <p:nvPr/>
        </p:nvCxnSpPr>
        <p:spPr>
          <a:xfrm>
            <a:off x="9136380" y="6781800"/>
            <a:ext cx="411480" cy="0"/>
          </a:xfrm>
          <a:prstGeom prst="line">
            <a:avLst/>
          </a:prstGeom>
          <a:ln w="26670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mparison-icon-left-sling-a"/>
          <p:cNvCxnSpPr/>
          <p:nvPr/>
        </p:nvCxnSpPr>
        <p:spPr>
          <a:xfrm flipH="1">
            <a:off x="9098280" y="6797040"/>
            <a:ext cx="68580" cy="182880"/>
          </a:xfrm>
          <a:prstGeom prst="line">
            <a:avLst/>
          </a:prstGeom>
          <a:ln w="21336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mparison-icon-left-sling-b"/>
          <p:cNvCxnSpPr/>
          <p:nvPr/>
        </p:nvCxnSpPr>
        <p:spPr>
          <a:xfrm>
            <a:off x="9166860" y="6797040"/>
            <a:ext cx="68580" cy="182880"/>
          </a:xfrm>
          <a:prstGeom prst="line">
            <a:avLst/>
          </a:prstGeom>
          <a:ln w="21336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mparison-icon-left-pan"/>
          <p:cNvCxnSpPr/>
          <p:nvPr/>
        </p:nvCxnSpPr>
        <p:spPr>
          <a:xfrm>
            <a:off x="9098280" y="6979920"/>
            <a:ext cx="137160" cy="0"/>
          </a:xfrm>
          <a:prstGeom prst="line">
            <a:avLst/>
          </a:prstGeom>
          <a:ln w="28955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mparison-icon-right-sling-a"/>
          <p:cNvCxnSpPr/>
          <p:nvPr/>
        </p:nvCxnSpPr>
        <p:spPr>
          <a:xfrm flipH="1">
            <a:off x="9448800" y="6797040"/>
            <a:ext cx="68580" cy="182880"/>
          </a:xfrm>
          <a:prstGeom prst="line">
            <a:avLst/>
          </a:prstGeom>
          <a:ln w="21336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mparison-icon-right-sling-b"/>
          <p:cNvCxnSpPr/>
          <p:nvPr/>
        </p:nvCxnSpPr>
        <p:spPr>
          <a:xfrm>
            <a:off x="9517380" y="6797040"/>
            <a:ext cx="68580" cy="182880"/>
          </a:xfrm>
          <a:prstGeom prst="line">
            <a:avLst/>
          </a:prstGeom>
          <a:ln w="21336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mparison-icon-right-pan"/>
          <p:cNvCxnSpPr/>
          <p:nvPr/>
        </p:nvCxnSpPr>
        <p:spPr>
          <a:xfrm>
            <a:off x="9448800" y="6979920"/>
            <a:ext cx="137160" cy="0"/>
          </a:xfrm>
          <a:prstGeom prst="line">
            <a:avLst/>
          </a:prstGeom>
          <a:ln w="28955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olling-evaluation-heading"/>
          <p:cNvSpPr txBox="1"/>
          <p:nvPr/>
        </p:nvSpPr>
        <p:spPr>
          <a:xfrm>
            <a:off x="1272540" y="6560820"/>
            <a:ext cx="3451860" cy="2362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4B3592"/>
                </a:solidFill>
                <a:latin typeface="Arial"/>
              </a:rPr>
              <a:t>ROLLING PROTOCOL</a:t>
            </a:r>
          </a:p>
        </p:txBody>
      </p:sp>
      <p:sp>
        <p:nvSpPr>
          <p:cNvPr id="88" name="rolling-evaluation-body"/>
          <p:cNvSpPr txBox="1"/>
          <p:nvPr/>
        </p:nvSpPr>
        <p:spPr>
          <a:xfrm>
            <a:off x="1272540" y="6850380"/>
            <a:ext cx="3451860" cy="4648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en-US">
                <a:solidFill>
                  <a:srgbClr val="405779"/>
                </a:solidFill>
                <a:latin typeface="Arial"/>
              </a:rPr>
              <a:t>7 days × 3 seeds × 4 arms = 84 runs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en-US">
                <a:solidFill>
                  <a:srgbClr val="405779"/>
                </a:solidFill>
                <a:latin typeface="Arial"/>
              </a:rPr>
              <a:t>Select epoch → fresh refit → test</a:t>
            </a:r>
          </a:p>
        </p:txBody>
      </p:sp>
      <p:sp>
        <p:nvSpPr>
          <p:cNvPr id="89" name="ranking-evaluation-heading"/>
          <p:cNvSpPr txBox="1"/>
          <p:nvPr/>
        </p:nvSpPr>
        <p:spPr>
          <a:xfrm>
            <a:off x="5692140" y="6560820"/>
            <a:ext cx="3048000" cy="2362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en-US">
                <a:solidFill>
                  <a:srgbClr val="4B3592"/>
                </a:solidFill>
                <a:latin typeface="Arial"/>
              </a:rPr>
              <a:t>FULL-CATALOG RANKING</a:t>
            </a:r>
          </a:p>
        </p:txBody>
      </p:sp>
      <p:sp>
        <p:nvSpPr>
          <p:cNvPr id="90" name="ranking-evaluation-body"/>
          <p:cNvSpPr txBox="1"/>
          <p:nvPr/>
        </p:nvSpPr>
        <p:spPr>
          <a:xfrm>
            <a:off x="5692140" y="6850380"/>
            <a:ext cx="3048000" cy="4648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19,738 candidate items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Primary: NDCG@10 · Also: HR@10</a:t>
            </a:r>
          </a:p>
        </p:txBody>
      </p:sp>
      <p:sp>
        <p:nvSpPr>
          <p:cNvPr id="91" name="comparisons-heading"/>
          <p:cNvSpPr txBox="1"/>
          <p:nvPr/>
        </p:nvSpPr>
        <p:spPr>
          <a:xfrm>
            <a:off x="9723120" y="6560820"/>
            <a:ext cx="4320540" cy="2362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en-US">
                <a:solidFill>
                  <a:srgbClr val="4B3592"/>
                </a:solidFill>
                <a:latin typeface="Arial"/>
              </a:rPr>
              <a:t>STATISTICAL COMPARISONS</a:t>
            </a:r>
          </a:p>
        </p:txBody>
      </p:sp>
      <p:sp>
        <p:nvSpPr>
          <p:cNvPr id="92" name="comparisons-body"/>
          <p:cNvSpPr txBox="1"/>
          <p:nvPr/>
        </p:nvSpPr>
        <p:spPr>
          <a:xfrm>
            <a:off x="9723120" y="6819900"/>
            <a:ext cx="4320540" cy="5791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lang="en-US">
                <a:solidFill>
                  <a:srgbClr val="405779"/>
                </a:solidFill>
                <a:latin typeface="Arial"/>
              </a:rPr>
              <a:t>Visual vs Metadata: superiority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lang="en-US">
                <a:solidFill>
                  <a:srgbClr val="405779"/>
                </a:solidFill>
                <a:latin typeface="Arial"/>
              </a:rPr>
              <a:t>Graph vs Description: 5% relative non-inferiority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lang="en-US">
                <a:solidFill>
                  <a:srgbClr val="405779"/>
                </a:solidFill>
                <a:latin typeface="Arial"/>
              </a:rPr>
              <a:t>Gemini vs Qwen: exploratory</a:t>
            </a:r>
          </a:p>
        </p:txBody>
      </p:sp>
      <p:cxnSp>
        <p:nvCxnSpPr>
          <p:cNvPr id="93" name="evaluation-footer-divider"/>
          <p:cNvCxnSpPr/>
          <p:nvPr/>
        </p:nvCxnSpPr>
        <p:spPr>
          <a:xfrm>
            <a:off x="426720" y="7505700"/>
            <a:ext cx="13776960" cy="0"/>
          </a:xfrm>
          <a:prstGeom prst="line">
            <a:avLst/>
          </a:prstGeom>
          <a:ln w="9906">
            <a:solidFill>
              <a:srgbClr val="D6CC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bootstrap-note"/>
          <p:cNvSpPr txBox="1"/>
          <p:nvPr/>
        </p:nvSpPr>
        <p:spPr>
          <a:xfrm>
            <a:off x="426720" y="7566660"/>
            <a:ext cx="13776960" cy="20574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lang="en-US">
                <a:solidFill>
                  <a:srgbClr val="405779"/>
                </a:solidFill>
                <a:latin typeface="Arial"/>
              </a:rPr>
              <a:t>User-level paired bootstrap · 10,000 samples · Bonferroni within each confirmatory family</a:t>
            </a:r>
          </a:p>
        </p:txBody>
      </p:sp>
      <p:sp>
        <p:nvSpPr>
          <p:cNvPr id="95" name="fallback-coverage-note"/>
          <p:cNvSpPr txBox="1"/>
          <p:nvPr/>
        </p:nvSpPr>
        <p:spPr>
          <a:xfrm>
            <a:off x="426720" y="7772400"/>
            <a:ext cx="13776960" cy="20574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405779"/>
                </a:solidFill>
                <a:latin typeface="Arial"/>
              </a:rPr>
              <a:t>Gemini summary missing: Qwen Graph summary fallback · Raw outputs / scene coverage reported separately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ViewingContextPipeline — v4 research pipeline</dc:title>
  <dc:subject>Editable pipeline diagram for README</dc:subject>
  <dc:creator>ViewingContextPipeline</dc:creator>
  <cp:keywords>MicroLens-100K, BGE, SASRec, rolling evaluation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