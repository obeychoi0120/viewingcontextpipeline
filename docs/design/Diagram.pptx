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123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6459200" cy="731520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4000" b="1">
                <a:solidFill>
                  <a:srgbClr val="142D50"/>
                </a:solidFill>
                <a:latin typeface="Liberation Sans"/>
              </a:defRPr>
            </a:pPr>
            <a:r>
              <a:t>ViewingContextPipeline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922240" y="347472"/>
            <a:ext cx="3474720" cy="530352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 w="12700">
            <a:solidFill>
              <a:srgbClr val="ADC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86832" y="429768"/>
            <a:ext cx="3200400" cy="365760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42D50"/>
                </a:solidFill>
                <a:latin typeface="Liberation Sans"/>
              </a:defRPr>
            </a:pPr>
            <a:r>
              <a:t>TEXT + DIRECT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05840"/>
            <a:ext cx="20116800" cy="411480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2100" b="0">
                <a:solidFill>
                  <a:srgbClr val="516985"/>
                </a:solidFill>
                <a:latin typeface="Liberation Sans"/>
              </a:defRPr>
            </a:pPr>
            <a:r>
              <a:t>Visual item representations for sequential recommendation · MicroLens-100K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9966960" cy="45720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9692640" cy="347472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50"/>
                </a:solidFill>
                <a:latin typeface="Liberation Sans"/>
              </a:defRPr>
            </a:pPr>
            <a:r>
              <a:t>100,000 users   ·   719,405 interactions   ·   19,738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98480" y="1572768"/>
            <a:ext cx="10698480" cy="457200"/>
          </a:xfrm>
          <a:prstGeom prst="roundRect">
            <a:avLst>
              <a:gd name="adj" fmla="val 10000"/>
            </a:avLst>
          </a:prstGeom>
          <a:solidFill>
            <a:srgbClr val="E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63072" y="1627632"/>
            <a:ext cx="10332720" cy="347472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087E66"/>
                </a:solidFill>
                <a:latin typeface="Liberation Sans"/>
              </a:defRPr>
            </a:pPr>
            <a:r>
              <a:t>PRIMARY COMPARISON   graph_qwen_meta − meta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67712"/>
            <a:ext cx="7406640" cy="384048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42D50"/>
                </a:solidFill>
                <a:latin typeface="Liberation Sans"/>
              </a:defRPr>
            </a:pPr>
            <a:r>
              <a:t>01   SHARED GENERATION · 4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267712"/>
            <a:ext cx="6629400" cy="384048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42D50"/>
                </a:solidFill>
                <a:latin typeface="Liberation Sans"/>
              </a:defRPr>
            </a:pPr>
            <a:r>
              <a:t>02   TEXT INPUTS · 6 ARMS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0" y="2267712"/>
            <a:ext cx="5852160" cy="384048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42D50"/>
                </a:solidFill>
                <a:latin typeface="Liberation Sans"/>
              </a:defRPr>
            </a:pPr>
            <a:r>
              <a:t>03   TEXT ENCODING + SASRec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7406640" cy="580644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66760" y="2788920"/>
            <a:ext cx="6629400" cy="580644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544800" y="2788920"/>
            <a:ext cx="5852160" cy="580644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971800"/>
            <a:ext cx="6858000" cy="521207"/>
          </a:xfrm>
          <a:prstGeom prst="roundRect">
            <a:avLst>
              <a:gd name="adj" fmla="val 10000"/>
            </a:avLst>
          </a:prstGeom>
          <a:solidFill>
            <a:srgbClr val="EDF3FA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044952"/>
            <a:ext cx="6537960" cy="365760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42D50"/>
                </a:solidFill>
                <a:latin typeface="Liberation Sans"/>
              </a:defRPr>
            </a:pPr>
            <a:r>
              <a:t>Shared keyframes · 30s windows · ≤6 frames · config resolution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40080" y="3236976"/>
            <a:ext cx="137160" cy="0"/>
          </a:xfrm>
          <a:prstGeom prst="line">
            <a:avLst/>
          </a:prstGeom>
          <a:ln w="12700">
            <a:solidFill>
              <a:srgbClr val="516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" y="3703320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87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794759"/>
            <a:ext cx="3154680" cy="329184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087E66"/>
                </a:solidFill>
                <a:latin typeface="Liberation Sans"/>
              </a:defRPr>
            </a:pPr>
            <a:r>
              <a:t>Qwen3-VL-2B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178808"/>
            <a:ext cx="3154680" cy="310896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516985"/>
                </a:solidFill>
                <a:latin typeface="Liberation Sans"/>
              </a:defRPr>
            </a:pPr>
            <a:r>
              <a:t>Scene graphs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06240" y="4137659"/>
            <a:ext cx="393192" cy="0"/>
          </a:xfrm>
          <a:prstGeom prst="line">
            <a:avLst/>
          </a:prstGeom>
          <a:ln w="20320">
            <a:solidFill>
              <a:srgbClr val="087E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617720" y="3703320"/>
            <a:ext cx="27889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87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3794759"/>
            <a:ext cx="2496312" cy="329184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087E66"/>
                </a:solidFill>
                <a:latin typeface="Liberation Sans"/>
              </a:defRPr>
            </a:pPr>
            <a:r>
              <a:t>GQ 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4178808"/>
            <a:ext cx="2496312" cy="310896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16985"/>
                </a:solidFill>
                <a:latin typeface="Liberation Sans"/>
              </a:defRPr>
            </a:pPr>
            <a:r>
              <a:t>Title-free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3236976"/>
            <a:ext cx="0" cy="900683"/>
          </a:xfrm>
          <a:prstGeom prst="line">
            <a:avLst/>
          </a:prstGeom>
          <a:ln w="12700">
            <a:solidFill>
              <a:srgbClr val="516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40080" y="4137659"/>
            <a:ext cx="137160" cy="0"/>
          </a:xfrm>
          <a:prstGeom prst="line">
            <a:avLst/>
          </a:prstGeom>
          <a:ln w="12700">
            <a:solidFill>
              <a:srgbClr val="087E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406640" y="4137659"/>
            <a:ext cx="704087" cy="0"/>
          </a:xfrm>
          <a:prstGeom prst="line">
            <a:avLst/>
          </a:prstGeom>
          <a:ln w="20320">
            <a:solidFill>
              <a:srgbClr val="087E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110727" y="4137659"/>
            <a:ext cx="0" cy="777241"/>
          </a:xfrm>
          <a:prstGeom prst="line">
            <a:avLst/>
          </a:prstGeom>
          <a:ln w="20320">
            <a:solidFill>
              <a:srgbClr val="087E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110727" y="4137660"/>
            <a:ext cx="502921" cy="0"/>
          </a:xfrm>
          <a:prstGeom prst="line">
            <a:avLst/>
          </a:prstGeom>
          <a:ln w="20320">
            <a:solidFill>
              <a:srgbClr val="087E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10727" y="4914900"/>
            <a:ext cx="502921" cy="0"/>
          </a:xfrm>
          <a:prstGeom prst="line">
            <a:avLst/>
          </a:prstGeom>
          <a:ln w="20320">
            <a:solidFill>
              <a:srgbClr val="087E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77240" y="4754880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8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846320"/>
            <a:ext cx="3154680" cy="329184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00848C"/>
                </a:solidFill>
                <a:latin typeface="Liberation Sans"/>
              </a:defRPr>
            </a:pPr>
            <a:r>
              <a:t>gemini-3.8-flash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230368"/>
            <a:ext cx="3154680" cy="310896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516985"/>
                </a:solidFill>
                <a:latin typeface="Liberation Sans"/>
              </a:defRPr>
            </a:pPr>
            <a:r>
              <a:t>Scene graphs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206240" y="5189220"/>
            <a:ext cx="393192" cy="0"/>
          </a:xfrm>
          <a:prstGeom prst="line">
            <a:avLst/>
          </a:prstGeom>
          <a:ln w="20320">
            <a:solidFill>
              <a:srgbClr val="0084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617720" y="4754880"/>
            <a:ext cx="27889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8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4846320"/>
            <a:ext cx="2496312" cy="329184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00848C"/>
                </a:solidFill>
                <a:latin typeface="Liberation Sans"/>
              </a:defRPr>
            </a:pPr>
            <a:r>
              <a:t>GG 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5230368"/>
            <a:ext cx="2496312" cy="310896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16985"/>
                </a:solidFill>
                <a:latin typeface="Liberation Sans"/>
              </a:defRPr>
            </a:pPr>
            <a:r>
              <a:t>Title-free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3236976"/>
            <a:ext cx="0" cy="1952244"/>
          </a:xfrm>
          <a:prstGeom prst="line">
            <a:avLst/>
          </a:prstGeom>
          <a:ln w="12700">
            <a:solidFill>
              <a:srgbClr val="516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40080" y="5189220"/>
            <a:ext cx="137160" cy="0"/>
          </a:xfrm>
          <a:prstGeom prst="line">
            <a:avLst/>
          </a:prstGeom>
          <a:ln w="12700">
            <a:solidFill>
              <a:srgbClr val="0084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06640" y="5189220"/>
            <a:ext cx="704087" cy="0"/>
          </a:xfrm>
          <a:prstGeom prst="line">
            <a:avLst/>
          </a:prstGeom>
          <a:ln w="20320">
            <a:solidFill>
              <a:srgbClr val="008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110727" y="5189220"/>
            <a:ext cx="0" cy="502920"/>
          </a:xfrm>
          <a:prstGeom prst="line">
            <a:avLst/>
          </a:prstGeom>
          <a:ln w="20320">
            <a:solidFill>
              <a:srgbClr val="008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110727" y="5692140"/>
            <a:ext cx="502921" cy="0"/>
          </a:xfrm>
          <a:prstGeom prst="line">
            <a:avLst/>
          </a:prstGeom>
          <a:ln w="20320">
            <a:solidFill>
              <a:srgbClr val="0084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77240" y="5806440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85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897879"/>
            <a:ext cx="3154680" cy="329184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285CE5"/>
                </a:solidFill>
                <a:latin typeface="Liberation Sans"/>
              </a:defRPr>
            </a:pPr>
            <a:r>
              <a:t>Qwen3-VL-2B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6281927"/>
            <a:ext cx="3154680" cy="310896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516985"/>
                </a:solidFill>
                <a:latin typeface="Liberation Sans"/>
              </a:defRPr>
            </a:pPr>
            <a:r>
              <a:t>Scene descriptions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206240" y="6240779"/>
            <a:ext cx="393192" cy="0"/>
          </a:xfrm>
          <a:prstGeom prst="line">
            <a:avLst/>
          </a:prstGeom>
          <a:ln w="20320">
            <a:solidFill>
              <a:srgbClr val="285CE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617720" y="5806440"/>
            <a:ext cx="27889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85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73168" y="5897879"/>
            <a:ext cx="2496312" cy="329184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285CE5"/>
                </a:solidFill>
                <a:latin typeface="Liberation Sans"/>
              </a:defRPr>
            </a:pPr>
            <a:r>
              <a:t>DQ  Summary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73168" y="6281927"/>
            <a:ext cx="2496312" cy="310896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16985"/>
                </a:solidFill>
                <a:latin typeface="Liberation Sans"/>
              </a:defRPr>
            </a:pPr>
            <a:r>
              <a:t>Title-free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40080" y="3236976"/>
            <a:ext cx="0" cy="3003803"/>
          </a:xfrm>
          <a:prstGeom prst="line">
            <a:avLst/>
          </a:prstGeom>
          <a:ln w="12700">
            <a:solidFill>
              <a:srgbClr val="516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40080" y="6240779"/>
            <a:ext cx="137160" cy="0"/>
          </a:xfrm>
          <a:prstGeom prst="line">
            <a:avLst/>
          </a:prstGeom>
          <a:ln w="12700">
            <a:solidFill>
              <a:srgbClr val="285CE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406640" y="6240779"/>
            <a:ext cx="704087" cy="0"/>
          </a:xfrm>
          <a:prstGeom prst="line">
            <a:avLst/>
          </a:prstGeom>
          <a:ln w="20320">
            <a:solidFill>
              <a:srgbClr val="285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110727" y="6240779"/>
            <a:ext cx="0" cy="228601"/>
          </a:xfrm>
          <a:prstGeom prst="line">
            <a:avLst/>
          </a:prstGeom>
          <a:ln w="20320">
            <a:solidFill>
              <a:srgbClr val="285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110727" y="6469380"/>
            <a:ext cx="502921" cy="0"/>
          </a:xfrm>
          <a:prstGeom prst="line">
            <a:avLst/>
          </a:prstGeom>
          <a:ln w="20320">
            <a:solidFill>
              <a:srgbClr val="285CE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777240" y="6858000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74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" y="6949440"/>
            <a:ext cx="3154680" cy="329184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5742A1"/>
                </a:solidFill>
                <a:latin typeface="Liberation Sans"/>
              </a:defRPr>
            </a:pPr>
            <a:r>
              <a:t>gemini-3.8-flash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" y="7333488"/>
            <a:ext cx="3154680" cy="310896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516985"/>
                </a:solidFill>
                <a:latin typeface="Liberation Sans"/>
              </a:defRPr>
            </a:pPr>
            <a:r>
              <a:t>Scene descriptions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206240" y="7292340"/>
            <a:ext cx="393192" cy="0"/>
          </a:xfrm>
          <a:prstGeom prst="line">
            <a:avLst/>
          </a:prstGeom>
          <a:ln w="20320">
            <a:solidFill>
              <a:srgbClr val="5742A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4617720" y="6858000"/>
            <a:ext cx="27889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74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73168" y="6949440"/>
            <a:ext cx="2496312" cy="329184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5742A1"/>
                </a:solidFill>
                <a:latin typeface="Liberation Sans"/>
              </a:defRPr>
            </a:pPr>
            <a:r>
              <a:t>DG  Summary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73168" y="7333488"/>
            <a:ext cx="2496312" cy="310896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16985"/>
                </a:solidFill>
                <a:latin typeface="Liberation Sans"/>
              </a:defRPr>
            </a:pPr>
            <a:r>
              <a:t>Title-free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40080" y="3236976"/>
            <a:ext cx="0" cy="4055364"/>
          </a:xfrm>
          <a:prstGeom prst="line">
            <a:avLst/>
          </a:prstGeom>
          <a:ln w="12700">
            <a:solidFill>
              <a:srgbClr val="5169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40080" y="7292340"/>
            <a:ext cx="137160" cy="0"/>
          </a:xfrm>
          <a:prstGeom prst="line">
            <a:avLst/>
          </a:prstGeom>
          <a:ln w="12700">
            <a:solidFill>
              <a:srgbClr val="5742A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406640" y="7292340"/>
            <a:ext cx="704087" cy="0"/>
          </a:xfrm>
          <a:prstGeom prst="line">
            <a:avLst/>
          </a:prstGeom>
          <a:ln w="20320">
            <a:solidFill>
              <a:srgbClr val="5742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110727" y="7246620"/>
            <a:ext cx="0" cy="45720"/>
          </a:xfrm>
          <a:prstGeom prst="line">
            <a:avLst/>
          </a:prstGeom>
          <a:ln w="20320">
            <a:solidFill>
              <a:srgbClr val="5742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110727" y="7246620"/>
            <a:ext cx="502921" cy="0"/>
          </a:xfrm>
          <a:prstGeom prst="line">
            <a:avLst/>
          </a:prstGeom>
          <a:ln w="20320">
            <a:solidFill>
              <a:srgbClr val="5742A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32104" y="7900416"/>
            <a:ext cx="6629400" cy="530352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16985"/>
                </a:solidFill>
                <a:latin typeface="Liberation Sans"/>
              </a:defRPr>
            </a:pPr>
            <a:r>
              <a:t>Summary model is selected separately; README uses Gemini.</a:t>
            </a:r>
          </a:p>
          <a:p>
            <a:pPr>
              <a:spcAft>
                <a:spcPts val="300"/>
              </a:spcAft>
              <a:defRPr sz="1500" b="0">
                <a:solidFill>
                  <a:srgbClr val="516985"/>
                </a:solidFill>
                <a:latin typeface="Liberation Sans"/>
              </a:defRPr>
            </a:pPr>
            <a:r>
              <a:t>Frames: resized_keyframes/&lt;width&gt;_&lt;height&gt;/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613648" y="3035808"/>
            <a:ext cx="5486400" cy="6492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63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622792" y="3063239"/>
            <a:ext cx="59436" cy="594360"/>
          </a:xfrm>
          <a:prstGeom prst="rect">
            <a:avLst/>
          </a:prstGeom>
          <a:solidFill>
            <a:srgbClr val="636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87384" y="3172968"/>
            <a:ext cx="3593592" cy="393192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636F80"/>
                </a:solidFill>
                <a:latin typeface="Liberation Sans"/>
              </a:defRPr>
            </a:pPr>
            <a:r>
              <a:t>meta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408408" y="3182112"/>
            <a:ext cx="1554480" cy="393192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636F80"/>
                </a:solidFill>
                <a:latin typeface="Liberation Sans"/>
              </a:defRPr>
            </a:pPr>
            <a:r>
              <a:t>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613648" y="3813048"/>
            <a:ext cx="5486400" cy="6492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87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622792" y="3840480"/>
            <a:ext cx="59436" cy="594360"/>
          </a:xfrm>
          <a:prstGeom prst="rect">
            <a:avLst/>
          </a:prstGeom>
          <a:solidFill>
            <a:srgbClr val="087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87384" y="3950208"/>
            <a:ext cx="3593592" cy="393192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087E66"/>
                </a:solidFill>
                <a:latin typeface="Liberation Sans"/>
              </a:defRPr>
            </a:pPr>
            <a:r>
              <a:t>graph_qwen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408408" y="3959352"/>
            <a:ext cx="1554480" cy="393192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87E66"/>
                </a:solidFill>
                <a:latin typeface="Liberation Sans"/>
              </a:defRPr>
            </a:pPr>
            <a:r>
              <a:t>GQ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613648" y="4590288"/>
            <a:ext cx="5486400" cy="649224"/>
          </a:xfrm>
          <a:prstGeom prst="roundRect">
            <a:avLst>
              <a:gd name="adj" fmla="val 10000"/>
            </a:avLst>
          </a:prstGeom>
          <a:solidFill>
            <a:srgbClr val="EAF6F1"/>
          </a:solidFill>
          <a:ln w="22860">
            <a:solidFill>
              <a:srgbClr val="087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622792" y="4617720"/>
            <a:ext cx="59436" cy="594360"/>
          </a:xfrm>
          <a:prstGeom prst="rect">
            <a:avLst/>
          </a:prstGeom>
          <a:solidFill>
            <a:srgbClr val="087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87384" y="4727448"/>
            <a:ext cx="3593592" cy="393192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087E66"/>
                </a:solidFill>
                <a:latin typeface="Liberation Sans"/>
              </a:defRPr>
            </a:pPr>
            <a:r>
              <a:t>graph_qwen_meta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408408" y="4736592"/>
            <a:ext cx="1554480" cy="393192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87E66"/>
                </a:solidFill>
                <a:latin typeface="Liberation Sans"/>
              </a:defRPr>
            </a:pPr>
            <a:r>
              <a:t>T + GQ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613648" y="5367527"/>
            <a:ext cx="5486400" cy="6492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8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622792" y="5394959"/>
            <a:ext cx="59436" cy="594360"/>
          </a:xfrm>
          <a:prstGeom prst="rect">
            <a:avLst/>
          </a:prstGeom>
          <a:solidFill>
            <a:srgbClr val="00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787384" y="5504688"/>
            <a:ext cx="3593592" cy="393192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00848C"/>
                </a:solidFill>
                <a:latin typeface="Liberation Sans"/>
              </a:defRPr>
            </a:pPr>
            <a:r>
              <a:t>graph_gemini_meta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408408" y="5513831"/>
            <a:ext cx="1554480" cy="393192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848C"/>
                </a:solidFill>
                <a:latin typeface="Liberation Sans"/>
              </a:defRPr>
            </a:pPr>
            <a:r>
              <a:t>T + GG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613648" y="6144768"/>
            <a:ext cx="5486400" cy="6492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85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622792" y="6172200"/>
            <a:ext cx="59436" cy="594360"/>
          </a:xfrm>
          <a:prstGeom prst="rect">
            <a:avLst/>
          </a:prstGeom>
          <a:solidFill>
            <a:srgbClr val="285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787384" y="6281928"/>
            <a:ext cx="3593592" cy="393192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285CE5"/>
                </a:solidFill>
                <a:latin typeface="Liberation Sans"/>
              </a:defRPr>
            </a:pPr>
            <a:r>
              <a:t>desc_qwen_meta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408408" y="6291072"/>
            <a:ext cx="1554480" cy="393192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285CE5"/>
                </a:solidFill>
                <a:latin typeface="Liberation Sans"/>
              </a:defRPr>
            </a:pPr>
            <a:r>
              <a:t>T + DQ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613648" y="6922008"/>
            <a:ext cx="5486400" cy="6492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74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22792" y="6949440"/>
            <a:ext cx="59436" cy="594360"/>
          </a:xfrm>
          <a:prstGeom prst="rect">
            <a:avLst/>
          </a:prstGeom>
          <a:solidFill>
            <a:srgbClr val="574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787384" y="7059168"/>
            <a:ext cx="3593592" cy="393192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5742A1"/>
                </a:solidFill>
                <a:latin typeface="Liberation Sans"/>
              </a:defRPr>
            </a:pPr>
            <a:r>
              <a:t>desc_gemini_meta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408408" y="7068312"/>
            <a:ext cx="1554480" cy="393192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5742A1"/>
                </a:solidFill>
                <a:latin typeface="Liberation Sans"/>
              </a:defRPr>
            </a:pPr>
            <a:r>
              <a:t>T + DG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153144" y="7882127"/>
            <a:ext cx="4946904" cy="438912"/>
          </a:xfrm>
          <a:prstGeom prst="roundRect">
            <a:avLst>
              <a:gd name="adj" fmla="val 10000"/>
            </a:avLst>
          </a:prstGeom>
          <a:solidFill>
            <a:srgbClr val="EEF0F4"/>
          </a:solidFill>
          <a:ln w="12700">
            <a:solidFill>
              <a:srgbClr val="63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299448" y="7936992"/>
            <a:ext cx="4608576" cy="310896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636F80"/>
                </a:solidFill>
                <a:latin typeface="Liberation Sans"/>
              </a:defRPr>
            </a:pPr>
            <a:r>
              <a:t>T = English title  ·  bypasses all LLMs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14100048" y="8101583"/>
            <a:ext cx="402336" cy="0"/>
          </a:xfrm>
          <a:prstGeom prst="line">
            <a:avLst/>
          </a:prstGeom>
          <a:ln w="2032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4502384" y="3360420"/>
            <a:ext cx="0" cy="4741163"/>
          </a:xfrm>
          <a:prstGeom prst="line">
            <a:avLst/>
          </a:prstGeom>
          <a:ln w="2032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14100048" y="3360420"/>
            <a:ext cx="402336" cy="0"/>
          </a:xfrm>
          <a:prstGeom prst="line">
            <a:avLst/>
          </a:prstGeom>
          <a:ln w="20320">
            <a:solidFill>
              <a:srgbClr val="636F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4100048" y="4914900"/>
            <a:ext cx="402336" cy="0"/>
          </a:xfrm>
          <a:prstGeom prst="line">
            <a:avLst/>
          </a:prstGeom>
          <a:ln w="20320">
            <a:solidFill>
              <a:srgbClr val="636F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4100048" y="5692140"/>
            <a:ext cx="402336" cy="0"/>
          </a:xfrm>
          <a:prstGeom prst="line">
            <a:avLst/>
          </a:prstGeom>
          <a:ln w="20320">
            <a:solidFill>
              <a:srgbClr val="636F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4100048" y="6469380"/>
            <a:ext cx="402336" cy="0"/>
          </a:xfrm>
          <a:prstGeom prst="line">
            <a:avLst/>
          </a:prstGeom>
          <a:ln w="20320">
            <a:solidFill>
              <a:srgbClr val="636F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14100048" y="7246620"/>
            <a:ext cx="402336" cy="0"/>
          </a:xfrm>
          <a:prstGeom prst="line">
            <a:avLst/>
          </a:prstGeom>
          <a:ln w="20320">
            <a:solidFill>
              <a:srgbClr val="636F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8741664" y="7616952"/>
            <a:ext cx="5495544" cy="237744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16985"/>
                </a:solidFill>
                <a:latin typeface="Liberation Sans"/>
              </a:defRPr>
            </a:pPr>
            <a:r>
              <a:t>+ = text concatenation with one blank line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14996159" y="3959352"/>
            <a:ext cx="822961" cy="0"/>
          </a:xfrm>
          <a:prstGeom prst="line">
            <a:avLst/>
          </a:prstGeom>
          <a:ln w="25400">
            <a:solidFill>
              <a:srgbClr val="142D5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15828263" y="3227832"/>
            <a:ext cx="5276088" cy="1472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1A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056863" y="3364992"/>
            <a:ext cx="4818888" cy="384048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142D50"/>
                </a:solidFill>
                <a:latin typeface="Liberation Sans"/>
              </a:defRPr>
            </a:pPr>
            <a:r>
              <a:t>Frozen BGE-large-en-v1.5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056863" y="3867912"/>
            <a:ext cx="4818888" cy="640080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516985"/>
                </a:solidFill>
                <a:latin typeface="Liberation Sans"/>
              </a:defRPr>
            </a:pPr>
            <a:r>
              <a:t>Title + Summary → 1024-D</a:t>
            </a:r>
          </a:p>
          <a:p>
            <a:pPr>
              <a:spcAft>
                <a:spcPts val="300"/>
              </a:spcAft>
              <a:defRPr sz="1800" b="0">
                <a:solidFill>
                  <a:srgbClr val="516985"/>
                </a:solidFill>
                <a:latin typeface="Liberation Sans"/>
              </a:defRPr>
            </a:pPr>
            <a:r>
              <a:t>Text concatenation before encoding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8470880" y="4700016"/>
            <a:ext cx="0" cy="356616"/>
          </a:xfrm>
          <a:prstGeom prst="line">
            <a:avLst/>
          </a:prstGeom>
          <a:ln w="25400">
            <a:solidFill>
              <a:srgbClr val="142D5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15828263" y="5074920"/>
            <a:ext cx="5276088" cy="1353312"/>
          </a:xfrm>
          <a:prstGeom prst="roundRect">
            <a:avLst>
              <a:gd name="adj" fmla="val 10000"/>
            </a:avLst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6056863" y="5239512"/>
            <a:ext cx="4818888" cy="676656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FFFFFF"/>
                </a:solidFill>
                <a:latin typeface="Liberation Sans"/>
              </a:defRPr>
            </a:pPr>
            <a:r>
              <a:t>Projection + Residual MLPs</a:t>
            </a:r>
          </a:p>
          <a:p>
            <a:pPr>
              <a:spcAft>
                <a:spcPts val="300"/>
              </a:spcAft>
              <a:defRPr sz="2200" b="1">
                <a:solidFill>
                  <a:srgbClr val="FFFFFF"/>
                </a:solidFill>
                <a:latin typeface="Liberation Sans"/>
              </a:defRPr>
            </a:pPr>
            <a:r>
              <a:t>+ SASRec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6056863" y="6007608"/>
            <a:ext cx="4818888" cy="320040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FFFFFF"/>
                </a:solidFill>
                <a:latin typeface="Liberation Sans"/>
              </a:defRPr>
            </a:pPr>
            <a:r>
              <a:t>1024 → 512-D · trainable per arm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5828263" y="6995160"/>
            <a:ext cx="5276088" cy="813816"/>
          </a:xfrm>
          <a:prstGeom prst="roundRect">
            <a:avLst>
              <a:gd name="adj" fmla="val 10000"/>
            </a:avLst>
          </a:prstGeom>
          <a:solidFill>
            <a:srgbClr val="ECF2FC"/>
          </a:solidFill>
          <a:ln w="12700">
            <a:solidFill>
              <a:srgbClr val="91A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6056863" y="7095744"/>
            <a:ext cx="4818888" cy="329184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42D50"/>
                </a:solidFill>
                <a:latin typeface="Liberation Sans"/>
              </a:defRPr>
            </a:pPr>
            <a:r>
              <a:t>Common user histories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6056863" y="7461504"/>
            <a:ext cx="4818888" cy="274320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16985"/>
                </a:solidFill>
                <a:latin typeface="Liberation Sans"/>
              </a:defRPr>
            </a:pPr>
            <a:r>
              <a:t>Strictly earlier events · last 10 items</a:t>
            </a:r>
          </a:p>
        </p:txBody>
      </p:sp>
      <p:cxnSp>
        <p:nvCxnSpPr>
          <p:cNvPr id="114" name="Connector 113"/>
          <p:cNvCxnSpPr/>
          <p:nvPr/>
        </p:nvCxnSpPr>
        <p:spPr>
          <a:xfrm flipV="1">
            <a:off x="18470880" y="6428232"/>
            <a:ext cx="0" cy="566928"/>
          </a:xfrm>
          <a:prstGeom prst="line">
            <a:avLst/>
          </a:prstGeom>
          <a:ln w="25400">
            <a:solidFill>
              <a:srgbClr val="142D5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15937992" y="8037575"/>
            <a:ext cx="5129784" cy="320040"/>
          </a:xfrm>
          <a:prstGeom prst="rect">
            <a:avLst/>
          </a:prstGeom>
          <a:noFill/>
        </p:spPr>
        <p:txBody>
          <a:bodyPr wrap="square" lIns="18288" rIns="18288" tIns="13716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16985"/>
                </a:solidFill>
                <a:latin typeface="Liberation Sans"/>
              </a:defRPr>
            </a:pPr>
            <a:r>
              <a:t>Same architecture · independent weights per arm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02920" y="8924544"/>
            <a:ext cx="20894040" cy="1938528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 w="12700">
            <a:solidFill>
              <a:srgbClr val="B9A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68096" y="9262872"/>
            <a:ext cx="29260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5742A1"/>
                </a:solidFill>
                <a:latin typeface="Liberation Sans"/>
              </a:defRPr>
            </a:pPr>
            <a:r>
              <a:t>DIRECT GRAPH</a:t>
            </a:r>
          </a:p>
          <a:p>
            <a:pPr>
              <a:spcAft>
                <a:spcPts val="300"/>
              </a:spcAft>
              <a:defRPr sz="2100" b="1">
                <a:solidFill>
                  <a:srgbClr val="5742A1"/>
                </a:solidFill>
                <a:latin typeface="Liberation Sans"/>
              </a:defRPr>
            </a:pPr>
            <a:r>
              <a:t>4 ARMS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675887" y="9262872"/>
            <a:ext cx="32461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B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858768" y="9418320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5742A1"/>
                </a:solidFill>
                <a:latin typeface="Liberation Sans"/>
              </a:defRPr>
            </a:pPr>
            <a:r>
              <a:t>Scene Graphs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858768" y="987552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16985"/>
                </a:solidFill>
                <a:latin typeface="Liberation Sans"/>
              </a:defRPr>
            </a:pPr>
            <a:r>
              <a:t>Qwen / Gemini · no Summary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351775" y="9262872"/>
            <a:ext cx="45720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B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534655" y="9418320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5742A1"/>
                </a:solidFill>
                <a:latin typeface="Liberation Sans"/>
              </a:defRPr>
            </a:pPr>
            <a:r>
              <a:t>BGE → Graph encoder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534655" y="98755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16985"/>
                </a:solidFill>
                <a:latin typeface="Liberation Sans"/>
              </a:defRPr>
            </a:pPr>
            <a:r>
              <a:t>Frozen features · trainable encoder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2353544" y="9262872"/>
            <a:ext cx="34747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B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2536424" y="9418320"/>
            <a:ext cx="3108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5742A1"/>
                </a:solidFill>
                <a:latin typeface="Liberation Sans"/>
              </a:defRPr>
            </a:pPr>
            <a:r>
              <a:t>Scene pooling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2536424" y="98755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516985"/>
                </a:solidFill>
                <a:latin typeface="Liberation Sans"/>
              </a:defRPr>
            </a:pPr>
            <a:r>
              <a:t>mean / attention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6258032" y="9262872"/>
            <a:ext cx="4828032" cy="1005840"/>
          </a:xfrm>
          <a:prstGeom prst="roundRect">
            <a:avLst>
              <a:gd name="adj" fmla="val 6000"/>
            </a:avLst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6440912" y="9418320"/>
            <a:ext cx="44622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FFFFFF"/>
                </a:solidFill>
                <a:latin typeface="Liberation Sans"/>
              </a:defRPr>
            </a:pPr>
            <a:r>
              <a:t>Title fusion + SASRec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6440912" y="987552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E5EBF5"/>
                </a:solidFill>
                <a:latin typeface="Liberation Sans"/>
              </a:defRPr>
            </a:pPr>
            <a:r>
              <a:t>Optional title embedding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6922008" y="9765792"/>
            <a:ext cx="411480" cy="0"/>
          </a:xfrm>
          <a:prstGeom prst="line">
            <a:avLst/>
          </a:prstGeom>
          <a:ln w="19050">
            <a:solidFill>
              <a:srgbClr val="5742A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1923776" y="9765792"/>
            <a:ext cx="411480" cy="0"/>
          </a:xfrm>
          <a:prstGeom prst="line">
            <a:avLst/>
          </a:prstGeom>
          <a:ln w="19050">
            <a:solidFill>
              <a:srgbClr val="5742A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5828263" y="9765792"/>
            <a:ext cx="411481" cy="0"/>
          </a:xfrm>
          <a:prstGeom prst="line">
            <a:avLst/>
          </a:prstGeom>
          <a:ln w="19050">
            <a:solidFill>
              <a:srgbClr val="5742A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786384" y="10497312"/>
            <a:ext cx="1216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742A1"/>
                </a:solidFill>
                <a:latin typeface="Liberation Sans"/>
              </a:defRPr>
            </a:pPr>
            <a:r>
              <a:t>Arms: meta · graph_qwen · graph_qwen_meta · graph_gemini_meta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2893040" y="104973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742A1"/>
                </a:solidFill>
                <a:latin typeface="Liberation Sans"/>
              </a:defRPr>
            </a:pPr>
            <a:r>
              <a:t>Encoder + SASRec train jointly; meta uses title only.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14100048" y="4137660"/>
            <a:ext cx="402336" cy="0"/>
          </a:xfrm>
          <a:prstGeom prst="line">
            <a:avLst/>
          </a:prstGeom>
          <a:ln w="1905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4502384" y="3959352"/>
            <a:ext cx="493775" cy="0"/>
          </a:xfrm>
          <a:prstGeom prst="line">
            <a:avLst/>
          </a:prstGeom>
          <a:ln w="19050">
            <a:solidFill>
              <a:srgbClr val="142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ounded Rectangle 136"/>
          <p:cNvSpPr/>
          <p:nvPr/>
        </p:nvSpPr>
        <p:spPr>
          <a:xfrm>
            <a:off x="502920" y="11128248"/>
            <a:ext cx="20894040" cy="832104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68096" y="112928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42D50"/>
                </a:solidFill>
                <a:latin typeface="Liberation Sans"/>
              </a:defRPr>
            </a:pPr>
            <a:r>
              <a:t>SHARED EVALUATION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18888" y="11274552"/>
            <a:ext cx="16184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42D50"/>
                </a:solidFill>
                <a:latin typeface="Liberation Sans"/>
              </a:defRPr>
            </a:pPr>
            <a:r>
              <a:t>Rolling splits · Full catalog · NDCG@10 / HR@10 · User-level paired bootstrap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818888" y="11676888"/>
            <a:ext cx="161848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16985"/>
                </a:solidFill>
                <a:latin typeface="Liberation Sans"/>
              </a:defRPr>
            </a:pPr>
            <a:r>
              <a:t>Same histories and evaluation events; comparisons stay within each mode / pooling.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ViewingContextPipeline — text and direct Graph evaluation</dc:title>
  <dc:subject>Original three-column text pipeline with a separate direct Graph path</dc:subject>
  <dc:creator>ViewingContextPipeline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