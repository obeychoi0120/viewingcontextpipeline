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9659600" cy="120700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Graph architecture: sasrec-role-graph/v3. Role Graph Encoder depth is 1 layer. Entity and action texts are embedded separately using the same frozen BGE weights. Node features are independently projected using shared weights, with a learned type embedding added; they are not averaged before message passing. Role edges are actor, target, tool and location, in both directions. Context bypasses the Graph encoder and joins scene readout only. BGE features are frozen; downstream modules train jointly on recommendation loss. Mean pooling has no trainable parameters. Scene concat is [entity mean 128; action mean 128; projected Context 128]. Final fusion is [title 128; video 384]. No scene 384-to-512 projection and no 1536-to-512 fusion projection. Context and node projection share weights as in the current encoder. Text _meta concatenates title and summary strings before BGE. Without title, Text uses summary only. Both paths use positional embeddings, causal attention, and the existing SASRec output normalization before selecting the last valid position. Title-only meta uses the existing BGE 1024-to-512 model. Text and Graph do not share trained SASRec weights.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8562320" cy="502920"/>
          </a:xfrm>
          <a:prstGeom prst="rect">
            <a:avLst/>
          </a:prstGeom>
          <a:noFill/>
          <a:effectLst/>
        </p:spPr>
        <p:txBody>
          <a:bodyPr wrap="square" lIns="54864" rIns="54864" tIns="18288" bIns="18288" anchor="ctr">
            <a:spAutoFit/>
          </a:bodyPr>
          <a:lstStyle/>
          <a:p>
            <a:pPr algn="l">
              <a:spcAft>
                <a:spcPts val="200"/>
              </a:spcAft>
            </a:pPr>
            <a:r>
              <a:rPr sz="3000" b="1">
                <a:solidFill>
                  <a:srgbClr val="142B43"/>
                </a:solidFill>
                <a:latin typeface="Liberation Sans"/>
              </a:rPr>
              <a:t>Recommendation Architecture | Baseline vs. Text vs. Graph</a:t>
            </a:r>
          </a:p>
        </p:txBody>
      </p:sp>
      <p:sp>
        <p:nvSpPr>
          <p:cNvPr id="3" name="TextBox 2"/>
          <p:cNvSpPr txBox="1"/>
          <p:nvPr/>
        </p:nvSpPr>
        <p:spPr>
          <a:xfrm>
            <a:off x="566928" y="795528"/>
            <a:ext cx="18470880" cy="320040"/>
          </a:xfrm>
          <a:prstGeom prst="rect">
            <a:avLst/>
          </a:prstGeom>
          <a:noFill/>
          <a:effectLst/>
        </p:spPr>
        <p:txBody>
          <a:bodyPr wrap="square" lIns="54864" rIns="54864" tIns="18288" bIns="18288" anchor="ctr">
            <a:spAutoFit/>
          </a:bodyPr>
          <a:lstStyle/>
          <a:p>
            <a:pPr algn="l">
              <a:spcAft>
                <a:spcPts val="200"/>
              </a:spcAft>
            </a:pPr>
            <a:r>
              <a:rPr sz="1500">
                <a:solidFill>
                  <a:srgbClr val="62768D"/>
                </a:solidFill>
                <a:latin typeface="Aptos"/>
              </a:rPr>
              <a:t>Proposed design  /  Baseline: Title 512  /  Text &amp; Graph: Title 128 + Video 384  /  Final LayerNorm: 512  /  Frozen BGE large: 1,024</a:t>
            </a:r>
          </a:p>
        </p:txBody>
      </p:sp>
      <p:sp>
        <p:nvSpPr>
          <p:cNvPr id="4" name="Rounded Rectangle 3"/>
          <p:cNvSpPr/>
          <p:nvPr/>
        </p:nvSpPr>
        <p:spPr>
          <a:xfrm>
            <a:off x="3703320" y="1298448"/>
            <a:ext cx="4572000" cy="7973568"/>
          </a:xfrm>
          <a:prstGeom prst="roundRect">
            <a:avLst>
              <a:gd name="adj" fmla="val 3000"/>
            </a:avLst>
          </a:prstGeom>
          <a:solidFill>
            <a:srgbClr val="F7FAFF"/>
          </a:solidFill>
          <a:ln w="13335">
            <a:solidFill>
              <a:srgbClr val="CADA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3735324" y="1312163"/>
            <a:ext cx="4507992" cy="7781544"/>
          </a:xfrm>
          <a:prstGeom prst="rect">
            <a:avLst/>
          </a:prstGeom>
          <a:noFill/>
          <a:effectLst/>
        </p:spPr>
        <p:txBody>
          <a:bodyPr wrap="square" lIns="54864" rIns="54864" tIns="18288" bIns="18288" anchor="ctr">
            <a:spAutoFit/>
          </a:bodyPr>
          <a:lstStyle/>
          <a:p>
            <a:pPr algn="ctr">
              <a:spcAft>
                <a:spcPts val="200"/>
              </a:spcAft>
            </a:pPr>
          </a:p>
        </p:txBody>
      </p:sp>
      <p:sp>
        <p:nvSpPr>
          <p:cNvPr id="6" name="Rounded Rectangle 5"/>
          <p:cNvSpPr/>
          <p:nvPr/>
        </p:nvSpPr>
        <p:spPr>
          <a:xfrm>
            <a:off x="8549640" y="1298448"/>
            <a:ext cx="10607040" cy="7973568"/>
          </a:xfrm>
          <a:prstGeom prst="roundRect">
            <a:avLst>
              <a:gd name="adj" fmla="val 1720"/>
            </a:avLst>
          </a:prstGeom>
          <a:solidFill>
            <a:srgbClr val="F5FBFA"/>
          </a:solidFill>
          <a:ln w="13335">
            <a:solidFill>
              <a:srgbClr val="BDDF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581644" y="1312163"/>
            <a:ext cx="10543032" cy="7781544"/>
          </a:xfrm>
          <a:prstGeom prst="rect">
            <a:avLst/>
          </a:prstGeom>
          <a:noFill/>
          <a:effectLst/>
        </p:spPr>
        <p:txBody>
          <a:bodyPr wrap="square" lIns="54864" rIns="54864" tIns="18288" bIns="18288" anchor="ctr">
            <a:spAutoFit/>
          </a:bodyPr>
          <a:lstStyle/>
          <a:p>
            <a:pPr algn="ctr">
              <a:spcAft>
                <a:spcPts val="200"/>
              </a:spcAft>
            </a:pPr>
          </a:p>
        </p:txBody>
      </p:sp>
      <p:sp>
        <p:nvSpPr>
          <p:cNvPr id="8" name="TextBox 7"/>
          <p:cNvSpPr txBox="1"/>
          <p:nvPr/>
        </p:nvSpPr>
        <p:spPr>
          <a:xfrm>
            <a:off x="3931920" y="1444752"/>
            <a:ext cx="4114800" cy="365760"/>
          </a:xfrm>
          <a:prstGeom prst="rect">
            <a:avLst/>
          </a:prstGeom>
          <a:noFill/>
          <a:effectLst/>
        </p:spPr>
        <p:txBody>
          <a:bodyPr wrap="square" lIns="54864" rIns="54864" tIns="18288" bIns="18288" anchor="ctr">
            <a:spAutoFit/>
          </a:bodyPr>
          <a:lstStyle/>
          <a:p>
            <a:pPr algn="l">
              <a:spcAft>
                <a:spcPts val="200"/>
              </a:spcAft>
            </a:pPr>
            <a:r>
              <a:rPr sz="2300" b="1">
                <a:solidFill>
                  <a:srgbClr val="2864B7"/>
                </a:solidFill>
                <a:latin typeface="Liberation Sans"/>
              </a:rPr>
              <a:t>TEXT PATH</a:t>
            </a:r>
          </a:p>
        </p:txBody>
      </p:sp>
      <p:sp>
        <p:nvSpPr>
          <p:cNvPr id="9" name="TextBox 8"/>
          <p:cNvSpPr txBox="1"/>
          <p:nvPr/>
        </p:nvSpPr>
        <p:spPr>
          <a:xfrm>
            <a:off x="8778240" y="1444752"/>
            <a:ext cx="9966960" cy="365760"/>
          </a:xfrm>
          <a:prstGeom prst="rect">
            <a:avLst/>
          </a:prstGeom>
          <a:noFill/>
          <a:effectLst/>
        </p:spPr>
        <p:txBody>
          <a:bodyPr wrap="square" lIns="54864" rIns="54864" tIns="18288" bIns="18288" anchor="ctr">
            <a:spAutoFit/>
          </a:bodyPr>
          <a:lstStyle/>
          <a:p>
            <a:pPr algn="l">
              <a:spcAft>
                <a:spcPts val="200"/>
              </a:spcAft>
            </a:pPr>
            <a:r>
              <a:rPr sz="2300" b="1">
                <a:solidFill>
                  <a:srgbClr val="087E83"/>
                </a:solidFill>
                <a:latin typeface="Liberation Sans"/>
              </a:rPr>
              <a:t>GRAPH PATH</a:t>
            </a:r>
          </a:p>
        </p:txBody>
      </p:sp>
      <p:sp>
        <p:nvSpPr>
          <p:cNvPr id="83" name="Rounded Rectangle 82"/>
          <p:cNvSpPr/>
          <p:nvPr/>
        </p:nvSpPr>
        <p:spPr>
          <a:xfrm>
            <a:off x="502920" y="9482328"/>
            <a:ext cx="18653758" cy="1865376"/>
          </a:xfrm>
          <a:prstGeom prst="roundRect">
            <a:avLst>
              <a:gd name="adj" fmla="val 7352"/>
            </a:avLst>
          </a:prstGeom>
          <a:solidFill>
            <a:srgbClr val="F6F8FB"/>
          </a:solidFill>
          <a:ln w="13335">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541552" y="9496044"/>
            <a:ext cx="18576494" cy="1837944"/>
          </a:xfrm>
          <a:prstGeom prst="rect">
            <a:avLst/>
          </a:prstGeom>
          <a:noFill/>
          <a:effectLst/>
        </p:spPr>
        <p:txBody>
          <a:bodyPr wrap="square" lIns="54864" rIns="54864" tIns="18288" bIns="18288" anchor="ctr">
            <a:spAutoFit/>
          </a:bodyPr>
          <a:lstStyle/>
          <a:p>
            <a:pPr algn="ctr">
              <a:spcAft>
                <a:spcPts val="200"/>
              </a:spcAft>
            </a:pPr>
          </a:p>
        </p:txBody>
      </p:sp>
      <p:sp>
        <p:nvSpPr>
          <p:cNvPr id="85" name="TextBox 84"/>
          <p:cNvSpPr txBox="1"/>
          <p:nvPr/>
        </p:nvSpPr>
        <p:spPr>
          <a:xfrm>
            <a:off x="834051" y="9601200"/>
            <a:ext cx="17881119" cy="310896"/>
          </a:xfrm>
          <a:prstGeom prst="rect">
            <a:avLst/>
          </a:prstGeom>
          <a:noFill/>
          <a:effectLst/>
        </p:spPr>
        <p:txBody>
          <a:bodyPr wrap="square" lIns="54864" rIns="54864" tIns="18288" bIns="18288" anchor="ctr">
            <a:spAutoFit/>
          </a:bodyPr>
          <a:lstStyle/>
          <a:p>
            <a:pPr algn="l">
              <a:spcAft>
                <a:spcPts val="200"/>
              </a:spcAft>
            </a:pPr>
            <a:r>
              <a:rPr sz="1600" b="1">
                <a:solidFill>
                  <a:srgbClr val="142B43"/>
                </a:solidFill>
                <a:latin typeface="Liberation Sans"/>
              </a:rPr>
              <a:t>SAME RECOMMENDER ARCHITECTURE  •  Trained independently for each path / arm</a:t>
            </a:r>
          </a:p>
        </p:txBody>
      </p:sp>
      <p:sp>
        <p:nvSpPr>
          <p:cNvPr id="86" name="Rounded Rectangle 85"/>
          <p:cNvSpPr/>
          <p:nvPr/>
        </p:nvSpPr>
        <p:spPr>
          <a:xfrm>
            <a:off x="944429" y="10113264"/>
            <a:ext cx="3642450"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983061" y="10126980"/>
            <a:ext cx="3565186"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Video vectors: 512</a:t>
            </a:r>
          </a:p>
          <a:p>
            <a:pPr algn="ctr">
              <a:spcAft>
                <a:spcPts val="200"/>
              </a:spcAft>
            </a:pPr>
            <a:r>
              <a:rPr sz="1800" b="0">
                <a:solidFill>
                  <a:srgbClr val="142B43"/>
                </a:solidFill>
                <a:latin typeface="Liberation Sans"/>
              </a:rPr>
              <a:t>History: up to 10 × 512</a:t>
            </a:r>
          </a:p>
        </p:txBody>
      </p:sp>
      <p:sp>
        <p:nvSpPr>
          <p:cNvPr id="88" name="Rounded Rectangle 87"/>
          <p:cNvSpPr/>
          <p:nvPr/>
        </p:nvSpPr>
        <p:spPr>
          <a:xfrm>
            <a:off x="5271218" y="10113264"/>
            <a:ext cx="3532072"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5309850" y="10126980"/>
            <a:ext cx="3454808"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SASRec</a:t>
            </a:r>
          </a:p>
          <a:p>
            <a:pPr algn="ctr">
              <a:spcAft>
                <a:spcPts val="200"/>
              </a:spcAft>
            </a:pPr>
            <a:r>
              <a:rPr sz="1800" b="0">
                <a:solidFill>
                  <a:srgbClr val="142B43"/>
                </a:solidFill>
                <a:latin typeface="Liberation Sans"/>
              </a:rPr>
              <a:t>2 blocks · 2 heads · 512</a:t>
            </a:r>
          </a:p>
        </p:txBody>
      </p:sp>
      <p:sp>
        <p:nvSpPr>
          <p:cNvPr id="90" name="Rounded Rectangle 89"/>
          <p:cNvSpPr/>
          <p:nvPr/>
        </p:nvSpPr>
        <p:spPr>
          <a:xfrm>
            <a:off x="9498666" y="10113264"/>
            <a:ext cx="3476884" cy="704088"/>
          </a:xfrm>
          <a:prstGeom prst="roundRect">
            <a:avLst>
              <a:gd name="adj" fmla="val 7142"/>
            </a:avLst>
          </a:prstGeom>
          <a:solidFill>
            <a:srgbClr val="FFFFFF"/>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9537299" y="10126980"/>
            <a:ext cx="3399620" cy="676656"/>
          </a:xfrm>
          <a:prstGeom prst="rect">
            <a:avLst/>
          </a:prstGeom>
          <a:noFill/>
          <a:effectLst/>
        </p:spPr>
        <p:txBody>
          <a:bodyPr wrap="square" lIns="54864" rIns="54864" tIns="18288" bIns="18288" anchor="ctr">
            <a:spAutoFit/>
          </a:bodyPr>
          <a:lstStyle/>
          <a:p>
            <a:pPr algn="ctr">
              <a:spcAft>
                <a:spcPts val="200"/>
              </a:spcAft>
            </a:pPr>
            <a:r>
              <a:rPr sz="1800" b="0">
                <a:solidFill>
                  <a:srgbClr val="142B43"/>
                </a:solidFill>
                <a:latin typeface="Liberation Sans"/>
              </a:rPr>
              <a:t>Last valid position</a:t>
            </a:r>
          </a:p>
          <a:p>
            <a:pPr algn="ctr">
              <a:spcAft>
                <a:spcPts val="200"/>
              </a:spcAft>
            </a:pPr>
            <a:r>
              <a:rPr sz="1800" b="0">
                <a:solidFill>
                  <a:srgbClr val="142B43"/>
                </a:solidFill>
                <a:latin typeface="Liberation Sans"/>
              </a:rPr>
              <a:t>User MLP: 512 → 512</a:t>
            </a:r>
          </a:p>
        </p:txBody>
      </p:sp>
      <p:sp>
        <p:nvSpPr>
          <p:cNvPr id="92" name="Rounded Rectangle 91"/>
          <p:cNvSpPr/>
          <p:nvPr/>
        </p:nvSpPr>
        <p:spPr>
          <a:xfrm>
            <a:off x="13858570" y="10113264"/>
            <a:ext cx="4525467" cy="704088"/>
          </a:xfrm>
          <a:prstGeom prst="roundRect">
            <a:avLst>
              <a:gd name="adj" fmla="val 7142"/>
            </a:avLst>
          </a:prstGeom>
          <a:solidFill>
            <a:srgbClr val="E5EBF2"/>
          </a:solidFill>
          <a:ln w="14604">
            <a:solidFill>
              <a:srgbClr val="AAB9C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13897202" y="10126980"/>
            <a:ext cx="4448203" cy="676656"/>
          </a:xfrm>
          <a:prstGeom prst="rect">
            <a:avLst/>
          </a:prstGeom>
          <a:noFill/>
          <a:effectLst/>
        </p:spPr>
        <p:txBody>
          <a:bodyPr wrap="square" lIns="54864" rIns="54864" tIns="18288" bIns="18288" anchor="ctr">
            <a:spAutoFit/>
          </a:bodyPr>
          <a:lstStyle/>
          <a:p>
            <a:pPr algn="ctr">
              <a:spcAft>
                <a:spcPts val="200"/>
              </a:spcAft>
            </a:pPr>
            <a:r>
              <a:rPr sz="1800" b="1">
                <a:solidFill>
                  <a:srgbClr val="142B43"/>
                </a:solidFill>
                <a:latin typeface="Liberation Sans"/>
              </a:rPr>
              <a:t>Dot product</a:t>
            </a:r>
          </a:p>
          <a:p>
            <a:pPr algn="ctr">
              <a:spcAft>
                <a:spcPts val="200"/>
              </a:spcAft>
            </a:pPr>
            <a:r>
              <a:rPr sz="1800" b="1">
                <a:solidFill>
                  <a:srgbClr val="142B43"/>
                </a:solidFill>
                <a:latin typeface="Liberation Sans"/>
              </a:rPr>
              <a:t>User 512 · Candidate 512</a:t>
            </a:r>
          </a:p>
        </p:txBody>
      </p:sp>
      <p:cxnSp>
        <p:nvCxnSpPr>
          <p:cNvPr id="94" name="Connector 93"/>
          <p:cNvCxnSpPr/>
          <p:nvPr/>
        </p:nvCxnSpPr>
        <p:spPr>
          <a:xfrm>
            <a:off x="4586879" y="10465308"/>
            <a:ext cx="684339"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8803291" y="10465308"/>
            <a:ext cx="695375"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a:off x="12975552" y="10465308"/>
            <a:ext cx="883018" cy="0"/>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a:off x="2765654" y="10817352"/>
            <a:ext cx="0" cy="384048"/>
          </a:xfrm>
          <a:prstGeom prst="line">
            <a:avLst/>
          </a:prstGeom>
          <a:ln w="17780">
            <a:solidFill>
              <a:srgbClr val="617286"/>
            </a:solidFill>
          </a:ln>
          <a:effectLst/>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a:off x="2765654" y="11201400"/>
            <a:ext cx="13355650" cy="0"/>
          </a:xfrm>
          <a:prstGeom prst="line">
            <a:avLst/>
          </a:prstGeom>
          <a:ln w="17780">
            <a:solidFill>
              <a:srgbClr val="617286"/>
            </a:solidFill>
          </a:ln>
          <a:effectLst/>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flipV="1">
            <a:off x="16121304" y="10817352"/>
            <a:ext cx="0" cy="384048"/>
          </a:xfrm>
          <a:prstGeom prst="line">
            <a:avLst/>
          </a:prstGeom>
          <a:ln w="17780">
            <a:solidFill>
              <a:srgbClr val="61728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00" name="TextBox 99"/>
          <p:cNvSpPr txBox="1"/>
          <p:nvPr/>
        </p:nvSpPr>
        <p:spPr>
          <a:xfrm>
            <a:off x="5525086" y="10908792"/>
            <a:ext cx="7284900" cy="228600"/>
          </a:xfrm>
          <a:prstGeom prst="rect">
            <a:avLst/>
          </a:prstGeom>
          <a:noFill/>
          <a:effectLst/>
        </p:spPr>
        <p:txBody>
          <a:bodyPr wrap="square" lIns="54864" rIns="54864" tIns="18288" bIns="18288" anchor="ctr">
            <a:spAutoFit/>
          </a:bodyPr>
          <a:lstStyle/>
          <a:p>
            <a:pPr algn="ctr">
              <a:spcAft>
                <a:spcPts val="200"/>
              </a:spcAft>
            </a:pPr>
            <a:r>
              <a:rPr sz="1200" b="0">
                <a:solidFill>
                  <a:srgbClr val="617286"/>
                </a:solidFill>
                <a:latin typeface="Liberation Sans"/>
              </a:rPr>
              <a:t>Candidate video vectors bypass the sequence encoder</a:t>
            </a:r>
          </a:p>
        </p:txBody>
      </p:sp>
      <p:sp>
        <p:nvSpPr>
          <p:cNvPr id="101" name="TextBox 100"/>
          <p:cNvSpPr txBox="1"/>
          <p:nvPr/>
        </p:nvSpPr>
        <p:spPr>
          <a:xfrm>
            <a:off x="594360" y="11521440"/>
            <a:ext cx="18562320" cy="365760"/>
          </a:xfrm>
          <a:prstGeom prst="rect">
            <a:avLst/>
          </a:prstGeom>
          <a:noFill/>
          <a:effectLst/>
        </p:spPr>
        <p:txBody>
          <a:bodyPr wrap="square" lIns="54864" rIns="54864" tIns="18288" bIns="18288" anchor="ctr">
            <a:spAutoFit/>
          </a:bodyPr>
          <a:lstStyle/>
          <a:p>
            <a:pPr algn="l">
              <a:spcAft>
                <a:spcPts val="200"/>
              </a:spcAft>
            </a:pPr>
            <a:r>
              <a:rPr sz="1400">
                <a:solidFill>
                  <a:srgbClr val="62768D"/>
                </a:solidFill>
                <a:latin typeface="Aptos"/>
              </a:rPr>
              <a:t>E / A = entities / actions per scene; S = valid scenes  |  BGE weights shared, inputs embedded separately  |  No-title: 128 zeros</a:t>
            </a:r>
          </a:p>
        </p:txBody>
      </p:sp>
      <p:sp>
        <p:nvSpPr>
          <p:cNvPr id="102" name="Rounded Rectangle 101"/>
          <p:cNvSpPr/>
          <p:nvPr/>
        </p:nvSpPr>
        <p:spPr>
          <a:xfrm>
            <a:off x="4087368" y="2057400"/>
            <a:ext cx="1783080" cy="685800"/>
          </a:xfrm>
          <a:prstGeom prst="roundRect">
            <a:avLst>
              <a:gd name="adj" fmla="val 7333"/>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Title</a:t>
            </a:r>
          </a:p>
        </p:txBody>
      </p:sp>
      <p:sp>
        <p:nvSpPr>
          <p:cNvPr id="103" name="Rounded Rectangle 102"/>
          <p:cNvSpPr/>
          <p:nvPr/>
        </p:nvSpPr>
        <p:spPr>
          <a:xfrm>
            <a:off x="4087368" y="3291840"/>
            <a:ext cx="1783080" cy="731520"/>
          </a:xfrm>
          <a:prstGeom prst="roundRect">
            <a:avLst>
              <a:gd name="adj" fmla="val 6875"/>
            </a:avLst>
          </a:prstGeom>
          <a:solidFill>
            <a:srgbClr val="EFF3F7"/>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BGE [frozen]</a:t>
            </a:r>
          </a:p>
          <a:p>
            <a:pPr algn="ctr"/>
            <a:r>
              <a:rPr sz="1700">
                <a:solidFill>
                  <a:srgbClr val="19324F"/>
                </a:solidFill>
                <a:latin typeface="Aptos"/>
              </a:rPr>
              <a:t>1,024</a:t>
            </a:r>
          </a:p>
        </p:txBody>
      </p:sp>
      <p:sp>
        <p:nvSpPr>
          <p:cNvPr id="104" name="Rounded Rectangle 103"/>
          <p:cNvSpPr/>
          <p:nvPr/>
        </p:nvSpPr>
        <p:spPr>
          <a:xfrm>
            <a:off x="4087368" y="4617720"/>
            <a:ext cx="1783080" cy="731520"/>
          </a:xfrm>
          <a:prstGeom prst="roundRect">
            <a:avLst>
              <a:gd name="adj" fmla="val 6875"/>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Linear projection</a:t>
            </a:r>
          </a:p>
          <a:p>
            <a:pPr algn="ctr"/>
            <a:r>
              <a:rPr sz="1600">
                <a:solidFill>
                  <a:srgbClr val="19324F"/>
                </a:solidFill>
                <a:latin typeface="Aptos"/>
              </a:rPr>
              <a:t>1,024 → 128</a:t>
            </a:r>
          </a:p>
        </p:txBody>
      </p:sp>
      <p:cxnSp>
        <p:nvCxnSpPr>
          <p:cNvPr id="105" name="Connector 104"/>
          <p:cNvCxnSpPr/>
          <p:nvPr/>
        </p:nvCxnSpPr>
        <p:spPr>
          <a:xfrm>
            <a:off x="4978907" y="2743200"/>
            <a:ext cx="0" cy="54864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6" name="Connector 105"/>
          <p:cNvCxnSpPr/>
          <p:nvPr/>
        </p:nvCxnSpPr>
        <p:spPr>
          <a:xfrm>
            <a:off x="4978907" y="4023360"/>
            <a:ext cx="0" cy="59436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7" name="Connector 106"/>
          <p:cNvCxnSpPr/>
          <p:nvPr/>
        </p:nvCxnSpPr>
        <p:spPr>
          <a:xfrm>
            <a:off x="4978907" y="5349240"/>
            <a:ext cx="0" cy="169164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a:off x="4978907" y="7040880"/>
            <a:ext cx="1005841" cy="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sp>
        <p:nvSpPr>
          <p:cNvPr id="109" name="Rounded Rectangle 108"/>
          <p:cNvSpPr/>
          <p:nvPr/>
        </p:nvSpPr>
        <p:spPr>
          <a:xfrm>
            <a:off x="6053328" y="2057400"/>
            <a:ext cx="1783080" cy="685800"/>
          </a:xfrm>
          <a:prstGeom prst="roundRect">
            <a:avLst>
              <a:gd name="adj" fmla="val 7333"/>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Video Summary</a:t>
            </a:r>
          </a:p>
        </p:txBody>
      </p:sp>
      <p:sp>
        <p:nvSpPr>
          <p:cNvPr id="110" name="Rounded Rectangle 109"/>
          <p:cNvSpPr/>
          <p:nvPr/>
        </p:nvSpPr>
        <p:spPr>
          <a:xfrm>
            <a:off x="6053328" y="3291840"/>
            <a:ext cx="1783080" cy="731520"/>
          </a:xfrm>
          <a:prstGeom prst="roundRect">
            <a:avLst>
              <a:gd name="adj" fmla="val 6875"/>
            </a:avLst>
          </a:prstGeom>
          <a:solidFill>
            <a:srgbClr val="EFF3F7"/>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BGE [frozen]</a:t>
            </a:r>
          </a:p>
          <a:p>
            <a:pPr algn="ctr"/>
            <a:r>
              <a:rPr sz="1700">
                <a:solidFill>
                  <a:srgbClr val="19324F"/>
                </a:solidFill>
                <a:latin typeface="Aptos"/>
              </a:rPr>
              <a:t>1,024</a:t>
            </a:r>
          </a:p>
        </p:txBody>
      </p:sp>
      <p:sp>
        <p:nvSpPr>
          <p:cNvPr id="111" name="Rounded Rectangle 110"/>
          <p:cNvSpPr/>
          <p:nvPr/>
        </p:nvSpPr>
        <p:spPr>
          <a:xfrm>
            <a:off x="6053328" y="4617720"/>
            <a:ext cx="1783080" cy="731520"/>
          </a:xfrm>
          <a:prstGeom prst="roundRect">
            <a:avLst>
              <a:gd name="adj" fmla="val 6875"/>
            </a:avLst>
          </a:prstGeom>
          <a:solidFill>
            <a:srgbClr val="FFFF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Linear projection</a:t>
            </a:r>
          </a:p>
          <a:p>
            <a:pPr algn="ctr"/>
            <a:r>
              <a:rPr sz="1600">
                <a:solidFill>
                  <a:srgbClr val="19324F"/>
                </a:solidFill>
                <a:latin typeface="Aptos"/>
              </a:rPr>
              <a:t>1,024 → 384</a:t>
            </a:r>
          </a:p>
        </p:txBody>
      </p:sp>
      <p:cxnSp>
        <p:nvCxnSpPr>
          <p:cNvPr id="112" name="Connector 111"/>
          <p:cNvCxnSpPr/>
          <p:nvPr/>
        </p:nvCxnSpPr>
        <p:spPr>
          <a:xfrm>
            <a:off x="6944868" y="2743200"/>
            <a:ext cx="0" cy="54864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13" name="Connector 112"/>
          <p:cNvCxnSpPr/>
          <p:nvPr/>
        </p:nvCxnSpPr>
        <p:spPr>
          <a:xfrm>
            <a:off x="6944868" y="4023360"/>
            <a:ext cx="0" cy="59436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a:off x="6944868" y="5349240"/>
            <a:ext cx="0" cy="169164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15" name="Connector 114"/>
          <p:cNvCxnSpPr/>
          <p:nvPr/>
        </p:nvCxnSpPr>
        <p:spPr>
          <a:xfrm flipH="1">
            <a:off x="5984748" y="7040880"/>
            <a:ext cx="960120" cy="0"/>
          </a:xfrm>
          <a:prstGeom prst="line">
            <a:avLst/>
          </a:prstGeom>
          <a:ln w="15875">
            <a:solidFill>
              <a:srgbClr val="2465C4"/>
            </a:solidFill>
          </a:ln>
          <a:effectLst/>
        </p:spPr>
        <p:style>
          <a:lnRef idx="2">
            <a:schemeClr val="accent1"/>
          </a:lnRef>
          <a:fillRef idx="0">
            <a:schemeClr val="accent1"/>
          </a:fillRef>
          <a:effectRef idx="0">
            <a:schemeClr val="accent1"/>
          </a:effectRef>
          <a:fontRef idx="minor">
            <a:schemeClr val="tx1"/>
          </a:fontRef>
        </p:style>
      </p:cxnSp>
      <p:cxnSp>
        <p:nvCxnSpPr>
          <p:cNvPr id="116" name="Connector 115"/>
          <p:cNvCxnSpPr/>
          <p:nvPr/>
        </p:nvCxnSpPr>
        <p:spPr>
          <a:xfrm>
            <a:off x="5984748" y="7040880"/>
            <a:ext cx="0" cy="749808"/>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17" name="Rounded Rectangle 116"/>
          <p:cNvSpPr/>
          <p:nvPr/>
        </p:nvSpPr>
        <p:spPr>
          <a:xfrm>
            <a:off x="4087368" y="7790688"/>
            <a:ext cx="3794760" cy="585216"/>
          </a:xfrm>
          <a:prstGeom prst="roundRect">
            <a:avLst>
              <a:gd name="adj" fmla="val 7857"/>
            </a:avLst>
          </a:prstGeom>
          <a:solidFill>
            <a:srgbClr val="E7F0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Concat: [Title 128; Video 384]</a:t>
            </a:r>
          </a:p>
          <a:p>
            <a:pPr algn="ctr"/>
            <a:r>
              <a:rPr sz="1600">
                <a:solidFill>
                  <a:srgbClr val="19324F"/>
                </a:solidFill>
                <a:latin typeface="Aptos"/>
              </a:rPr>
              <a:t>512</a:t>
            </a:r>
          </a:p>
        </p:txBody>
      </p:sp>
      <p:sp>
        <p:nvSpPr>
          <p:cNvPr id="119" name="Rounded Rectangle 118"/>
          <p:cNvSpPr/>
          <p:nvPr/>
        </p:nvSpPr>
        <p:spPr>
          <a:xfrm>
            <a:off x="886968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Title</a:t>
            </a:r>
          </a:p>
        </p:txBody>
      </p:sp>
      <p:sp>
        <p:nvSpPr>
          <p:cNvPr id="120" name="Rounded Rectangle 119"/>
          <p:cNvSpPr/>
          <p:nvPr/>
        </p:nvSpPr>
        <p:spPr>
          <a:xfrm>
            <a:off x="886968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1,024</a:t>
            </a:r>
          </a:p>
        </p:txBody>
      </p:sp>
      <p:cxnSp>
        <p:nvCxnSpPr>
          <p:cNvPr id="121" name="Connector 120"/>
          <p:cNvCxnSpPr/>
          <p:nvPr/>
        </p:nvCxnSpPr>
        <p:spPr>
          <a:xfrm>
            <a:off x="1001268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a:off x="1001268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23" name="Rounded Rectangle 122"/>
          <p:cNvSpPr/>
          <p:nvPr/>
        </p:nvSpPr>
        <p:spPr>
          <a:xfrm>
            <a:off x="1143000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Entities</a:t>
            </a:r>
          </a:p>
        </p:txBody>
      </p:sp>
      <p:sp>
        <p:nvSpPr>
          <p:cNvPr id="124" name="Rounded Rectangle 123"/>
          <p:cNvSpPr/>
          <p:nvPr/>
        </p:nvSpPr>
        <p:spPr>
          <a:xfrm>
            <a:off x="1143000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E × 1,024</a:t>
            </a:r>
          </a:p>
        </p:txBody>
      </p:sp>
      <p:cxnSp>
        <p:nvCxnSpPr>
          <p:cNvPr id="125" name="Connector 124"/>
          <p:cNvCxnSpPr/>
          <p:nvPr/>
        </p:nvCxnSpPr>
        <p:spPr>
          <a:xfrm>
            <a:off x="1257300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26" name="Connector 125"/>
          <p:cNvCxnSpPr/>
          <p:nvPr/>
        </p:nvCxnSpPr>
        <p:spPr>
          <a:xfrm>
            <a:off x="1257300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27" name="Rounded Rectangle 126"/>
          <p:cNvSpPr/>
          <p:nvPr/>
        </p:nvSpPr>
        <p:spPr>
          <a:xfrm>
            <a:off x="1399032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Actions</a:t>
            </a:r>
          </a:p>
        </p:txBody>
      </p:sp>
      <p:sp>
        <p:nvSpPr>
          <p:cNvPr id="128" name="Rounded Rectangle 127"/>
          <p:cNvSpPr/>
          <p:nvPr/>
        </p:nvSpPr>
        <p:spPr>
          <a:xfrm>
            <a:off x="1399032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A × 1,024</a:t>
            </a:r>
          </a:p>
        </p:txBody>
      </p:sp>
      <p:cxnSp>
        <p:nvCxnSpPr>
          <p:cNvPr id="129" name="Connector 128"/>
          <p:cNvCxnSpPr/>
          <p:nvPr/>
        </p:nvCxnSpPr>
        <p:spPr>
          <a:xfrm>
            <a:off x="1513332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30" name="Connector 129"/>
          <p:cNvCxnSpPr/>
          <p:nvPr/>
        </p:nvCxnSpPr>
        <p:spPr>
          <a:xfrm>
            <a:off x="1513332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1" name="Rounded Rectangle 130"/>
          <p:cNvSpPr/>
          <p:nvPr/>
        </p:nvSpPr>
        <p:spPr>
          <a:xfrm>
            <a:off x="16550640" y="201168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Context</a:t>
            </a:r>
          </a:p>
        </p:txBody>
      </p:sp>
      <p:sp>
        <p:nvSpPr>
          <p:cNvPr id="132" name="Rounded Rectangle 131"/>
          <p:cNvSpPr/>
          <p:nvPr/>
        </p:nvSpPr>
        <p:spPr>
          <a:xfrm>
            <a:off x="16550640" y="2724912"/>
            <a:ext cx="2286000" cy="585216"/>
          </a:xfrm>
          <a:prstGeom prst="roundRect">
            <a:avLst>
              <a:gd name="adj" fmla="val 8593"/>
            </a:avLst>
          </a:prstGeom>
          <a:solidFill>
            <a:srgbClr val="EFF3F7"/>
          </a:solidFill>
          <a:ln w="14604">
            <a:solidFill>
              <a:srgbClr val="A7B8CA"/>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BGE [frozen]</a:t>
            </a:r>
          </a:p>
          <a:p>
            <a:pPr algn="ctr"/>
            <a:r>
              <a:rPr sz="1800">
                <a:solidFill>
                  <a:srgbClr val="19324F"/>
                </a:solidFill>
                <a:latin typeface="Aptos"/>
              </a:rPr>
              <a:t>1,024</a:t>
            </a:r>
          </a:p>
        </p:txBody>
      </p:sp>
      <p:cxnSp>
        <p:nvCxnSpPr>
          <p:cNvPr id="133" name="Connector 132"/>
          <p:cNvCxnSpPr/>
          <p:nvPr/>
        </p:nvCxnSpPr>
        <p:spPr>
          <a:xfrm>
            <a:off x="17693640" y="2514600"/>
            <a:ext cx="0" cy="210312"/>
          </a:xfrm>
          <a:prstGeom prst="line">
            <a:avLst/>
          </a:prstGeom>
          <a:ln w="15875">
            <a:solidFill>
              <a:srgbClr val="718393"/>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34" name="Connector 133"/>
          <p:cNvCxnSpPr/>
          <p:nvPr/>
        </p:nvCxnSpPr>
        <p:spPr>
          <a:xfrm>
            <a:off x="17693640" y="3310128"/>
            <a:ext cx="0" cy="22860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35" name="Rounded Rectangle 134"/>
          <p:cNvSpPr/>
          <p:nvPr/>
        </p:nvSpPr>
        <p:spPr>
          <a:xfrm>
            <a:off x="8869680" y="3538728"/>
            <a:ext cx="2286000" cy="667512"/>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Linear Projection</a:t>
            </a:r>
          </a:p>
          <a:p>
            <a:pPr algn="ctr"/>
            <a:r>
              <a:rPr sz="1800">
                <a:solidFill>
                  <a:srgbClr val="19324F"/>
                </a:solidFill>
                <a:latin typeface="Aptos"/>
              </a:rPr>
              <a:t>1,024 → 128</a:t>
            </a:r>
          </a:p>
        </p:txBody>
      </p:sp>
      <p:sp>
        <p:nvSpPr>
          <p:cNvPr id="138" name="Rounded Rectangle 137"/>
          <p:cNvSpPr/>
          <p:nvPr/>
        </p:nvSpPr>
        <p:spPr>
          <a:xfrm>
            <a:off x="11430000" y="3538728"/>
            <a:ext cx="7406640" cy="667512"/>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Shared Linear Projection: 1,024 → 128</a:t>
            </a:r>
          </a:p>
          <a:p>
            <a:pPr algn="ctr"/>
            <a:r>
              <a:rPr sz="1500">
                <a:solidFill>
                  <a:srgbClr val="19324F"/>
                </a:solidFill>
                <a:latin typeface="Aptos"/>
              </a:rPr>
              <a:t>Same weights; applied separately to Entities / Actions / Context</a:t>
            </a:r>
          </a:p>
        </p:txBody>
      </p:sp>
      <p:sp>
        <p:nvSpPr>
          <p:cNvPr id="140" name="Rounded Rectangle 139"/>
          <p:cNvSpPr/>
          <p:nvPr/>
        </p:nvSpPr>
        <p:spPr>
          <a:xfrm>
            <a:off x="11430000" y="4882896"/>
            <a:ext cx="4846320" cy="384048"/>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Role Graph Encoder · 1 layer · hidden 128</a:t>
            </a:r>
          </a:p>
        </p:txBody>
      </p:sp>
      <p:sp>
        <p:nvSpPr>
          <p:cNvPr id="142" name="Rounded Rectangle 141"/>
          <p:cNvSpPr/>
          <p:nvPr/>
        </p:nvSpPr>
        <p:spPr>
          <a:xfrm>
            <a:off x="11430000" y="539496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Entity mean: 128</a:t>
            </a:r>
          </a:p>
        </p:txBody>
      </p:sp>
      <p:cxnSp>
        <p:nvCxnSpPr>
          <p:cNvPr id="143" name="Connector 142"/>
          <p:cNvCxnSpPr/>
          <p:nvPr/>
        </p:nvCxnSpPr>
        <p:spPr>
          <a:xfrm>
            <a:off x="12573000" y="5266944"/>
            <a:ext cx="0" cy="12801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44" name="Connector 143"/>
          <p:cNvCxnSpPr/>
          <p:nvPr/>
        </p:nvCxnSpPr>
        <p:spPr>
          <a:xfrm>
            <a:off x="12573000" y="5897880"/>
            <a:ext cx="0" cy="15544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sp>
        <p:nvSpPr>
          <p:cNvPr id="145" name="Rounded Rectangle 144"/>
          <p:cNvSpPr/>
          <p:nvPr/>
        </p:nvSpPr>
        <p:spPr>
          <a:xfrm>
            <a:off x="13990320" y="5394960"/>
            <a:ext cx="2286000" cy="502920"/>
          </a:xfrm>
          <a:prstGeom prst="roundRect">
            <a:avLst>
              <a:gd name="adj" fmla="val 10000"/>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Action mean: 128</a:t>
            </a:r>
          </a:p>
        </p:txBody>
      </p:sp>
      <p:cxnSp>
        <p:nvCxnSpPr>
          <p:cNvPr id="146" name="Connector 145"/>
          <p:cNvCxnSpPr/>
          <p:nvPr/>
        </p:nvCxnSpPr>
        <p:spPr>
          <a:xfrm>
            <a:off x="15133320" y="5266944"/>
            <a:ext cx="0" cy="12801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47" name="Connector 146"/>
          <p:cNvCxnSpPr/>
          <p:nvPr/>
        </p:nvCxnSpPr>
        <p:spPr>
          <a:xfrm>
            <a:off x="15133320" y="5897880"/>
            <a:ext cx="0" cy="15544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48" name="Connector 147"/>
          <p:cNvCxnSpPr/>
          <p:nvPr/>
        </p:nvCxnSpPr>
        <p:spPr>
          <a:xfrm>
            <a:off x="17693640" y="4206240"/>
            <a:ext cx="0" cy="1847088"/>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a:off x="12573000" y="6053328"/>
            <a:ext cx="5120640" cy="0"/>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0" name="Connector 149"/>
          <p:cNvCxnSpPr/>
          <p:nvPr/>
        </p:nvCxnSpPr>
        <p:spPr>
          <a:xfrm>
            <a:off x="15133320" y="6053328"/>
            <a:ext cx="0" cy="164592"/>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1" name="Rounded Rectangle 150"/>
          <p:cNvSpPr/>
          <p:nvPr/>
        </p:nvSpPr>
        <p:spPr>
          <a:xfrm>
            <a:off x="11430000" y="6217920"/>
            <a:ext cx="7406640" cy="521207"/>
          </a:xfrm>
          <a:prstGeom prst="roundRect">
            <a:avLst>
              <a:gd name="adj" fmla="val 9649"/>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Concat: 384  [Entity; Action; Context]</a:t>
            </a:r>
          </a:p>
        </p:txBody>
      </p:sp>
      <p:cxnSp>
        <p:nvCxnSpPr>
          <p:cNvPr id="152" name="Connector 151"/>
          <p:cNvCxnSpPr/>
          <p:nvPr/>
        </p:nvCxnSpPr>
        <p:spPr>
          <a:xfrm>
            <a:off x="15133320" y="6739128"/>
            <a:ext cx="0" cy="219456"/>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3" name="Rounded Rectangle 152"/>
          <p:cNvSpPr/>
          <p:nvPr/>
        </p:nvSpPr>
        <p:spPr>
          <a:xfrm>
            <a:off x="11430000" y="6958584"/>
            <a:ext cx="7406640" cy="521207"/>
          </a:xfrm>
          <a:prstGeom prst="roundRect">
            <a:avLst>
              <a:gd name="adj" fmla="val 9649"/>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700">
                <a:solidFill>
                  <a:srgbClr val="19324F"/>
                </a:solidFill>
                <a:latin typeface="Aptos"/>
              </a:rPr>
              <a:t>Scene pooling: mean / attention  •  S × 384 → 384</a:t>
            </a:r>
          </a:p>
        </p:txBody>
      </p:sp>
      <p:cxnSp>
        <p:nvCxnSpPr>
          <p:cNvPr id="155" name="Connector 154"/>
          <p:cNvCxnSpPr/>
          <p:nvPr/>
        </p:nvCxnSpPr>
        <p:spPr>
          <a:xfrm>
            <a:off x="15133320" y="7479792"/>
            <a:ext cx="0" cy="146304"/>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6" name="Connector 155"/>
          <p:cNvCxnSpPr/>
          <p:nvPr/>
        </p:nvCxnSpPr>
        <p:spPr>
          <a:xfrm>
            <a:off x="10012680" y="7626096"/>
            <a:ext cx="5120640" cy="0"/>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57" name="Connector 156"/>
          <p:cNvCxnSpPr/>
          <p:nvPr/>
        </p:nvCxnSpPr>
        <p:spPr>
          <a:xfrm>
            <a:off x="13853160" y="7626096"/>
            <a:ext cx="0" cy="164592"/>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8" name="Rounded Rectangle 157"/>
          <p:cNvSpPr/>
          <p:nvPr/>
        </p:nvSpPr>
        <p:spPr>
          <a:xfrm>
            <a:off x="8869680" y="7790688"/>
            <a:ext cx="9966960" cy="585216"/>
          </a:xfrm>
          <a:prstGeom prst="roundRect">
            <a:avLst>
              <a:gd name="adj" fmla="val 8593"/>
            </a:avLst>
          </a:prstGeom>
          <a:solidFill>
            <a:srgbClr val="DFF2E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800">
                <a:solidFill>
                  <a:srgbClr val="19324F"/>
                </a:solidFill>
                <a:latin typeface="Aptos"/>
              </a:rPr>
              <a:t>Concat: [Title 128; Video 384] = 512</a:t>
            </a:r>
          </a:p>
        </p:txBody>
      </p:sp>
      <p:cxnSp>
        <p:nvCxnSpPr>
          <p:cNvPr id="159" name="Connector 158"/>
          <p:cNvCxnSpPr/>
          <p:nvPr/>
        </p:nvCxnSpPr>
        <p:spPr>
          <a:xfrm>
            <a:off x="10012680" y="4206240"/>
            <a:ext cx="0" cy="3419856"/>
          </a:xfrm>
          <a:prstGeom prst="line">
            <a:avLst/>
          </a:prstGeom>
          <a:ln w="15875">
            <a:solidFill>
              <a:srgbClr val="008B91"/>
            </a:solidFill>
          </a:ln>
          <a:effectLst/>
        </p:spPr>
        <p:style>
          <a:lnRef idx="2">
            <a:schemeClr val="accent1"/>
          </a:lnRef>
          <a:fillRef idx="0">
            <a:schemeClr val="accent1"/>
          </a:fillRef>
          <a:effectRef idx="0">
            <a:schemeClr val="accent1"/>
          </a:effectRef>
          <a:fontRef idx="minor">
            <a:schemeClr val="tx1"/>
          </a:fontRef>
        </p:style>
      </p:cxnSp>
      <p:cxnSp>
        <p:nvCxnSpPr>
          <p:cNvPr id="160" name="Connector 159"/>
          <p:cNvCxnSpPr/>
          <p:nvPr/>
        </p:nvCxnSpPr>
        <p:spPr>
          <a:xfrm>
            <a:off x="5984748" y="8375904"/>
            <a:ext cx="0" cy="146304"/>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1" name="Rounded Rectangle 160"/>
          <p:cNvSpPr/>
          <p:nvPr/>
        </p:nvSpPr>
        <p:spPr>
          <a:xfrm>
            <a:off x="4087368" y="8522208"/>
            <a:ext cx="3794760" cy="457200"/>
          </a:xfrm>
          <a:prstGeom prst="roundRect">
            <a:avLst>
              <a:gd name="adj" fmla="val 11000"/>
            </a:avLst>
          </a:prstGeom>
          <a:solidFill>
            <a:srgbClr val="E7F0FF"/>
          </a:solidFill>
          <a:ln w="14604">
            <a:solidFill>
              <a:srgbClr val="2465C4"/>
            </a:solidFill>
          </a:ln>
          <a:effectLst/>
        </p:spPr>
        <p:style>
          <a:lnRef idx="1">
            <a:schemeClr val="accent1"/>
          </a:lnRef>
          <a:fillRef idx="3">
            <a:schemeClr val="accent1"/>
          </a:fillRef>
          <a:effectRef idx="0">
            <a:schemeClr val="accent1"/>
          </a:effectRef>
          <a:fontRef idx="minor">
            <a:schemeClr val="lt1"/>
          </a:fontRef>
        </p:style>
        <p:txBody>
          <a:bodyPr rtlCol="0" anchor="ctr" tIns="27432" bIns="27432"/>
          <a:lstStyle/>
          <a:p>
            <a:pPr algn="ctr"/>
            <a:r>
              <a:rPr sz="1800">
                <a:solidFill>
                  <a:srgbClr val="19324F"/>
                </a:solidFill>
                <a:latin typeface="Aptos"/>
              </a:rPr>
              <a:t>LayerNorm: 512</a:t>
            </a:r>
          </a:p>
        </p:txBody>
      </p:sp>
      <p:cxnSp>
        <p:nvCxnSpPr>
          <p:cNvPr id="162" name="Connector 161"/>
          <p:cNvCxnSpPr/>
          <p:nvPr/>
        </p:nvCxnSpPr>
        <p:spPr>
          <a:xfrm>
            <a:off x="5984748" y="8979408"/>
            <a:ext cx="0" cy="502920"/>
          </a:xfrm>
          <a:prstGeom prst="line">
            <a:avLst/>
          </a:prstGeom>
          <a:ln w="15875">
            <a:solidFill>
              <a:srgbClr val="2465C4"/>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63" name="Connector 162"/>
          <p:cNvCxnSpPr/>
          <p:nvPr/>
        </p:nvCxnSpPr>
        <p:spPr>
          <a:xfrm>
            <a:off x="13853160" y="8375904"/>
            <a:ext cx="0" cy="146304"/>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4" name="Rounded Rectangle 163"/>
          <p:cNvSpPr/>
          <p:nvPr/>
        </p:nvSpPr>
        <p:spPr>
          <a:xfrm>
            <a:off x="8869680" y="8522208"/>
            <a:ext cx="9966960" cy="457200"/>
          </a:xfrm>
          <a:prstGeom prst="roundRect">
            <a:avLst>
              <a:gd name="adj" fmla="val 11000"/>
            </a:avLst>
          </a:prstGeom>
          <a:solidFill>
            <a:srgbClr val="DFF2E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tIns="27432" bIns="27432"/>
          <a:lstStyle/>
          <a:p>
            <a:pPr algn="ctr"/>
            <a:r>
              <a:rPr sz="1800">
                <a:solidFill>
                  <a:srgbClr val="19324F"/>
                </a:solidFill>
                <a:latin typeface="Aptos"/>
              </a:rPr>
              <a:t>LayerNorm: 512</a:t>
            </a:r>
          </a:p>
        </p:txBody>
      </p:sp>
      <p:cxnSp>
        <p:nvCxnSpPr>
          <p:cNvPr id="165" name="Connector 164"/>
          <p:cNvCxnSpPr/>
          <p:nvPr/>
        </p:nvCxnSpPr>
        <p:spPr>
          <a:xfrm>
            <a:off x="13853160" y="8979408"/>
            <a:ext cx="0" cy="50292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6" name="Rounded Rectangle 165"/>
          <p:cNvSpPr/>
          <p:nvPr/>
        </p:nvSpPr>
        <p:spPr>
          <a:xfrm>
            <a:off x="502920" y="1298448"/>
            <a:ext cx="2926080" cy="7973568"/>
          </a:xfrm>
          <a:prstGeom prst="roundRect">
            <a:avLst>
              <a:gd name="adj" fmla="val 4687"/>
            </a:avLst>
          </a:prstGeom>
          <a:solidFill>
            <a:srgbClr val="F5F6F7"/>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
            </a:r>
          </a:p>
        </p:txBody>
      </p:sp>
      <p:sp>
        <p:nvSpPr>
          <p:cNvPr id="167" name="TextBox 166"/>
          <p:cNvSpPr txBox="1"/>
          <p:nvPr/>
        </p:nvSpPr>
        <p:spPr>
          <a:xfrm>
            <a:off x="731520" y="1444752"/>
            <a:ext cx="2560320" cy="365760"/>
          </a:xfrm>
          <a:prstGeom prst="rect">
            <a:avLst/>
          </a:prstGeom>
          <a:noFill/>
        </p:spPr>
        <p:txBody>
          <a:bodyPr wrap="none" lIns="0" tIns="0">
            <a:spAutoFit/>
          </a:bodyPr>
          <a:lstStyle/>
          <a:p>
            <a:r>
              <a:rPr sz="2400" b="1">
                <a:solidFill>
                  <a:srgbClr val="626C78"/>
                </a:solidFill>
                <a:latin typeface="Aptos"/>
              </a:rPr>
              <a:t>Baseline</a:t>
            </a:r>
          </a:p>
        </p:txBody>
      </p:sp>
      <p:sp>
        <p:nvSpPr>
          <p:cNvPr id="168" name="Rounded Rectangle 167"/>
          <p:cNvSpPr/>
          <p:nvPr/>
        </p:nvSpPr>
        <p:spPr>
          <a:xfrm>
            <a:off x="822960" y="2057400"/>
            <a:ext cx="2286000" cy="685800"/>
          </a:xfrm>
          <a:prstGeom prst="roundRect">
            <a:avLst>
              <a:gd name="adj" fmla="val 7333"/>
            </a:avLst>
          </a:prstGeom>
          <a:solidFill>
            <a:srgbClr val="FFFFF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Title</a:t>
            </a:r>
          </a:p>
        </p:txBody>
      </p:sp>
      <p:sp>
        <p:nvSpPr>
          <p:cNvPr id="169" name="Rounded Rectangle 168"/>
          <p:cNvSpPr/>
          <p:nvPr/>
        </p:nvSpPr>
        <p:spPr>
          <a:xfrm>
            <a:off x="822960" y="3291840"/>
            <a:ext cx="2286000" cy="731520"/>
          </a:xfrm>
          <a:prstGeom prst="roundRect">
            <a:avLst>
              <a:gd name="adj" fmla="val 6874"/>
            </a:avLst>
          </a:prstGeom>
          <a:solidFill>
            <a:srgbClr val="EEF0F2"/>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BGE [frozen]</a:t>
            </a:r>
          </a:p>
          <a:p>
            <a:pPr algn="ctr"/>
            <a:r>
              <a:rPr sz="1800">
                <a:solidFill>
                  <a:srgbClr val="19324F"/>
                </a:solidFill>
                <a:latin typeface="Aptos"/>
              </a:rPr>
              <a:t>1,024</a:t>
            </a:r>
          </a:p>
        </p:txBody>
      </p:sp>
      <p:sp>
        <p:nvSpPr>
          <p:cNvPr id="170" name="Rounded Rectangle 169"/>
          <p:cNvSpPr/>
          <p:nvPr/>
        </p:nvSpPr>
        <p:spPr>
          <a:xfrm>
            <a:off x="822960" y="4617720"/>
            <a:ext cx="2286000" cy="731520"/>
          </a:xfrm>
          <a:prstGeom prst="roundRect">
            <a:avLst>
              <a:gd name="adj" fmla="val 6874"/>
            </a:avLst>
          </a:prstGeom>
          <a:solidFill>
            <a:srgbClr val="FFFFF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Linear projection</a:t>
            </a:r>
          </a:p>
          <a:p>
            <a:pPr algn="ctr"/>
            <a:r>
              <a:rPr sz="1800">
                <a:solidFill>
                  <a:srgbClr val="19324F"/>
                </a:solidFill>
                <a:latin typeface="Aptos"/>
              </a:rPr>
              <a:t>1,024 → 512</a:t>
            </a:r>
          </a:p>
        </p:txBody>
      </p:sp>
      <p:sp>
        <p:nvSpPr>
          <p:cNvPr id="171" name="Rounded Rectangle 170"/>
          <p:cNvSpPr/>
          <p:nvPr/>
        </p:nvSpPr>
        <p:spPr>
          <a:xfrm>
            <a:off x="822960" y="8522208"/>
            <a:ext cx="2286000" cy="457200"/>
          </a:xfrm>
          <a:prstGeom prst="roundRect">
            <a:avLst>
              <a:gd name="adj" fmla="val 11000"/>
            </a:avLst>
          </a:prstGeom>
          <a:solidFill>
            <a:srgbClr val="E9ECEF"/>
          </a:solidFill>
          <a:ln w="14604">
            <a:solidFill>
              <a:srgbClr val="AAB1B9"/>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r>
              <a:rPr sz="1800">
                <a:solidFill>
                  <a:srgbClr val="19324F"/>
                </a:solidFill>
                <a:latin typeface="Aptos"/>
              </a:rPr>
              <a:t>LayerNorm: 512</a:t>
            </a:r>
          </a:p>
        </p:txBody>
      </p:sp>
      <p:cxnSp>
        <p:nvCxnSpPr>
          <p:cNvPr id="172" name="Connector 171"/>
          <p:cNvCxnSpPr/>
          <p:nvPr/>
        </p:nvCxnSpPr>
        <p:spPr>
          <a:xfrm>
            <a:off x="1965960" y="2743200"/>
            <a:ext cx="0" cy="54864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3" name="Connector 172"/>
          <p:cNvCxnSpPr/>
          <p:nvPr/>
        </p:nvCxnSpPr>
        <p:spPr>
          <a:xfrm>
            <a:off x="1965960" y="4023360"/>
            <a:ext cx="0" cy="59436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4" name="Connector 173"/>
          <p:cNvCxnSpPr/>
          <p:nvPr/>
        </p:nvCxnSpPr>
        <p:spPr>
          <a:xfrm>
            <a:off x="1965960" y="5349240"/>
            <a:ext cx="0" cy="3172968"/>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5" name="Connector 174"/>
          <p:cNvCxnSpPr/>
          <p:nvPr/>
        </p:nvCxnSpPr>
        <p:spPr>
          <a:xfrm>
            <a:off x="1965960" y="8979408"/>
            <a:ext cx="0" cy="502920"/>
          </a:xfrm>
          <a:prstGeom prst="line">
            <a:avLst/>
          </a:prstGeom>
          <a:ln w="15875">
            <a:solidFill>
              <a:srgbClr val="7F8995"/>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6" name="Shared projection branch"/>
          <p:cNvSpPr/>
          <p:nvPr/>
        </p:nvSpPr>
        <p:spPr>
          <a:xfrm>
            <a:off x="11430000" y="4343400"/>
            <a:ext cx="4846320" cy="384048"/>
          </a:xfrm>
          <a:prstGeom prst="roundRect">
            <a:avLst>
              <a:gd name="adj" fmla="val 7534"/>
            </a:avLst>
          </a:prstGeom>
          <a:solidFill>
            <a:srgbClr val="FFFFFF"/>
          </a:solidFill>
          <a:ln w="14604">
            <a:solidFill>
              <a:srgbClr val="008B91"/>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27432" bIns="27432"/>
          <a:lstStyle/>
          <a:p>
            <a:pPr algn="ctr"/>
            <a:r>
              <a:rPr sz="1600">
                <a:solidFill>
                  <a:srgbClr val="19324F"/>
                </a:solidFill>
                <a:latin typeface="Aptos"/>
              </a:rPr>
              <a:t>Entity / action node-type embedding</a:t>
            </a:r>
          </a:p>
        </p:txBody>
      </p:sp>
      <p:cxnSp>
        <p:nvCxnSpPr>
          <p:cNvPr id="177" name="Shared projection branch"/>
          <p:cNvCxnSpPr/>
          <p:nvPr/>
        </p:nvCxnSpPr>
        <p:spPr>
          <a:xfrm>
            <a:off x="12573000" y="4206240"/>
            <a:ext cx="0" cy="13716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8" name="Shared projection branch"/>
          <p:cNvCxnSpPr/>
          <p:nvPr/>
        </p:nvCxnSpPr>
        <p:spPr>
          <a:xfrm>
            <a:off x="15133320" y="4206240"/>
            <a:ext cx="0" cy="137160"/>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9" name="Shared projection branch"/>
          <p:cNvCxnSpPr/>
          <p:nvPr/>
        </p:nvCxnSpPr>
        <p:spPr>
          <a:xfrm>
            <a:off x="13853160" y="4727448"/>
            <a:ext cx="0" cy="155448"/>
          </a:xfrm>
          <a:prstGeom prst="line">
            <a:avLst/>
          </a:prstGeom>
          <a:ln w="15875">
            <a:solidFill>
              <a:srgbClr val="008B91"/>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