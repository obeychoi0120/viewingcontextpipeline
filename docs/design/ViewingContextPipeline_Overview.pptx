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3584cb18a940d1" /><Relationship Type="http://schemas.openxmlformats.org/officeDocument/2006/relationships/extended-properties" Target="/docProps/app.xml" Id="R7b18003a191142ca" /><Relationship Type="http://schemas.openxmlformats.org/officeDocument/2006/relationships/officeDocument" Target="/ppt/presentation.xml" Id="Rd3d03bf1bcb1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c72ec879684472"/>
  </p:sldMasterIdLst>
  <p:notesMasterIdLst>
    <p:notesMasterId xmlns:r="http://schemas.openxmlformats.org/officeDocument/2006/relationships" r:id="Rbe5fe164da824643"/>
  </p:notesMasterIdLst>
  <p:sldIdLst>
    <p:sldId xmlns:r="http://schemas.openxmlformats.org/officeDocument/2006/relationships" id="256" r:id="R4d3ca1d38246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f241ecab940d0" /><Relationship Type="http://schemas.openxmlformats.org/officeDocument/2006/relationships/slideMaster" Target="/ppt/slideMasters/slideMaster1.xml" Id="R78c72ec879684472" /><Relationship Type="http://schemas.openxmlformats.org/officeDocument/2006/relationships/notesMaster" Target="/ppt/notesMasters/notesMaster1.xml" Id="Rbe5fe164da824643" /><Relationship Type="http://schemas.openxmlformats.org/officeDocument/2006/relationships/presProps" Target="/ppt/presProps.xml" Id="Rdae4699d67b64bb6" /><Relationship Type="http://schemas.openxmlformats.org/officeDocument/2006/relationships/tableStyles" Target="/ppt/tableStyles.xml" Id="R16a8088ba04c4819" /><Relationship Type="http://schemas.openxmlformats.org/officeDocument/2006/relationships/slide" Target="/ppt/slides/slide1.xml" Id="R4d3ca1d38246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28b0d09ce4b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9ed340664a4f04" /><Relationship Type="http://schemas.openxmlformats.org/officeDocument/2006/relationships/notesMaster" Target="/ppt/notesMasters/notesMaster1.xml" Id="R40084185a36b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config/pipeline.yaml, src/extraction/steps.py, src/validation/recommendation.py, and README.md (2026-08-27).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a56609ea945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3e9a3c9bc41e1" /><Relationship Type="http://schemas.openxmlformats.org/officeDocument/2006/relationships/slideLayout" Target="/ppt/slideLayouts/slideLayout1.xml" Id="R44fdfb258ead43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fdfb258ead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8b92b1e2446a" /><Relationship Type="http://schemas.openxmlformats.org/officeDocument/2006/relationships/notesSlide" Target="/ppt/notesSlides/notesSlide1.xml" Id="Rfbefa75168194a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title">
            <a:extLst xmlns:a="http://schemas.openxmlformats.org/drawingml/2006/main">
              <a:ext uri="{FF2B5EF4-FFF2-40B4-BE49-F238E27FC236}">
                <a16:creationId xmlns:a16="http://schemas.microsoft.com/office/drawing/2014/main" id="{FDDB64F0-A6BD-4027-B4B0-DBEB18D4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714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Viewing Context Validation Pipeline</a:t>
            </a:r>
          </a:p>
        </p:txBody>
      </p:sp>
      <p:sp>
        <p:nvSpPr>
          <p:cNvPr id="2" name="protocol">
            <a:extLst xmlns:a="http://schemas.openxmlformats.org/drawingml/2006/main">
              <a:ext uri="{FF2B5EF4-FFF2-40B4-BE49-F238E27FC236}">
                <a16:creationId xmlns:a16="http://schemas.microsoft.com/office/drawing/2014/main" id="{97B07524-91CE-4E5A-A48D-F7AC45EE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71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1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MicroLens-100K  ·  visual-only  ·  fixed 30s  ·  Qwen3-VL-2B + Gemini 3.7 Flash</a:t>
            </a:r>
          </a:p>
        </p:txBody>
      </p:sp>
      <p:sp>
        <p:nvSpPr>
          <p:cNvPr id="4" name="section-01">
            <a:extLst xmlns:a="http://schemas.openxmlformats.org/drawingml/2006/main">
              <a:ext uri="{FF2B5EF4-FFF2-40B4-BE49-F238E27FC236}">
                <a16:creationId xmlns:a16="http://schemas.microsoft.com/office/drawing/2014/main" id="{0252CBB3-856F-40E1-890F-1AE0940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114425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  Data Preparation</a:t>
            </a:r>
          </a:p>
        </p:txBody>
      </p:sp>
      <p:sp>
        <p:nvSpPr>
          <p:cNvPr id="5" name="section-02">
            <a:extLst xmlns:a="http://schemas.openxmlformats.org/drawingml/2006/main">
              <a:ext uri="{FF2B5EF4-FFF2-40B4-BE49-F238E27FC236}">
                <a16:creationId xmlns:a16="http://schemas.microsoft.com/office/drawing/2014/main" id="{42E5CCB8-8CFE-4BB3-97BC-717CB42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1144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  Viewing Context Extraction</a:t>
            </a:r>
          </a:p>
        </p:txBody>
      </p:sp>
      <p:sp>
        <p:nvSpPr>
          <p:cNvPr id="6" name="section-03">
            <a:extLst xmlns:a="http://schemas.openxmlformats.org/drawingml/2006/main">
              <a:ext uri="{FF2B5EF4-FFF2-40B4-BE49-F238E27FC236}">
                <a16:creationId xmlns:a16="http://schemas.microsoft.com/office/drawing/2014/main" id="{DF3C3F2C-8084-4242-A49C-FF42CC9E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1114425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  Embedding &amp; Recommendation</a:t>
            </a:r>
          </a:p>
        </p:txBody>
      </p:sp>
      <p:sp>
        <p:nvSpPr>
          <p:cNvPr id="7" name="section-04">
            <a:extLst xmlns:a="http://schemas.openxmlformats.org/drawingml/2006/main">
              <a:ext uri="{FF2B5EF4-FFF2-40B4-BE49-F238E27FC236}">
                <a16:creationId xmlns:a16="http://schemas.microsoft.com/office/drawing/2014/main" id="{810A3CD4-4CCD-4BA6-83F1-DF91F0E4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11144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  Evaluation</a:t>
            </a:r>
          </a:p>
        </p:txBody>
      </p:sp>
      <p:sp>
        <p:nvSpPr>
          <p:cNvPr id="8" name="input-panel">
            <a:extLst xmlns:a="http://schemas.openxmlformats.org/drawingml/2006/main">
              <a:ext uri="{FF2B5EF4-FFF2-40B4-BE49-F238E27FC236}">
                <a16:creationId xmlns:a16="http://schemas.microsoft.com/office/drawing/2014/main" id="{16AE7EDA-79CA-434C-83E6-482482B8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457325"/>
            <a:ext cx="1971675" cy="4343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9" name="extraction-panel">
            <a:extLst xmlns:a="http://schemas.openxmlformats.org/drawingml/2006/main">
              <a:ext uri="{FF2B5EF4-FFF2-40B4-BE49-F238E27FC236}">
                <a16:creationId xmlns:a16="http://schemas.microsoft.com/office/drawing/2014/main" id="{90C188D0-8E46-4641-A962-B882A117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457325"/>
            <a:ext cx="4800600" cy="43434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10" name="recommendation-panel">
            <a:extLst xmlns:a="http://schemas.openxmlformats.org/drawingml/2006/main">
              <a:ext uri="{FF2B5EF4-FFF2-40B4-BE49-F238E27FC236}">
                <a16:creationId xmlns:a16="http://schemas.microsoft.com/office/drawing/2014/main" id="{5955693F-22A4-4729-93F2-0816A339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1457325"/>
            <a:ext cx="2295525" cy="434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11" name="evaluation-panel">
            <a:extLst xmlns:a="http://schemas.openxmlformats.org/drawingml/2006/main">
              <a:ext uri="{FF2B5EF4-FFF2-40B4-BE49-F238E27FC236}">
                <a16:creationId xmlns:a16="http://schemas.microsoft.com/office/drawing/2014/main" id="{7FD8791D-E128-4337-84FD-31E3DC9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1457325"/>
            <a:ext cx="1762125" cy="43434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11430">
            <a:solidFill>
              <a:srgbClr val="E2B476"/>
            </a:solidFill>
            <a:prstDash val="solid"/>
          </a:ln>
        </p:spPr>
      </p:sp>
      <p:sp>
        <p:nvSpPr>
          <p:cNvPr id="13" name="graph-lane">
            <a:extLst xmlns:a="http://schemas.openxmlformats.org/drawingml/2006/main">
              <a:ext uri="{FF2B5EF4-FFF2-40B4-BE49-F238E27FC236}">
                <a16:creationId xmlns:a16="http://schemas.microsoft.com/office/drawing/2014/main" id="{31115EA7-FB7B-46FC-B2AE-FF2173C8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1562100"/>
            <a:ext cx="4562475" cy="18954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14" name="description-lane">
            <a:extLst xmlns:a="http://schemas.openxmlformats.org/drawingml/2006/main">
              <a:ext uri="{FF2B5EF4-FFF2-40B4-BE49-F238E27FC236}">
                <a16:creationId xmlns:a16="http://schemas.microsoft.com/office/drawing/2014/main" id="{1827CCB7-AB96-4EE2-AD61-4ECC500B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3629025"/>
            <a:ext cx="4562475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15" name="input-to-graph">
            <a:extLst xmlns:a="http://schemas.openxmlformats.org/drawingml/2006/main">
              <a:ext uri="{FF2B5EF4-FFF2-40B4-BE49-F238E27FC236}">
                <a16:creationId xmlns:a16="http://schemas.microsoft.com/office/drawing/2014/main" id="{9EEDFC3E-AE6C-4D72-A9DF-69BB9D5F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076450"/>
            <a:ext cx="5524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17" name="graph-step-1">
            <a:extLst xmlns:a="http://schemas.openxmlformats.org/drawingml/2006/main">
              <a:ext uri="{FF2B5EF4-FFF2-40B4-BE49-F238E27FC236}">
                <a16:creationId xmlns:a16="http://schemas.microsoft.com/office/drawing/2014/main" id="{6D9ED615-98FC-46CD-95A8-5DD1B70A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057400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18" name="graph-step-2">
            <a:extLst xmlns:a="http://schemas.openxmlformats.org/drawingml/2006/main">
              <a:ext uri="{FF2B5EF4-FFF2-40B4-BE49-F238E27FC236}">
                <a16:creationId xmlns:a16="http://schemas.microsoft.com/office/drawing/2014/main" id="{6B8D9688-B4B5-486B-9C47-9A700535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057400"/>
            <a:ext cx="1714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19" name="graph-step-3">
            <a:extLst xmlns:a="http://schemas.openxmlformats.org/drawingml/2006/main">
              <a:ext uri="{FF2B5EF4-FFF2-40B4-BE49-F238E27FC236}">
                <a16:creationId xmlns:a16="http://schemas.microsoft.com/office/drawing/2014/main" id="{1BB46EDE-A0F1-48F0-8427-CD75F55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2057400"/>
            <a:ext cx="1524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0" name="desc-step-1">
            <a:extLst xmlns:a="http://schemas.openxmlformats.org/drawingml/2006/main">
              <a:ext uri="{FF2B5EF4-FFF2-40B4-BE49-F238E27FC236}">
                <a16:creationId xmlns:a16="http://schemas.microsoft.com/office/drawing/2014/main" id="{2BE8BD4D-1620-40B4-82F5-2B2A932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4276725"/>
            <a:ext cx="1524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1" name="desc-step-2">
            <a:extLst xmlns:a="http://schemas.openxmlformats.org/drawingml/2006/main">
              <a:ext uri="{FF2B5EF4-FFF2-40B4-BE49-F238E27FC236}">
                <a16:creationId xmlns:a16="http://schemas.microsoft.com/office/drawing/2014/main" id="{3597897F-5478-43E6-AD68-704E8DB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276725"/>
            <a:ext cx="14287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2" name="desc-step-3">
            <a:extLst xmlns:a="http://schemas.openxmlformats.org/drawingml/2006/main">
              <a:ext uri="{FF2B5EF4-FFF2-40B4-BE49-F238E27FC236}">
                <a16:creationId xmlns:a16="http://schemas.microsoft.com/office/drawing/2014/main" id="{C1E7ABB8-8F7D-4B69-AC2F-6833927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4276725"/>
            <a:ext cx="18097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3" name="graph-to-rec">
            <a:extLst xmlns:a="http://schemas.openxmlformats.org/drawingml/2006/main">
              <a:ext uri="{FF2B5EF4-FFF2-40B4-BE49-F238E27FC236}">
                <a16:creationId xmlns:a16="http://schemas.microsoft.com/office/drawing/2014/main" id="{CDF23197-584B-4946-B28B-EF4FCCCD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057400"/>
            <a:ext cx="571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4" name="desc-to-rec">
            <a:extLst xmlns:a="http://schemas.openxmlformats.org/drawingml/2006/main">
              <a:ext uri="{FF2B5EF4-FFF2-40B4-BE49-F238E27FC236}">
                <a16:creationId xmlns:a16="http://schemas.microsoft.com/office/drawing/2014/main" id="{ADE6D2A2-682B-4499-B3DF-B415A7ED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4276725"/>
            <a:ext cx="5810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sp>
        <p:nvSpPr>
          <p:cNvPr id="25" name="id-bypass">
            <a:extLst xmlns:a="http://schemas.openxmlformats.org/drawingml/2006/main">
              <a:ext uri="{FF2B5EF4-FFF2-40B4-BE49-F238E27FC236}">
                <a16:creationId xmlns:a16="http://schemas.microsoft.com/office/drawing/2014/main" id="{2538F674-78DB-45BB-A9DB-75F9B95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5219700"/>
            <a:ext cx="66008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95A1"/>
          </a:solidFill>
          <a:ln xmlns:a="http://schemas.openxmlformats.org/drawingml/2006/main" w="0">
            <a:solidFill>
              <a:srgbClr val="8D95A1"/>
            </a:solidFill>
            <a:prstDash val="solid"/>
          </a:ln>
        </p:spPr>
      </p:sp>
      <p:sp>
        <p:nvSpPr>
          <p:cNvPr id="26" name="graph-embed-to-sasrec">
            <a:extLst xmlns:a="http://schemas.openxmlformats.org/drawingml/2006/main">
              <a:ext uri="{FF2B5EF4-FFF2-40B4-BE49-F238E27FC236}">
                <a16:creationId xmlns:a16="http://schemas.microsoft.com/office/drawing/2014/main" id="{A3716D83-10C6-4AEF-B2EF-282DC8C3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25" y="2057400"/>
            <a:ext cx="257175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7" name="desc-embed-to-sasrec">
            <a:extLst xmlns:a="http://schemas.openxmlformats.org/drawingml/2006/main">
              <a:ext uri="{FF2B5EF4-FFF2-40B4-BE49-F238E27FC236}">
                <a16:creationId xmlns:a16="http://schemas.microsoft.com/office/drawing/2014/main" id="{A8FFFB18-CE68-4F3F-9524-574789F3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4276725"/>
            <a:ext cx="2476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  <p:cxnSp>
        <p:nvCxnSpPr>
          <p:cNvPr id="575" name="graph-to-evaluation-collector"/>
          <p:cNvCxnSpPr/>
          <p:nvPr/>
        </p:nvCxnSpPr>
        <p:spPr>
          <a:xfrm xmlns:a="http://schemas.openxmlformats.org/drawingml/2006/main" rot="0">
            <a:off x="9791700" y="2114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765"/>
            </a:solidFill>
            <a:prstDash val="solid"/>
          </a:ln>
        </p:spPr>
      </p:cxnSp>
      <p:cxnSp>
        <p:nvCxnSpPr>
          <p:cNvPr id="576" name="id-to-evaluation-collector"/>
          <p:cNvCxnSpPr/>
          <p:nvPr/>
        </p:nvCxnSpPr>
        <p:spPr>
          <a:xfrm xmlns:a="http://schemas.openxmlformats.org/drawingml/2006/main" rot="0">
            <a:off x="9791700" y="5200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D95A1"/>
            </a:solidFill>
            <a:prstDash val="solid"/>
          </a:ln>
        </p:spPr>
      </p:cxnSp>
      <p:cxnSp>
        <p:nvCxnSpPr>
          <p:cNvPr id="577" name="desc-to-evaluation-collector"/>
          <p:cNvCxnSpPr/>
          <p:nvPr/>
        </p:nvCxnSpPr>
        <p:spPr>
          <a:xfrm xmlns:a="http://schemas.openxmlformats.org/drawingml/2006/main" rot="0">
            <a:off x="9791700" y="43529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8E8"/>
            </a:solidFill>
            <a:prstDash val="solid"/>
          </a:ln>
        </p:spPr>
      </p:cxnSp>
      <p:cxnSp>
        <p:nvCxnSpPr>
          <p:cNvPr id="578" name="evaluation-collector"/>
          <p:cNvCxnSpPr/>
          <p:nvPr/>
        </p:nvCxnSpPr>
        <p:spPr>
          <a:xfrm xmlns:a="http://schemas.openxmlformats.org/drawingml/2006/main" rot="0">
            <a:off x="10058400" y="2114550"/>
            <a:ext cx="0" cy="30861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5D00"/>
            </a:solidFill>
            <a:prstDash val="solid"/>
          </a:ln>
        </p:spPr>
      </p:cxnSp>
      <p:sp>
        <p:nvSpPr>
          <p:cNvPr id="32" name="collector-to-evaluation">
            <a:extLst xmlns:a="http://schemas.openxmlformats.org/drawingml/2006/main">
              <a:ext uri="{FF2B5EF4-FFF2-40B4-BE49-F238E27FC236}">
                <a16:creationId xmlns:a16="http://schemas.microsoft.com/office/drawing/2014/main" id="{CAC833E5-425F-4A3E-8064-B5F3825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2057400"/>
            <a:ext cx="3524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0">
            <a:solidFill>
              <a:srgbClr val="A85D00"/>
            </a:solidFill>
            <a:prstDash val="solid"/>
          </a:ln>
        </p:spPr>
      </p:sp>
      <p:sp>
        <p:nvSpPr>
          <p:cNvPr id="33" name="input-title">
            <a:extLst xmlns:a="http://schemas.openxmlformats.org/drawingml/2006/main">
              <a:ext uri="{FF2B5EF4-FFF2-40B4-BE49-F238E27FC236}">
                <a16:creationId xmlns:a16="http://schemas.microsoft.com/office/drawing/2014/main" id="{73234CBA-FB1B-4F4D-9D8A-EFE5B34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8" y="1681163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4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63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63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MicroLens-100K</a:t>
            </a:r>
          </a:p>
        </p:txBody>
      </p:sp>
      <p:sp>
        <p:nvSpPr>
          <p:cNvPr id="35" name="interactions-box">
            <a:extLst xmlns:a="http://schemas.openxmlformats.org/drawingml/2006/main">
              <a:ext uri="{FF2B5EF4-FFF2-40B4-BE49-F238E27FC236}">
                <a16:creationId xmlns:a16="http://schemas.microsoft.com/office/drawing/2014/main" id="{8F303A24-B502-47F6-86B0-F2830D25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3676650"/>
            <a:ext cx="1628775" cy="8858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36" name="interactions-title">
            <a:extLst xmlns:a="http://schemas.openxmlformats.org/drawingml/2006/main">
              <a:ext uri="{FF2B5EF4-FFF2-40B4-BE49-F238E27FC236}">
                <a16:creationId xmlns:a16="http://schemas.microsoft.com/office/drawing/2014/main" id="{0AFE26AF-0F34-45BE-B49A-DD370FB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719513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Interaction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37" name="interactions-subtitle">
            <a:extLst xmlns:a="http://schemas.openxmlformats.org/drawingml/2006/main">
              <a:ext uri="{FF2B5EF4-FFF2-40B4-BE49-F238E27FC236}">
                <a16:creationId xmlns:a16="http://schemas.microsoft.com/office/drawing/2014/main" id="{CE9297C0-2A82-4873-9234-B415A17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029075"/>
            <a:ext cx="1438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Cohort +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Leave-Two-Out</a:t>
            </a:r>
          </a:p>
        </p:txBody>
      </p:sp>
      <p:sp>
        <p:nvSpPr>
          <p:cNvPr id="38" name="local-video-box">
            <a:extLst xmlns:a="http://schemas.openxmlformats.org/drawingml/2006/main">
              <a:ext uri="{FF2B5EF4-FFF2-40B4-BE49-F238E27FC236}">
                <a16:creationId xmlns:a16="http://schemas.microsoft.com/office/drawing/2014/main" id="{50DE83A1-9A5E-4B5D-AA15-BCAB661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247900"/>
            <a:ext cx="1628775" cy="8191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DD5"/>
            </a:solidFill>
            <a:prstDash val="solid"/>
          </a:ln>
        </p:spPr>
      </p:sp>
      <p:sp>
        <p:nvSpPr>
          <p:cNvPr id="39" name="local-video-title">
            <a:extLst xmlns:a="http://schemas.openxmlformats.org/drawingml/2006/main">
              <a:ext uri="{FF2B5EF4-FFF2-40B4-BE49-F238E27FC236}">
                <a16:creationId xmlns:a16="http://schemas.microsoft.com/office/drawing/2014/main" id="{4A4B89C7-EBF2-493D-805F-D360BC4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357438"/>
            <a:ext cx="143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Video Scene</a:t>
            </a:r>
          </a:p>
        </p:txBody>
      </p:sp>
      <p:sp>
        <p:nvSpPr>
          <p:cNvPr id="40" name="local-video-subtitle">
            <a:extLst xmlns:a="http://schemas.openxmlformats.org/drawingml/2006/main">
              <a:ext uri="{FF2B5EF4-FFF2-40B4-BE49-F238E27FC236}">
                <a16:creationId xmlns:a16="http://schemas.microsoft.com/office/drawing/2014/main" id="{9D62F71C-FE74-4E9C-9A9C-6A5F9C6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95550"/>
            <a:ext cx="1438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30s, 3 Keyframes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(5s · 15s · 25s)</a:t>
            </a:r>
          </a:p>
        </p:txBody>
      </p:sp>
      <p:sp>
        <p:nvSpPr>
          <p:cNvPr id="43" name="graph-arm-label">
            <a:extLst xmlns:a="http://schemas.openxmlformats.org/drawingml/2006/main">
              <a:ext uri="{FF2B5EF4-FFF2-40B4-BE49-F238E27FC236}">
                <a16:creationId xmlns:a16="http://schemas.microsoft.com/office/drawing/2014/main" id="{BA60B006-72BC-49DA-864C-7646BD50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163830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13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GRAPH ARMS</a:t>
            </a:r>
          </a:p>
        </p:txBody>
      </p:sp>
      <p:sp>
        <p:nvSpPr>
          <p:cNvPr id="44" name="desc-arm-label">
            <a:extLst xmlns:a="http://schemas.openxmlformats.org/drawingml/2006/main">
              <a:ext uri="{FF2B5EF4-FFF2-40B4-BE49-F238E27FC236}">
                <a16:creationId xmlns:a16="http://schemas.microsoft.com/office/drawing/2014/main" id="{7D806474-5DE8-4DC9-AA96-8A03C4D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37242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13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DESCRIPTION ARM</a:t>
            </a:r>
          </a:p>
        </p:txBody>
      </p:sp>
      <p:sp>
        <p:nvSpPr>
          <p:cNvPr id="45" name="graph-extract-box">
            <a:extLst xmlns:a="http://schemas.openxmlformats.org/drawingml/2006/main">
              <a:ext uri="{FF2B5EF4-FFF2-40B4-BE49-F238E27FC236}">
                <a16:creationId xmlns:a16="http://schemas.microsoft.com/office/drawing/2014/main" id="{83D8D0B7-A012-4912-95E0-4A2070A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1847850"/>
            <a:ext cx="819150" cy="5619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46" name="graph-extract-title">
            <a:extLst xmlns:a="http://schemas.openxmlformats.org/drawingml/2006/main">
              <a:ext uri="{FF2B5EF4-FFF2-40B4-BE49-F238E27FC236}">
                <a16:creationId xmlns:a16="http://schemas.microsoft.com/office/drawing/2014/main" id="{99C8C7EF-81AE-4FF0-A654-CC928CE0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187642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63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47" name="graph-extract-subtitle">
            <a:extLst xmlns:a="http://schemas.openxmlformats.org/drawingml/2006/main">
              <a:ext uri="{FF2B5EF4-FFF2-40B4-BE49-F238E27FC236}">
                <a16:creationId xmlns:a16="http://schemas.microsoft.com/office/drawing/2014/main" id="{5A9CD7F7-6269-4ED1-801C-09A2406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0669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6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Graph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6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48" name="scg-box">
            <a:extLst xmlns:a="http://schemas.openxmlformats.org/drawingml/2006/main">
              <a:ext uri="{FF2B5EF4-FFF2-40B4-BE49-F238E27FC236}">
                <a16:creationId xmlns:a16="http://schemas.microsoft.com/office/drawing/2014/main" id="{2A219219-E378-4C94-9851-F4053ABC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1847850"/>
            <a:ext cx="904875" cy="5619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49" name="scg-title">
            <a:extLst xmlns:a="http://schemas.openxmlformats.org/drawingml/2006/main">
              <a:ext uri="{FF2B5EF4-FFF2-40B4-BE49-F238E27FC236}">
                <a16:creationId xmlns:a16="http://schemas.microsoft.com/office/drawing/2014/main" id="{5F2AFBBE-FED1-411C-AB8C-BD0868DD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1862138"/>
            <a:ext cx="828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1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Scene-wise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91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Context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91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51" name="graph-summarize-box">
            <a:extLst xmlns:a="http://schemas.openxmlformats.org/drawingml/2006/main">
              <a:ext uri="{FF2B5EF4-FFF2-40B4-BE49-F238E27FC236}">
                <a16:creationId xmlns:a16="http://schemas.microsoft.com/office/drawing/2014/main" id="{B1A3F3D6-C818-4B9D-AA26-CBBE6180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1847850"/>
            <a:ext cx="723900" cy="13430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52" name="graph-summarize-title">
            <a:extLst xmlns:a="http://schemas.openxmlformats.org/drawingml/2006/main">
              <a:ext uri="{FF2B5EF4-FFF2-40B4-BE49-F238E27FC236}">
                <a16:creationId xmlns:a16="http://schemas.microsoft.com/office/drawing/2014/main" id="{4BE61D50-19CF-44A1-8A1E-3473BEC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2171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53" name="graph-summarize-subtitle">
            <a:extLst xmlns:a="http://schemas.openxmlformats.org/drawingml/2006/main">
              <a:ext uri="{FF2B5EF4-FFF2-40B4-BE49-F238E27FC236}">
                <a16:creationId xmlns:a16="http://schemas.microsoft.com/office/drawing/2014/main" id="{4B106C94-7A1A-4CFE-9AE9-68E2D0D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2390775"/>
            <a:ext cx="647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8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Graph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78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54" name="vs-graph-box">
            <a:extLst xmlns:a="http://schemas.openxmlformats.org/drawingml/2006/main">
              <a:ext uri="{FF2B5EF4-FFF2-40B4-BE49-F238E27FC236}">
                <a16:creationId xmlns:a16="http://schemas.microsoft.com/office/drawing/2014/main" id="{DD94FE2A-994A-482E-B2AC-6CD01E51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1838325"/>
            <a:ext cx="1371600" cy="5810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8765"/>
          </a:solidFill>
          <a:ln xmlns:a="http://schemas.openxmlformats.org/drawingml/2006/main" w="11430">
            <a:solidFill>
              <a:srgbClr val="168765"/>
            </a:solidFill>
            <a:prstDash val="solid"/>
          </a:ln>
        </p:spPr>
      </p:sp>
      <p:sp>
        <p:nvSpPr>
          <p:cNvPr id="55" name="vs-graph-title">
            <a:extLst xmlns:a="http://schemas.openxmlformats.org/drawingml/2006/main">
              <a:ext uri="{FF2B5EF4-FFF2-40B4-BE49-F238E27FC236}">
                <a16:creationId xmlns:a16="http://schemas.microsoft.com/office/drawing/2014/main" id="{F1A347AB-5E37-4954-B4DE-B899E21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1847850"/>
            <a:ext cx="1295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Video-wise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Summary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(Qwen Source)</a:t>
            </a:r>
          </a:p>
        </p:txBody>
      </p:sp>
      <p:sp>
        <p:nvSpPr>
          <p:cNvPr id="56" name="desc-extract-box">
            <a:extLst xmlns:a="http://schemas.openxmlformats.org/drawingml/2006/main">
              <a:ext uri="{FF2B5EF4-FFF2-40B4-BE49-F238E27FC236}">
                <a16:creationId xmlns:a16="http://schemas.microsoft.com/office/drawing/2014/main" id="{AC1B8A87-C81E-439D-A337-719A8432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000500"/>
            <a:ext cx="819150" cy="7143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57" name="desc-extract-title">
            <a:extLst xmlns:a="http://schemas.openxmlformats.org/drawingml/2006/main">
              <a:ext uri="{FF2B5EF4-FFF2-40B4-BE49-F238E27FC236}">
                <a16:creationId xmlns:a16="http://schemas.microsoft.com/office/drawing/2014/main" id="{25315ED2-1343-43D9-9CAD-59680CE9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1814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63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58" name="desc-extract-subtitle">
            <a:extLst xmlns:a="http://schemas.openxmlformats.org/drawingml/2006/main">
              <a:ext uri="{FF2B5EF4-FFF2-40B4-BE49-F238E27FC236}">
                <a16:creationId xmlns:a16="http://schemas.microsoft.com/office/drawing/2014/main" id="{33072E79-9F3D-48CD-B9AB-0A8B2D9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33387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59" name="sd-box">
            <a:extLst xmlns:a="http://schemas.openxmlformats.org/drawingml/2006/main">
              <a:ext uri="{FF2B5EF4-FFF2-40B4-BE49-F238E27FC236}">
                <a16:creationId xmlns:a16="http://schemas.microsoft.com/office/drawing/2014/main" id="{7C8DB0FD-DE39-46A3-A8FC-22430EF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000500"/>
            <a:ext cx="933450" cy="7143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60" name="sd-title">
            <a:extLst xmlns:a="http://schemas.openxmlformats.org/drawingml/2006/main">
              <a:ext uri="{FF2B5EF4-FFF2-40B4-BE49-F238E27FC236}">
                <a16:creationId xmlns:a16="http://schemas.microsoft.com/office/drawing/2014/main" id="{4CDD24C1-CE05-488D-9F3F-6E551520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41338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38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Scene-wise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38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62" name="desc-summarize-box">
            <a:extLst xmlns:a="http://schemas.openxmlformats.org/drawingml/2006/main">
              <a:ext uri="{FF2B5EF4-FFF2-40B4-BE49-F238E27FC236}">
                <a16:creationId xmlns:a16="http://schemas.microsoft.com/office/drawing/2014/main" id="{E75ABAAE-09F8-4374-A491-8B1B47C0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000500"/>
            <a:ext cx="733425" cy="7143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63" name="desc-summarize-title">
            <a:extLst xmlns:a="http://schemas.openxmlformats.org/drawingml/2006/main">
              <a:ext uri="{FF2B5EF4-FFF2-40B4-BE49-F238E27FC236}">
                <a16:creationId xmlns:a16="http://schemas.microsoft.com/office/drawing/2014/main" id="{E0BBCFE2-025E-4E20-924D-F8D48F1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4119563"/>
            <a:ext cx="65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64" name="desc-summarize-subtitle">
            <a:extLst xmlns:a="http://schemas.openxmlformats.org/drawingml/2006/main">
              <a:ext uri="{FF2B5EF4-FFF2-40B4-BE49-F238E27FC236}">
                <a16:creationId xmlns:a16="http://schemas.microsoft.com/office/drawing/2014/main" id="{F2C52146-5C7F-4BE9-82DD-F839E022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4295775"/>
            <a:ext cx="65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78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Graph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78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65" name="vs-desc-box">
            <a:extLst xmlns:a="http://schemas.openxmlformats.org/drawingml/2006/main">
              <a:ext uri="{FF2B5EF4-FFF2-40B4-BE49-F238E27FC236}">
                <a16:creationId xmlns:a16="http://schemas.microsoft.com/office/drawing/2014/main" id="{6DC3F05C-CBA1-4F14-93E5-4FCD9DE7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4000500"/>
            <a:ext cx="1352550" cy="7048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78E8"/>
          </a:solidFill>
          <a:ln xmlns:a="http://schemas.openxmlformats.org/drawingml/2006/main" w="11430">
            <a:solidFill>
              <a:srgbClr val="2F78E8"/>
            </a:solidFill>
            <a:prstDash val="solid"/>
          </a:ln>
        </p:spPr>
      </p:sp>
      <p:sp>
        <p:nvSpPr>
          <p:cNvPr id="66" name="vs-desc-title">
            <a:extLst xmlns:a="http://schemas.openxmlformats.org/drawingml/2006/main">
              <a:ext uri="{FF2B5EF4-FFF2-40B4-BE49-F238E27FC236}">
                <a16:creationId xmlns:a16="http://schemas.microsoft.com/office/drawing/2014/main" id="{917C9E44-D42C-4630-AC6D-00795658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40005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Video-wise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(Qwen Source)</a:t>
            </a:r>
          </a:p>
        </p:txBody>
      </p:sp>
      <p:sp>
        <p:nvSpPr>
          <p:cNvPr id="67" name="id-baseline-label">
            <a:extLst xmlns:a="http://schemas.openxmlformats.org/drawingml/2006/main">
              <a:ext uri="{FF2B5EF4-FFF2-40B4-BE49-F238E27FC236}">
                <a16:creationId xmlns:a16="http://schemas.microsoft.com/office/drawing/2014/main" id="{E822ED0D-E034-47DA-97D2-848C3CEB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4981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ID ARM (Baseline)</a:t>
            </a:r>
          </a:p>
        </p:txBody>
      </p:sp>
      <p:sp>
        <p:nvSpPr>
          <p:cNvPr id="68" name="graph-embed-box">
            <a:extLst xmlns:a="http://schemas.openxmlformats.org/drawingml/2006/main">
              <a:ext uri="{FF2B5EF4-FFF2-40B4-BE49-F238E27FC236}">
                <a16:creationId xmlns:a16="http://schemas.microsoft.com/office/drawing/2014/main" id="{52D1BB73-E7AD-4FA1-8BE6-0DDE4319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838325"/>
            <a:ext cx="866775" cy="5715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69" name="graph-embed-title">
            <a:extLst xmlns:a="http://schemas.openxmlformats.org/drawingml/2006/main">
              <a:ext uri="{FF2B5EF4-FFF2-40B4-BE49-F238E27FC236}">
                <a16:creationId xmlns:a16="http://schemas.microsoft.com/office/drawing/2014/main" id="{2964591D-3A8B-4C75-8BAD-C8C00BC0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975" y="1885950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BGE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Embedd-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ing</a:t>
            </a:r>
          </a:p>
        </p:txBody>
      </p:sp>
      <p:sp>
        <p:nvSpPr>
          <p:cNvPr id="70" name="sasrec-graph-box">
            <a:extLst xmlns:a="http://schemas.openxmlformats.org/drawingml/2006/main">
              <a:ext uri="{FF2B5EF4-FFF2-40B4-BE49-F238E27FC236}">
                <a16:creationId xmlns:a16="http://schemas.microsoft.com/office/drawing/2014/main" id="{B1400DF1-76E6-4B84-ACAB-86C617D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1838325"/>
            <a:ext cx="914400" cy="571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8765"/>
          </a:solidFill>
          <a:ln xmlns:a="http://schemas.openxmlformats.org/drawingml/2006/main" w="11430">
            <a:solidFill>
              <a:srgbClr val="168765"/>
            </a:solidFill>
            <a:prstDash val="solid"/>
          </a:ln>
        </p:spPr>
      </p:sp>
      <p:sp>
        <p:nvSpPr>
          <p:cNvPr id="71" name="sasrec-graph-title">
            <a:extLst xmlns:a="http://schemas.openxmlformats.org/drawingml/2006/main">
              <a:ext uri="{FF2B5EF4-FFF2-40B4-BE49-F238E27FC236}">
                <a16:creationId xmlns:a16="http://schemas.microsoft.com/office/drawing/2014/main" id="{AC678BF6-8568-4E5E-9F8B-C3AA3A8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184785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SASRec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_Qwen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72" name="sasrec-id-box">
            <a:extLst xmlns:a="http://schemas.openxmlformats.org/drawingml/2006/main">
              <a:ext uri="{FF2B5EF4-FFF2-40B4-BE49-F238E27FC236}">
                <a16:creationId xmlns:a16="http://schemas.microsoft.com/office/drawing/2014/main" id="{04AFFAC0-5E24-41AD-89F6-A8F4CD0A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981575"/>
            <a:ext cx="914400" cy="609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0F3"/>
          </a:solidFill>
          <a:ln xmlns:a="http://schemas.openxmlformats.org/drawingml/2006/main" w="11430">
            <a:solidFill>
              <a:srgbClr val="B9BEC6"/>
            </a:solidFill>
            <a:prstDash val="solid"/>
          </a:ln>
        </p:spPr>
      </p:sp>
      <p:sp>
        <p:nvSpPr>
          <p:cNvPr id="73" name="sasrec-id-title">
            <a:extLst xmlns:a="http://schemas.openxmlformats.org/drawingml/2006/main">
              <a:ext uri="{FF2B5EF4-FFF2-40B4-BE49-F238E27FC236}">
                <a16:creationId xmlns:a16="http://schemas.microsoft.com/office/drawing/2014/main" id="{200C4F2E-27F0-457E-A7D6-0B190E60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991100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63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SASRec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163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_ID</a:t>
            </a:r>
          </a:p>
        </p:txBody>
      </p:sp>
      <p:sp>
        <p:nvSpPr>
          <p:cNvPr id="74" name="desc-embed-box">
            <a:extLst xmlns:a="http://schemas.openxmlformats.org/drawingml/2006/main">
              <a:ext uri="{FF2B5EF4-FFF2-40B4-BE49-F238E27FC236}">
                <a16:creationId xmlns:a16="http://schemas.microsoft.com/office/drawing/2014/main" id="{8817C308-035D-4DA5-AF2A-9F6ECB6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4000500"/>
            <a:ext cx="876300" cy="7048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B7CEF5"/>
            </a:solidFill>
            <a:prstDash val="solid"/>
          </a:ln>
        </p:spPr>
      </p:sp>
      <p:sp>
        <p:nvSpPr>
          <p:cNvPr id="75" name="desc-embed-title">
            <a:extLst xmlns:a="http://schemas.openxmlformats.org/drawingml/2006/main">
              <a:ext uri="{FF2B5EF4-FFF2-40B4-BE49-F238E27FC236}">
                <a16:creationId xmlns:a16="http://schemas.microsoft.com/office/drawing/2014/main" id="{5FB43F6E-B273-484B-8601-02033703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975" y="4086225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BGE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Embedd-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2F78E8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F78E8"/>
                </a:solidFill>
                <a:latin typeface="Arial"/>
                <a:ea typeface="Arial"/>
                <a:cs typeface="Arial"/>
              </a:rPr>
              <a:t>ing</a:t>
            </a:r>
          </a:p>
        </p:txBody>
      </p:sp>
      <p:sp>
        <p:nvSpPr>
          <p:cNvPr id="76" name="sasrec-desc-box">
            <a:extLst xmlns:a="http://schemas.openxmlformats.org/drawingml/2006/main">
              <a:ext uri="{FF2B5EF4-FFF2-40B4-BE49-F238E27FC236}">
                <a16:creationId xmlns:a16="http://schemas.microsoft.com/office/drawing/2014/main" id="{13EFABDB-6663-4597-A8B0-7FB3FBA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3990975"/>
            <a:ext cx="914400" cy="714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8E8"/>
          </a:solidFill>
          <a:ln xmlns:a="http://schemas.openxmlformats.org/drawingml/2006/main" w="11430">
            <a:solidFill>
              <a:srgbClr val="2F78E8"/>
            </a:solidFill>
            <a:prstDash val="solid"/>
          </a:ln>
        </p:spPr>
      </p:sp>
      <p:sp>
        <p:nvSpPr>
          <p:cNvPr id="77" name="sasrec-desc-title">
            <a:extLst xmlns:a="http://schemas.openxmlformats.org/drawingml/2006/main">
              <a:ext uri="{FF2B5EF4-FFF2-40B4-BE49-F238E27FC236}">
                <a16:creationId xmlns:a16="http://schemas.microsoft.com/office/drawing/2014/main" id="{51C2299E-8051-4F5D-9CDC-2798665C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000500"/>
            <a:ext cx="83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SASRec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_Qwen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</a:t>
            </a:r>
          </a:p>
        </p:txBody>
      </p:sp>
      <p:sp>
        <p:nvSpPr>
          <p:cNvPr id="78" name="evaluation-scope">
            <a:extLst xmlns:a="http://schemas.openxmlformats.org/drawingml/2006/main">
              <a:ext uri="{FF2B5EF4-FFF2-40B4-BE49-F238E27FC236}">
                <a16:creationId xmlns:a16="http://schemas.microsoft.com/office/drawing/2014/main" id="{756ECDF0-CA34-4262-B58C-F144703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1657350"/>
            <a:ext cx="1400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38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SAME TEST TARGETS</a:t>
            </a:r>
          </a:p>
        </p:txBody>
      </p:sp>
      <p:sp>
        <p:nvSpPr>
          <p:cNvPr id="79" name="evaluation-step-1-marker">
            <a:extLst xmlns:a="http://schemas.openxmlformats.org/drawingml/2006/main">
              <a:ext uri="{FF2B5EF4-FFF2-40B4-BE49-F238E27FC236}">
                <a16:creationId xmlns:a16="http://schemas.microsoft.com/office/drawing/2014/main" id="{9C54C4CF-FDCE-4DA6-9F05-276C38B2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0193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11430">
            <a:solidFill>
              <a:srgbClr val="A85D00"/>
            </a:solidFill>
            <a:prstDash val="solid"/>
          </a:ln>
        </p:spPr>
      </p:sp>
      <p:sp>
        <p:nvSpPr>
          <p:cNvPr id="80" name="evaluation-step-1-number">
            <a:extLst xmlns:a="http://schemas.openxmlformats.org/drawingml/2006/main">
              <a:ext uri="{FF2B5EF4-FFF2-40B4-BE49-F238E27FC236}">
                <a16:creationId xmlns:a16="http://schemas.microsoft.com/office/drawing/2014/main" id="{96766910-FE80-4703-9232-5FC7F8D7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0193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evaluation-step-1-title">
            <a:extLst xmlns:a="http://schemas.openxmlformats.org/drawingml/2006/main">
              <a:ext uri="{FF2B5EF4-FFF2-40B4-BE49-F238E27FC236}">
                <a16:creationId xmlns:a16="http://schemas.microsoft.com/office/drawing/2014/main" id="{2BE85DFE-9823-4982-90E6-3D2018C0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19431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Full-catalog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82" name="evaluation-step-1-note">
            <a:extLst xmlns:a="http://schemas.openxmlformats.org/drawingml/2006/main">
              <a:ext uri="{FF2B5EF4-FFF2-40B4-BE49-F238E27FC236}">
                <a16:creationId xmlns:a16="http://schemas.microsoft.com/office/drawing/2014/main" id="{6E7C3889-2A44-46D4-BD13-92737B7C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3717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모든 후보 item을 점수화</a:t>
            </a:r>
          </a:p>
        </p:txBody>
      </p:sp>
      <p:cxnSp>
        <p:nvCxnSpPr>
          <p:cNvPr id="625" name="evaluation-rule-1"/>
          <p:cNvCxnSpPr/>
          <p:nvPr/>
        </p:nvCxnSpPr>
        <p:spPr>
          <a:xfrm xmlns:a="http://schemas.openxmlformats.org/drawingml/2006/main" rot="0">
            <a:off x="10391775" y="2581275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2B476"/>
            </a:solidFill>
            <a:prstDash val="solid"/>
          </a:ln>
        </p:spPr>
      </p:cxnSp>
      <p:sp>
        <p:nvSpPr>
          <p:cNvPr id="84" name="evaluation-step-2-marker">
            <a:extLst xmlns:a="http://schemas.openxmlformats.org/drawingml/2006/main">
              <a:ext uri="{FF2B5EF4-FFF2-40B4-BE49-F238E27FC236}">
                <a16:creationId xmlns:a16="http://schemas.microsoft.com/office/drawing/2014/main" id="{0DCA05AE-E18B-4D39-B01B-E5B87FDA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800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11430">
            <a:solidFill>
              <a:srgbClr val="A85D00"/>
            </a:solidFill>
            <a:prstDash val="solid"/>
          </a:ln>
        </p:spPr>
      </p:sp>
      <p:sp>
        <p:nvSpPr>
          <p:cNvPr id="85" name="evaluation-step-2-number">
            <a:extLst xmlns:a="http://schemas.openxmlformats.org/drawingml/2006/main">
              <a:ext uri="{FF2B5EF4-FFF2-40B4-BE49-F238E27FC236}">
                <a16:creationId xmlns:a16="http://schemas.microsoft.com/office/drawing/2014/main" id="{7C073C4A-40E6-4517-9FC5-8C4F40C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8003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" name="evaluation-step-2-title">
            <a:extLst xmlns:a="http://schemas.openxmlformats.org/drawingml/2006/main">
              <a:ext uri="{FF2B5EF4-FFF2-40B4-BE49-F238E27FC236}">
                <a16:creationId xmlns:a16="http://schemas.microsoft.com/office/drawing/2014/main" id="{AB2E5F0E-A568-4CF5-BDA3-B07A703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27622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87" name="rank-quality">
            <a:extLst xmlns:a="http://schemas.openxmlformats.org/drawingml/2006/main">
              <a:ext uri="{FF2B5EF4-FFF2-40B4-BE49-F238E27FC236}">
                <a16:creationId xmlns:a16="http://schemas.microsoft.com/office/drawing/2014/main" id="{2CE7973E-307D-43B8-BC70-BF2B2FE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3162300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1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Rank quality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1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HR@10 · NDCG@10</a:t>
            </a:r>
          </a:p>
        </p:txBody>
      </p:sp>
      <p:sp>
        <p:nvSpPr>
          <p:cNvPr id="88" name="catalog-spread">
            <a:extLst xmlns:a="http://schemas.openxmlformats.org/drawingml/2006/main">
              <a:ext uri="{FF2B5EF4-FFF2-40B4-BE49-F238E27FC236}">
                <a16:creationId xmlns:a16="http://schemas.microsoft.com/office/drawing/2014/main" id="{7C96D9E2-210B-4DD3-987D-95EB898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36766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1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Catalog spread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1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Top-20 coverage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1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Top-1 concentration</a:t>
            </a:r>
          </a:p>
        </p:txBody>
      </p:sp>
      <p:cxnSp>
        <p:nvCxnSpPr>
          <p:cNvPr id="631" name="evaluation-rule-2"/>
          <p:cNvCxnSpPr/>
          <p:nvPr/>
        </p:nvCxnSpPr>
        <p:spPr>
          <a:xfrm xmlns:a="http://schemas.openxmlformats.org/drawingml/2006/main" rot="0">
            <a:off x="10391775" y="4352925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2B476"/>
            </a:solidFill>
            <a:prstDash val="solid"/>
          </a:ln>
        </p:spPr>
      </p:cxnSp>
      <p:sp>
        <p:nvSpPr>
          <p:cNvPr id="90" name="evaluation-step-3-marker">
            <a:extLst xmlns:a="http://schemas.openxmlformats.org/drawingml/2006/main">
              <a:ext uri="{FF2B5EF4-FFF2-40B4-BE49-F238E27FC236}">
                <a16:creationId xmlns:a16="http://schemas.microsoft.com/office/drawing/2014/main" id="{B06C640C-C820-419E-825C-1ABF5062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4562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D00"/>
          </a:solidFill>
          <a:ln xmlns:a="http://schemas.openxmlformats.org/drawingml/2006/main" w="11430">
            <a:solidFill>
              <a:srgbClr val="A85D00"/>
            </a:solidFill>
            <a:prstDash val="solid"/>
          </a:ln>
        </p:spPr>
      </p:sp>
      <p:sp>
        <p:nvSpPr>
          <p:cNvPr id="91" name="evaluation-step-3-number">
            <a:extLst xmlns:a="http://schemas.openxmlformats.org/drawingml/2006/main">
              <a:ext uri="{FF2B5EF4-FFF2-40B4-BE49-F238E27FC236}">
                <a16:creationId xmlns:a16="http://schemas.microsoft.com/office/drawing/2014/main" id="{6213FA49-0F59-49DA-AB76-60496540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45624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2" name="evaluation-step-3-title">
            <a:extLst xmlns:a="http://schemas.openxmlformats.org/drawingml/2006/main">
              <a:ext uri="{FF2B5EF4-FFF2-40B4-BE49-F238E27FC236}">
                <a16:creationId xmlns:a16="http://schemas.microsoft.com/office/drawing/2014/main" id="{E4CA031C-307A-402B-9BD6-31870CA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4524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38" b="1">
                <a:solidFill>
                  <a:srgbClr val="A85D00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A85D00"/>
                </a:solidFill>
                <a:latin typeface="Arial"/>
                <a:ea typeface="Arial"/>
                <a:cs typeface="Arial"/>
              </a:rPr>
              <a:t>Compare arms</a:t>
            </a:r>
          </a:p>
        </p:txBody>
      </p:sp>
      <p:sp>
        <p:nvSpPr>
          <p:cNvPr id="93" name="arm-comparisons">
            <a:extLst xmlns:a="http://schemas.openxmlformats.org/drawingml/2006/main">
              <a:ext uri="{FF2B5EF4-FFF2-40B4-BE49-F238E27FC236}">
                <a16:creationId xmlns:a16="http://schemas.microsoft.com/office/drawing/2014/main" id="{64C72BED-58D2-4F21-9C49-1F995D7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4805363"/>
            <a:ext cx="1428750" cy="795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 VC vs ID only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 Graph vs Desc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 Qwen vs Gemini</a:t>
            </a:r>
          </a:p>
        </p:txBody>
      </p:sp>
      <p:cxnSp>
        <p:nvCxnSpPr>
          <p:cNvPr id="636" name="footer-rule"/>
          <p:cNvCxnSpPr/>
          <p:nvPr/>
        </p:nvCxnSpPr>
        <p:spPr>
          <a:xfrm xmlns:a="http://schemas.openxmlformats.org/drawingml/2006/main" rot="0">
            <a:off x="304800" y="6238875"/>
            <a:ext cx="11658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6" name="footer">
            <a:extLst xmlns:a="http://schemas.openxmlformats.org/drawingml/2006/main">
              <a:ext uri="{FF2B5EF4-FFF2-40B4-BE49-F238E27FC236}">
                <a16:creationId xmlns:a16="http://schemas.microsoft.com/office/drawing/2014/main" id="{01969799-C872-46C3-AB6E-B550B11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63817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통제 조건  ·  cohort, split, seeds, full-catalog scoring과 SASRec protocol은 고정</a:t>
            </a:r>
          </a:p>
        </p:txBody>
      </p:sp>
      <p:sp>
        <p:nvSpPr>
          <p:cNvPr id="288" name="gemini-extract-box">
            <a:extLst xmlns:a="http://schemas.openxmlformats.org/drawingml/2006/main">
              <a:ext uri="{FF2B5EF4-FFF2-40B4-BE49-F238E27FC236}">
                <a16:creationId xmlns:a16="http://schemas.microsoft.com/office/drawing/2014/main" id="{F2310AA1-2840-4007-8602-C1695D02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2628900"/>
            <a:ext cx="819150" cy="5619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289" name="gemini-extract-title">
            <a:extLst xmlns:a="http://schemas.openxmlformats.org/drawingml/2006/main">
              <a:ext uri="{FF2B5EF4-FFF2-40B4-BE49-F238E27FC236}">
                <a16:creationId xmlns:a16="http://schemas.microsoft.com/office/drawing/2014/main" id="{C73AB193-708A-4A73-86B4-730D15F8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6574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63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290" name="gemini-extract-subtitle">
            <a:extLst xmlns:a="http://schemas.openxmlformats.org/drawingml/2006/main">
              <a:ext uri="{FF2B5EF4-FFF2-40B4-BE49-F238E27FC236}">
                <a16:creationId xmlns:a16="http://schemas.microsoft.com/office/drawing/2014/main" id="{8BD9FEF3-4F22-47F2-BD24-21C11A3C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8479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6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Graph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6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291" name="gemini-step-1">
            <a:extLst xmlns:a="http://schemas.openxmlformats.org/drawingml/2006/main">
              <a:ext uri="{FF2B5EF4-FFF2-40B4-BE49-F238E27FC236}">
                <a16:creationId xmlns:a16="http://schemas.microsoft.com/office/drawing/2014/main" id="{90FDFCF8-4F09-452D-9E51-36E7E980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838450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92" name="gemini-scg-box">
            <a:extLst xmlns:a="http://schemas.openxmlformats.org/drawingml/2006/main">
              <a:ext uri="{FF2B5EF4-FFF2-40B4-BE49-F238E27FC236}">
                <a16:creationId xmlns:a16="http://schemas.microsoft.com/office/drawing/2014/main" id="{C66BAEE5-2FDF-4AF9-9B2F-04AA5FCB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628900"/>
            <a:ext cx="904875" cy="5619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293" name="gemini-scg-title">
            <a:extLst xmlns:a="http://schemas.openxmlformats.org/drawingml/2006/main">
              <a:ext uri="{FF2B5EF4-FFF2-40B4-BE49-F238E27FC236}">
                <a16:creationId xmlns:a16="http://schemas.microsoft.com/office/drawing/2014/main" id="{674B8ED6-3D39-4402-AA5B-EE42E06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2643188"/>
            <a:ext cx="828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1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Scene-wise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91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Context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915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295" name="gemini-step-2">
            <a:extLst xmlns:a="http://schemas.openxmlformats.org/drawingml/2006/main">
              <a:ext uri="{FF2B5EF4-FFF2-40B4-BE49-F238E27FC236}">
                <a16:creationId xmlns:a16="http://schemas.microsoft.com/office/drawing/2014/main" id="{81940B71-CF3B-41F8-9944-5486946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838450"/>
            <a:ext cx="1714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299" name="gemini-step-3">
            <a:extLst xmlns:a="http://schemas.openxmlformats.org/drawingml/2006/main">
              <a:ext uri="{FF2B5EF4-FFF2-40B4-BE49-F238E27FC236}">
                <a16:creationId xmlns:a16="http://schemas.microsoft.com/office/drawing/2014/main" id="{83759F80-9B08-486E-BB1D-D907A733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2838450"/>
            <a:ext cx="1524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300" name="vs-graph-gemini-box">
            <a:extLst xmlns:a="http://schemas.openxmlformats.org/drawingml/2006/main">
              <a:ext uri="{FF2B5EF4-FFF2-40B4-BE49-F238E27FC236}">
                <a16:creationId xmlns:a16="http://schemas.microsoft.com/office/drawing/2014/main" id="{87E03A52-BF87-4400-A5AD-ADD5E2C1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619375"/>
            <a:ext cx="1371600" cy="5810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8765"/>
          </a:solidFill>
          <a:ln xmlns:a="http://schemas.openxmlformats.org/drawingml/2006/main" w="11430">
            <a:solidFill>
              <a:srgbClr val="168765"/>
            </a:solidFill>
            <a:prstDash val="solid"/>
          </a:ln>
        </p:spPr>
      </p:sp>
      <p:sp>
        <p:nvSpPr>
          <p:cNvPr id="301" name="vs-graph-gemini-title">
            <a:extLst xmlns:a="http://schemas.openxmlformats.org/drawingml/2006/main">
              <a:ext uri="{FF2B5EF4-FFF2-40B4-BE49-F238E27FC236}">
                <a16:creationId xmlns:a16="http://schemas.microsoft.com/office/drawing/2014/main" id="{A0D145AF-88A9-44A1-8FA5-EB422526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2628900"/>
            <a:ext cx="1295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Video-wise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Summary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(Qwen Source)</a:t>
            </a:r>
          </a:p>
        </p:txBody>
      </p:sp>
      <p:sp>
        <p:nvSpPr>
          <p:cNvPr id="304" name="graph-gemini-embed-box">
            <a:extLst xmlns:a="http://schemas.openxmlformats.org/drawingml/2006/main">
              <a:ext uri="{FF2B5EF4-FFF2-40B4-BE49-F238E27FC236}">
                <a16:creationId xmlns:a16="http://schemas.microsoft.com/office/drawing/2014/main" id="{437904B7-6CAB-4F10-93E3-DA5099DB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619375"/>
            <a:ext cx="866775" cy="5715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5F0"/>
          </a:solidFill>
          <a:ln xmlns:a="http://schemas.openxmlformats.org/drawingml/2006/main" w="11430">
            <a:solidFill>
              <a:srgbClr val="A8D8C8"/>
            </a:solidFill>
            <a:prstDash val="solid"/>
          </a:ln>
        </p:spPr>
      </p:sp>
      <p:sp>
        <p:nvSpPr>
          <p:cNvPr id="305" name="graph-gemini-embed-title">
            <a:extLst xmlns:a="http://schemas.openxmlformats.org/drawingml/2006/main">
              <a:ext uri="{FF2B5EF4-FFF2-40B4-BE49-F238E27FC236}">
                <a16:creationId xmlns:a16="http://schemas.microsoft.com/office/drawing/2014/main" id="{43BBD819-A0A5-4FBA-86FC-890116E0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975" y="2667000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BGE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Embedd-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88" b="1">
                <a:solidFill>
                  <a:srgbClr val="16876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68765"/>
                </a:solidFill>
                <a:latin typeface="Arial"/>
                <a:ea typeface="Arial"/>
                <a:cs typeface="Arial"/>
              </a:rPr>
              <a:t>ing</a:t>
            </a:r>
          </a:p>
        </p:txBody>
      </p:sp>
      <p:sp>
        <p:nvSpPr>
          <p:cNvPr id="306" name="graph-gemini-embed-to-sasrec">
            <a:extLst xmlns:a="http://schemas.openxmlformats.org/drawingml/2006/main">
              <a:ext uri="{FF2B5EF4-FFF2-40B4-BE49-F238E27FC236}">
                <a16:creationId xmlns:a16="http://schemas.microsoft.com/office/drawing/2014/main" id="{6B99462E-2BDF-46A3-A754-7824343D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25" y="2838450"/>
            <a:ext cx="257175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307" name="sasrec-graph-gemini-box">
            <a:extLst xmlns:a="http://schemas.openxmlformats.org/drawingml/2006/main">
              <a:ext uri="{FF2B5EF4-FFF2-40B4-BE49-F238E27FC236}">
                <a16:creationId xmlns:a16="http://schemas.microsoft.com/office/drawing/2014/main" id="{97E580C6-935D-4674-8100-D7D97449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619375"/>
            <a:ext cx="914400" cy="5715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8765"/>
          </a:solidFill>
          <a:ln xmlns:a="http://schemas.openxmlformats.org/drawingml/2006/main" w="11430">
            <a:solidFill>
              <a:srgbClr val="168765"/>
            </a:solidFill>
            <a:prstDash val="solid"/>
          </a:ln>
        </p:spPr>
      </p:sp>
      <p:sp>
        <p:nvSpPr>
          <p:cNvPr id="308" name="sasrec-graph-gemini-title">
            <a:extLst xmlns:a="http://schemas.openxmlformats.org/drawingml/2006/main">
              <a:ext uri="{FF2B5EF4-FFF2-40B4-BE49-F238E27FC236}">
                <a16:creationId xmlns:a16="http://schemas.microsoft.com/office/drawing/2014/main" id="{A71C181C-3382-4FB4-ABF1-4808807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26289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SASRec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_Gemini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309" name="gemini-to-rec">
            <a:extLst xmlns:a="http://schemas.openxmlformats.org/drawingml/2006/main">
              <a:ext uri="{FF2B5EF4-FFF2-40B4-BE49-F238E27FC236}">
                <a16:creationId xmlns:a16="http://schemas.microsoft.com/office/drawing/2014/main" id="{1E0A4EDA-9122-4844-9B0C-0C250E65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838450"/>
            <a:ext cx="571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cxnSp>
        <p:nvCxnSpPr>
          <p:cNvPr id="654" name="gemini-to-evaluation-collector"/>
          <p:cNvCxnSpPr/>
          <p:nvPr/>
        </p:nvCxnSpPr>
        <p:spPr>
          <a:xfrm xmlns:a="http://schemas.openxmlformats.org/drawingml/2006/main" rot="0">
            <a:off x="9791700" y="28956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765"/>
            </a:solidFill>
            <a:prstDash val="solid"/>
          </a:ln>
        </p:spPr>
      </p:cxnSp>
      <p:sp>
        <p:nvSpPr>
          <p:cNvPr id="549" name="input-to-gemini-graph">
            <a:extLst xmlns:a="http://schemas.openxmlformats.org/drawingml/2006/main">
              <a:ext uri="{FF2B5EF4-FFF2-40B4-BE49-F238E27FC236}">
                <a16:creationId xmlns:a16="http://schemas.microsoft.com/office/drawing/2014/main" id="{030D0FDA-4FEA-40CE-B5E8-EBACF4E1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47975"/>
            <a:ext cx="5524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765"/>
          </a:solidFill>
          <a:ln xmlns:a="http://schemas.openxmlformats.org/drawingml/2006/main" w="0">
            <a:solidFill>
              <a:srgbClr val="168765"/>
            </a:solidFill>
            <a:prstDash val="solid"/>
          </a:ln>
        </p:spPr>
      </p:sp>
      <p:sp>
        <p:nvSpPr>
          <p:cNvPr id="550" name="input-to-description">
            <a:extLst xmlns:a="http://schemas.openxmlformats.org/drawingml/2006/main">
              <a:ext uri="{FF2B5EF4-FFF2-40B4-BE49-F238E27FC236}">
                <a16:creationId xmlns:a16="http://schemas.microsoft.com/office/drawing/2014/main" id="{621522BB-9662-4F2B-8953-AB1E6E89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76725"/>
            <a:ext cx="5810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8E8"/>
          </a:solidFill>
          <a:ln xmlns:a="http://schemas.openxmlformats.org/drawingml/2006/main" w="0">
            <a:solidFill>
              <a:srgbClr val="2F78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6741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2026-08-27T10:45:30.2310000Z</dcterms:created>
  <dcterms:modified xsi:type="dcterms:W3CDTF">2026-08-27T10:45:30.2310000Z</dcterms:modified>
</coreProperties>
</file>