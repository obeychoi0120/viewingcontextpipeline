
<file path=[Content_Types].xml><?xml version="1.0" encoding="utf-8"?>
<ns0:Types xmlns:ns0="http://schemas.openxmlformats.org/package/2006/content-types"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notesMasters/notesMaster1.xml" ContentType="application/vnd.openxmlformats-officedocument.presentationml.notesMaster+xml"/>
  <ns0:Override PartName="/ppt/notesMasters/theme/theme3.xml" ContentType="application/vnd.openxmlformats-officedocument.theme+xml"/>
  <ns0:Override PartName="/ppt/notesSlides/notesSlide1.xml" ContentType="application/vnd.openxmlformats-officedocument.presentationml.notesSlide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Masters/theme/theme2.xml" ContentType="application/vnd.openxmlformats-officedocument.theme+xml"/>
  <ns0:Override PartName="/ppt/slides/slide1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Default Extension="png" ContentType="image/png"/>
</ns0:Types>
</file>

<file path=_rels/.rels><?xml version='1.0' encoding='utf-8'?>
<ns0:Relationships xmlns:ns0="http://schemas.openxmlformats.org/package/2006/relationships"><ns0:Relationship Id="R7b18003a191142ca" Type="http://schemas.openxmlformats.org/officeDocument/2006/relationships/extended-properties" Target="docProps/app.xml" /><ns0:Relationship Id="Rd3d03bf1bcb148a6" Type="http://schemas.openxmlformats.org/officeDocument/2006/relationships/officeDocument" Target="ppt/presentation.xml" /><ns0:Relationship Id="Rfe3584cb18a940d1" Type="http://schemas.openxmlformats.org/package/2006/relationships/metadata/core-properties" Target="docProps/core.xml" /></ns0: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c72ec879684472"/>
  </p:sldMasterIdLst>
  <p:notesMasterIdLst>
    <p:notesMasterId xmlns:r="http://schemas.openxmlformats.org/officeDocument/2006/relationships" r:id="Rbe5fe164da824643"/>
  </p:notesMasterIdLst>
  <p:sldIdLst>
    <p:sldId xmlns:r="http://schemas.openxmlformats.org/officeDocument/2006/relationships" id="256" r:id="R4d3ca1d382464701"/>
  </p:sldIdLst>
  <p:sldSz cx="12192000" cy="6764967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6a8088ba04c4819" Type="http://schemas.openxmlformats.org/officeDocument/2006/relationships/tableStyles" Target="tableStyles.xml"/><Relationship Id="R34bf241ecab940d0" Type="http://schemas.openxmlformats.org/officeDocument/2006/relationships/theme" Target="theme/theme1.xml"/><Relationship Id="R4d3ca1d382464701" Type="http://schemas.openxmlformats.org/officeDocument/2006/relationships/slide" Target="slides/slide1.xml"/><Relationship Id="R78c72ec879684472" Type="http://schemas.openxmlformats.org/officeDocument/2006/relationships/slideMaster" Target="slideMasters/slideMaster1.xml"/><Relationship Id="Rbe5fe164da824643" Type="http://schemas.openxmlformats.org/officeDocument/2006/relationships/notesMaster" Target="notesMasters/notesMaster1.xml"/><Relationship Id="Rdae4699d67b64bb6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6fe28b0d09ce4b9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40084185a36b475e" Type="http://schemas.openxmlformats.org/officeDocument/2006/relationships/notesMaster" Target="../notesMasters/notesMaster1.xml"/><Relationship Id="R599ed340664a4f04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AS-IS synchronization to docs/design/ViewingContextPipeline_260907.png. The visible text, four arm paths, editable shapes and layout follow that PNG. Its legacy catalog definition and Catalog spread label are intentionally preserved. The v4 TO-BE concept is a separate image and is not applied to this presentation.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4eea56609ea945f9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4393e9a3c9bc41e1" Type="http://schemas.openxmlformats.org/officeDocument/2006/relationships/theme" Target="theme/theme2.xml"/><Relationship Id="R44fdfb258ead438e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4fdfb258ead43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aa18b92b1e2446a" Type="http://schemas.openxmlformats.org/officeDocument/2006/relationships/slideLayout" Target="../slideLayouts/slideLayout1.xml"/><Relationship Id="Rfbefa75168194a6d" Type="http://schemas.openxmlformats.org/officeDocument/2006/relationships/notesSlide" Target="../notesSlides/notesSlide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itle"/>
          <p:cNvSpPr txBox="1"/>
          <p:nvPr/>
        </p:nvSpPr>
        <p:spPr>
          <a:xfrm>
            <a:off x="345281" y="196453"/>
            <a:ext cx="11013281" cy="4524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25" b="1">
                <a:solidFill>
                  <a:srgbClr val="101218"/>
                </a:solidFill>
                <a:latin typeface="Arial"/>
                <a:ea typeface="Malgun Gothic"/>
              </a:rPr>
              <a:t>Viewing Context Validation PoC Pipeline</a:t>
            </a:r>
          </a:p>
        </p:txBody>
      </p:sp>
      <p:sp xmlns:a="http://schemas.openxmlformats.org/drawingml/2006/main">
        <p:nvSpPr>
          <p:cNvPr id="3" name="subtitle"/>
          <p:cNvSpPr txBox="1"/>
          <p:nvPr/>
        </p:nvSpPr>
        <p:spPr>
          <a:xfrm>
            <a:off x="345281" y="666750"/>
            <a:ext cx="9525000" cy="26789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3" b="0">
                <a:solidFill>
                  <a:srgbClr val="737E8D"/>
                </a:solidFill>
                <a:latin typeface="Arial"/>
                <a:ea typeface="Malgun Gothic"/>
              </a:rPr>
              <a:t>MicroLens-100K Dataset 사용 버전</a:t>
            </a:r>
          </a:p>
        </p:txBody>
      </p:sp>
      <p:sp xmlns:a="http://schemas.openxmlformats.org/drawingml/2006/main">
        <p:nvSpPr>
          <p:cNvPr id="4" name="section-01"/>
          <p:cNvSpPr txBox="1"/>
          <p:nvPr/>
        </p:nvSpPr>
        <p:spPr>
          <a:xfrm>
            <a:off x="345281" y="1137047"/>
            <a:ext cx="1994297" cy="2321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737E8D"/>
                </a:solidFill>
                <a:latin typeface="Arial"/>
                <a:ea typeface="Malgun Gothic"/>
              </a:rPr>
              <a:t>01  Data Preparation</a:t>
            </a:r>
          </a:p>
        </p:txBody>
      </p:sp>
      <p:sp xmlns:a="http://schemas.openxmlformats.org/drawingml/2006/main">
        <p:nvSpPr>
          <p:cNvPr id="5" name="section-02"/>
          <p:cNvSpPr txBox="1"/>
          <p:nvPr/>
        </p:nvSpPr>
        <p:spPr>
          <a:xfrm>
            <a:off x="2601516" y="1137047"/>
            <a:ext cx="4107656" cy="2321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737E8D"/>
                </a:solidFill>
                <a:latin typeface="Arial"/>
                <a:ea typeface="Malgun Gothic"/>
              </a:rPr>
              <a:t>02  Viewing Context Extraction</a:t>
            </a:r>
          </a:p>
        </p:txBody>
      </p:sp>
      <p:sp xmlns:a="http://schemas.openxmlformats.org/drawingml/2006/main">
        <p:nvSpPr>
          <p:cNvPr id="6" name="section-03"/>
          <p:cNvSpPr txBox="1"/>
          <p:nvPr/>
        </p:nvSpPr>
        <p:spPr>
          <a:xfrm>
            <a:off x="7102078" y="1184672"/>
            <a:ext cx="3452812" cy="2083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737E8D"/>
                </a:solidFill>
                <a:latin typeface="Arial"/>
                <a:ea typeface="Malgun Gothic"/>
              </a:rPr>
              <a:t>03  Embedding &amp; Recommendation</a:t>
            </a:r>
          </a:p>
        </p:txBody>
      </p:sp>
      <p:sp xmlns:a="http://schemas.openxmlformats.org/drawingml/2006/main">
        <p:nvSpPr>
          <p:cNvPr id="7" name="section-04"/>
          <p:cNvSpPr txBox="1"/>
          <p:nvPr/>
        </p:nvSpPr>
        <p:spPr>
          <a:xfrm>
            <a:off x="10596562" y="1137047"/>
            <a:ext cx="1518047" cy="2321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737E8D"/>
                </a:solidFill>
                <a:latin typeface="Arial"/>
                <a:ea typeface="Malgun Gothic"/>
              </a:rPr>
              <a:t>04  Evaluation</a:t>
            </a:r>
          </a:p>
        </p:txBody>
      </p:sp>
      <p:sp xmlns:a="http://schemas.openxmlformats.org/drawingml/2006/main">
        <p:nvSpPr>
          <p:cNvPr id="8" name="visual-input-panel"/>
          <p:cNvSpPr/>
          <p:nvPr/>
        </p:nvSpPr>
        <p:spPr>
          <a:xfrm>
            <a:off x="339328" y="1559719"/>
            <a:ext cx="1922859" cy="3256359"/>
          </a:xfrm>
          <a:prstGeom prst="roundRect">
            <a:avLst>
              <a:gd name="adj" fmla="val 4024"/>
            </a:avLst>
          </a:prstGeom>
          <a:solidFill>
            <a:srgbClr val="F5F6F8"/>
          </a:solidFill>
          <a:ln w="11906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" name="metadata-input-panel"/>
          <p:cNvSpPr/>
          <p:nvPr/>
        </p:nvSpPr>
        <p:spPr>
          <a:xfrm>
            <a:off x="339328" y="4899422"/>
            <a:ext cx="1922859" cy="1791891"/>
          </a:xfrm>
          <a:prstGeom prst="roundRect">
            <a:avLst>
              <a:gd name="adj" fmla="val 4318"/>
            </a:avLst>
          </a:prstGeom>
          <a:solidFill>
            <a:srgbClr val="F5F6F8"/>
          </a:solidFill>
          <a:ln w="11906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0" name="graph-arms-panel"/>
          <p:cNvSpPr/>
          <p:nvPr/>
        </p:nvSpPr>
        <p:spPr>
          <a:xfrm>
            <a:off x="2321719" y="1559719"/>
            <a:ext cx="8227219" cy="1815703"/>
          </a:xfrm>
          <a:prstGeom prst="roundRect">
            <a:avLst>
              <a:gd name="adj" fmla="val 5901"/>
            </a:avLst>
          </a:prstGeom>
          <a:solidFill>
            <a:srgbClr val="E7F5F0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1" name="description-arm-panel"/>
          <p:cNvSpPr/>
          <p:nvPr/>
        </p:nvSpPr>
        <p:spPr>
          <a:xfrm>
            <a:off x="2321719" y="3458766"/>
            <a:ext cx="8227219" cy="1357312"/>
          </a:xfrm>
          <a:prstGeom prst="roundRect">
            <a:avLst>
              <a:gd name="adj" fmla="val 6140"/>
            </a:avLst>
          </a:prstGeom>
          <a:solidFill>
            <a:srgbClr val="EAF2FF"/>
          </a:solidFill>
          <a:ln w="11906">
            <a:solidFill>
              <a:srgbClr val="BCD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metadata-arm-panel"/>
          <p:cNvSpPr/>
          <p:nvPr/>
        </p:nvSpPr>
        <p:spPr>
          <a:xfrm>
            <a:off x="2321719" y="4899422"/>
            <a:ext cx="8227219" cy="1791891"/>
          </a:xfrm>
          <a:prstGeom prst="roundRect">
            <a:avLst>
              <a:gd name="adj" fmla="val 4651"/>
            </a:avLst>
          </a:prstGeom>
          <a:solidFill>
            <a:srgbClr val="FBFBFB"/>
          </a:solidFill>
          <a:ln w="11906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evaluation-panel"/>
          <p:cNvSpPr/>
          <p:nvPr/>
        </p:nvSpPr>
        <p:spPr>
          <a:xfrm>
            <a:off x="10608469" y="1559719"/>
            <a:ext cx="1303734" cy="5131594"/>
          </a:xfrm>
          <a:prstGeom prst="roundRect">
            <a:avLst>
              <a:gd name="adj" fmla="val 4109"/>
            </a:avLst>
          </a:prstGeom>
          <a:solidFill>
            <a:srgbClr val="FFF2DD"/>
          </a:solidFill>
          <a:ln w="11906">
            <a:solidFill>
              <a:srgbClr val="E9B9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4" name="graph-arm-label"/>
          <p:cNvSpPr txBox="1"/>
          <p:nvPr/>
        </p:nvSpPr>
        <p:spPr>
          <a:xfrm>
            <a:off x="2452688" y="1625203"/>
            <a:ext cx="2976562" cy="21431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168765"/>
                </a:solidFill>
                <a:latin typeface="Arial"/>
                <a:ea typeface="Malgun Gothic"/>
              </a:rPr>
              <a:t>Graph Arms</a:t>
            </a:r>
          </a:p>
        </p:txBody>
      </p:sp>
      <p:sp xmlns:a="http://schemas.openxmlformats.org/drawingml/2006/main">
        <p:nvSpPr>
          <p:cNvPr id="15" name="description-arm-label"/>
          <p:cNvSpPr txBox="1"/>
          <p:nvPr/>
        </p:nvSpPr>
        <p:spPr>
          <a:xfrm>
            <a:off x="2452688" y="3548062"/>
            <a:ext cx="2976562" cy="2083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2F78E8"/>
                </a:solidFill>
                <a:latin typeface="Arial"/>
                <a:ea typeface="Malgun Gothic"/>
              </a:rPr>
              <a:t>Description Arm</a:t>
            </a:r>
          </a:p>
        </p:txBody>
      </p:sp>
      <p:sp xmlns:a="http://schemas.openxmlformats.org/drawingml/2006/main">
        <p:nvSpPr>
          <p:cNvPr id="16" name="metadata-arm-label"/>
          <p:cNvSpPr txBox="1"/>
          <p:nvPr/>
        </p:nvSpPr>
        <p:spPr>
          <a:xfrm>
            <a:off x="2452688" y="4964906"/>
            <a:ext cx="3036094" cy="37504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747474"/>
                </a:solidFill>
                <a:latin typeface="Arial"/>
                <a:ea typeface="Malgun Gothic"/>
              </a:rPr>
              <a:t>Metadata Arm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747474"/>
                </a:solidFill>
                <a:latin typeface="Arial"/>
                <a:ea typeface="Malgun Gothic"/>
              </a:rPr>
              <a:t>(Baseline)</a:t>
            </a:r>
          </a:p>
        </p:txBody>
      </p:sp>
      <p:sp xmlns:a="http://schemas.openxmlformats.org/drawingml/2006/main">
        <p:nvSpPr>
          <p:cNvPr id="17" name="keyframes-card"/>
          <p:cNvSpPr/>
          <p:nvPr/>
        </p:nvSpPr>
        <p:spPr>
          <a:xfrm>
            <a:off x="529828" y="2041922"/>
            <a:ext cx="1595438" cy="1333500"/>
          </a:xfrm>
          <a:prstGeom prst="roundRect">
            <a:avLst>
              <a:gd name="adj" fmla="val 10267"/>
            </a:avLst>
          </a:prstGeom>
          <a:solidFill>
            <a:srgbClr val="FFFFFF"/>
          </a:solidFill>
          <a:ln w="11906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8" name="keyframes-title"/>
          <p:cNvSpPr txBox="1"/>
          <p:nvPr/>
        </p:nvSpPr>
        <p:spPr>
          <a:xfrm>
            <a:off x="601266" y="2095500"/>
            <a:ext cx="1452562" cy="41671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01218"/>
                </a:solidFill>
                <a:latin typeface="Arial"/>
                <a:ea typeface="Malgun Gothic"/>
              </a:rPr>
              <a:t>Video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01218"/>
                </a:solidFill>
                <a:latin typeface="Arial"/>
                <a:ea typeface="Malgun Gothic"/>
              </a:rPr>
              <a:t>Keyframes</a:t>
            </a:r>
          </a:p>
        </p:txBody>
      </p:sp>
      <p:sp xmlns:a="http://schemas.openxmlformats.org/drawingml/2006/main">
        <p:nvSpPr>
          <p:cNvPr id="19" name="keyframe-icon-0"/>
          <p:cNvSpPr/>
          <p:nvPr/>
        </p:nvSpPr>
        <p:spPr>
          <a:xfrm>
            <a:off x="1012031" y="2601516"/>
            <a:ext cx="351234" cy="309562"/>
          </a:xfrm>
          <a:prstGeom prst="rect">
            <a:avLst/>
          </a:prstGeom>
          <a:solidFill>
            <a:srgbClr val="F2F2F2"/>
          </a:solidFill>
          <a:ln w="17859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0" name="keyframe-icon-1"/>
          <p:cNvSpPr/>
          <p:nvPr/>
        </p:nvSpPr>
        <p:spPr>
          <a:xfrm>
            <a:off x="1166812" y="2756297"/>
            <a:ext cx="351234" cy="309562"/>
          </a:xfrm>
          <a:prstGeom prst="rect">
            <a:avLst/>
          </a:prstGeom>
          <a:solidFill>
            <a:srgbClr val="F2F2F2"/>
          </a:solidFill>
          <a:ln w="17859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1" name="keyframe-icon-2"/>
          <p:cNvSpPr/>
          <p:nvPr/>
        </p:nvSpPr>
        <p:spPr>
          <a:xfrm>
            <a:off x="1321594" y="2911078"/>
            <a:ext cx="351234" cy="309562"/>
          </a:xfrm>
          <a:prstGeom prst="rect">
            <a:avLst/>
          </a:prstGeom>
          <a:solidFill>
            <a:srgbClr val="F2F2F2"/>
          </a:solidFill>
          <a:ln w="17859">
            <a:solidFill>
              <a:srgbClr val="A6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2" name="visual-sequence-card"/>
          <p:cNvSpPr/>
          <p:nvPr/>
        </p:nvSpPr>
        <p:spPr>
          <a:xfrm>
            <a:off x="529828" y="3470672"/>
            <a:ext cx="1595438" cy="714375"/>
          </a:xfrm>
          <a:prstGeom prst="roundRect">
            <a:avLst>
              <a:gd name="adj" fmla="val 9166"/>
            </a:avLst>
          </a:prstGeom>
          <a:solidFill>
            <a:srgbClr val="FFFFFF"/>
          </a:solidFill>
          <a:ln w="11906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3" name="visual-sequence-title"/>
          <p:cNvSpPr txBox="1"/>
          <p:nvPr/>
        </p:nvSpPr>
        <p:spPr>
          <a:xfrm>
            <a:off x="589359" y="3577828"/>
            <a:ext cx="1476375" cy="24407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01218"/>
                </a:solidFill>
                <a:latin typeface="Arial"/>
                <a:ea typeface="Malgun Gothic"/>
              </a:rPr>
              <a:t>Item ID Sequence</a:t>
            </a:r>
          </a:p>
        </p:txBody>
      </p:sp>
      <p:sp xmlns:a="http://schemas.openxmlformats.org/drawingml/2006/main">
        <p:nvSpPr>
          <p:cNvPr id="24" name="visual-sequence-example"/>
          <p:cNvSpPr txBox="1"/>
          <p:nvPr/>
        </p:nvSpPr>
        <p:spPr>
          <a:xfrm>
            <a:off x="595312" y="3845719"/>
            <a:ext cx="1464469" cy="25003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37E8D"/>
                </a:solidFill>
                <a:latin typeface="Arial"/>
                <a:ea typeface="Malgun Gothic"/>
              </a:rPr>
              <a:t>[12, 87, 310, …]</a:t>
            </a:r>
          </a:p>
        </p:txBody>
      </p:sp>
      <p:sp xmlns:a="http://schemas.openxmlformats.org/drawingml/2006/main">
        <p:nvSpPr>
          <p:cNvPr id="25" name="english-title-card"/>
          <p:cNvSpPr/>
          <p:nvPr/>
        </p:nvSpPr>
        <p:spPr>
          <a:xfrm>
            <a:off x="506016" y="5048250"/>
            <a:ext cx="1589484" cy="72032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1906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6" name="english-title-label"/>
          <p:cNvSpPr txBox="1"/>
          <p:nvPr/>
        </p:nvSpPr>
        <p:spPr>
          <a:xfrm>
            <a:off x="571500" y="5060156"/>
            <a:ext cx="1458516" cy="2321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01218"/>
                </a:solidFill>
                <a:latin typeface="Arial"/>
                <a:ea typeface="Malgun Gothic"/>
              </a:rPr>
              <a:t>English Title</a:t>
            </a:r>
          </a:p>
        </p:txBody>
      </p:sp>
      <p:sp xmlns:a="http://schemas.openxmlformats.org/drawingml/2006/main">
        <p:nvSpPr>
          <p:cNvPr id="27" name="english-title-example"/>
          <p:cNvSpPr txBox="1"/>
          <p:nvPr/>
        </p:nvSpPr>
        <p:spPr>
          <a:xfrm>
            <a:off x="571500" y="5328047"/>
            <a:ext cx="1458516" cy="41076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0">
                <a:solidFill>
                  <a:srgbClr val="737E8D"/>
                </a:solidFill>
                <a:latin typeface="Arial"/>
                <a:ea typeface="Malgun Gothic"/>
              </a:rPr>
              <a:t>[Gu long song gaga bad,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0">
                <a:solidFill>
                  <a:srgbClr val="737E8D"/>
                </a:solidFill>
                <a:latin typeface="Arial"/>
                <a:ea typeface="Malgun Gothic"/>
              </a:rPr>
              <a:t>This sudden reversal,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0">
                <a:solidFill>
                  <a:srgbClr val="737E8D"/>
                </a:solidFill>
                <a:latin typeface="Arial"/>
                <a:ea typeface="Malgun Gothic"/>
              </a:rPr>
              <a:t>the iron Putin, …]</a:t>
            </a:r>
          </a:p>
        </p:txBody>
      </p:sp>
      <p:sp xmlns:a="http://schemas.openxmlformats.org/drawingml/2006/main">
        <p:nvSpPr>
          <p:cNvPr id="28" name="metadata-sequence-card"/>
          <p:cNvSpPr/>
          <p:nvPr/>
        </p:nvSpPr>
        <p:spPr>
          <a:xfrm>
            <a:off x="500062" y="5869781"/>
            <a:ext cx="1601391" cy="720328"/>
          </a:xfrm>
          <a:prstGeom prst="roundRect">
            <a:avLst>
              <a:gd name="adj" fmla="val 9090"/>
            </a:avLst>
          </a:prstGeom>
          <a:solidFill>
            <a:srgbClr val="FFFFFF"/>
          </a:solidFill>
          <a:ln w="11906">
            <a:solidFill>
              <a:srgbClr val="CCD1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29" name="metadata-sequence-title"/>
          <p:cNvSpPr txBox="1"/>
          <p:nvPr/>
        </p:nvSpPr>
        <p:spPr>
          <a:xfrm>
            <a:off x="571500" y="5988844"/>
            <a:ext cx="1458516" cy="232172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101218"/>
                </a:solidFill>
                <a:latin typeface="Arial"/>
                <a:ea typeface="Malgun Gothic"/>
              </a:rPr>
              <a:t>Item ID Sequence</a:t>
            </a:r>
          </a:p>
        </p:txBody>
      </p:sp>
      <p:sp xmlns:a="http://schemas.openxmlformats.org/drawingml/2006/main">
        <p:nvSpPr>
          <p:cNvPr id="30" name="metadata-sequence-example"/>
          <p:cNvSpPr txBox="1"/>
          <p:nvPr/>
        </p:nvSpPr>
        <p:spPr>
          <a:xfrm>
            <a:off x="577453" y="6250781"/>
            <a:ext cx="1446609" cy="25598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0">
                <a:solidFill>
                  <a:srgbClr val="737E8D"/>
                </a:solidFill>
                <a:latin typeface="Arial"/>
                <a:ea typeface="Malgun Gothic"/>
              </a:rPr>
              <a:t>[12, 87, 310, …]</a:t>
            </a:r>
          </a:p>
        </p:txBody>
      </p:sp>
      <p:sp xmlns:a="http://schemas.openxmlformats.org/drawingml/2006/main">
        <p:nvSpPr>
          <p:cNvPr id="31" name="qwen-graph-extraction"/>
          <p:cNvSpPr/>
          <p:nvPr/>
        </p:nvSpPr>
        <p:spPr>
          <a:xfrm>
            <a:off x="2321719" y="1857375"/>
            <a:ext cx="1154906" cy="535781"/>
          </a:xfrm>
          <a:custGeom>
            <a:avLst/>
            <a:gdLst/>
            <a:ahLst/>
            <a:cxnLst/>
            <a:rect l="l" t="t" r="r" b="b"/>
            <a:pathLst>
              <a:path w="1154906" h="535781">
                <a:moveTo>
                  <a:pt x="0" y="0"/>
                </a:moveTo>
                <a:lnTo>
                  <a:pt x="994172" y="0"/>
                </a:lnTo>
                <a:lnTo>
                  <a:pt x="1154906" y="267891"/>
                </a:lnTo>
                <a:lnTo>
                  <a:pt x="994172" y="535781"/>
                </a:lnTo>
                <a:lnTo>
                  <a:pt x="0" y="535781"/>
                </a:lnTo>
                <a:close/>
              </a:path>
            </a:pathLst>
          </a:custGeom>
          <a:solidFill>
            <a:srgbClr val="16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2" name="qwen-graph-extraction-text"/>
          <p:cNvSpPr txBox="1"/>
          <p:nvPr/>
        </p:nvSpPr>
        <p:spPr>
          <a:xfrm>
            <a:off x="2357438" y="1881188"/>
            <a:ext cx="982266" cy="4881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FFFFFF"/>
                </a:solidFill>
                <a:latin typeface="Arial"/>
                <a:ea typeface="Malgun Gothic"/>
              </a:rPr>
              <a:t>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FFFFFF"/>
                </a:solidFill>
                <a:latin typeface="Arial"/>
                <a:ea typeface="Malgun Gothic"/>
              </a:rPr>
              <a:t>Extraction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>
                <a:solidFill>
                  <a:srgbClr val="FFFFFF"/>
                </a:solidFill>
                <a:latin typeface="Arial"/>
                <a:ea typeface="Malgun Gothic"/>
              </a:rPr>
              <a:t>Qwen3-VL-2B</a:t>
            </a:r>
          </a:p>
        </p:txBody>
      </p:sp>
      <p:sp xmlns:a="http://schemas.openxmlformats.org/drawingml/2006/main">
        <p:nvSpPr>
          <p:cNvPr id="33" name="qwen-scene-graphs-page-3"/>
          <p:cNvSpPr/>
          <p:nvPr/>
        </p:nvSpPr>
        <p:spPr>
          <a:xfrm>
            <a:off x="3631406" y="1964531"/>
            <a:ext cx="839391" cy="506016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4" name="qwen-scene-graphs-page-2"/>
          <p:cNvSpPr/>
          <p:nvPr/>
        </p:nvSpPr>
        <p:spPr>
          <a:xfrm>
            <a:off x="3595688" y="1922859"/>
            <a:ext cx="839391" cy="506016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5" name="qwen-scene-graphs-page-1"/>
          <p:cNvSpPr/>
          <p:nvPr/>
        </p:nvSpPr>
        <p:spPr>
          <a:xfrm>
            <a:off x="3559969" y="1881188"/>
            <a:ext cx="839391" cy="506016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6" name="qwen-scene-graphs-page-0"/>
          <p:cNvSpPr/>
          <p:nvPr/>
        </p:nvSpPr>
        <p:spPr>
          <a:xfrm>
            <a:off x="3524250" y="1839516"/>
            <a:ext cx="839391" cy="506016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7" name="qwen-scene-graphs-text"/>
          <p:cNvSpPr txBox="1"/>
          <p:nvPr/>
        </p:nvSpPr>
        <p:spPr>
          <a:xfrm>
            <a:off x="3559969" y="1857375"/>
            <a:ext cx="767953" cy="4702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Scene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Context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Graph</a:t>
            </a:r>
          </a:p>
        </p:txBody>
      </p:sp>
      <p:sp xmlns:a="http://schemas.openxmlformats.org/drawingml/2006/main">
        <p:nvSpPr>
          <p:cNvPr id="38" name="qwen-graph-summarization"/>
          <p:cNvSpPr/>
          <p:nvPr/>
        </p:nvSpPr>
        <p:spPr>
          <a:xfrm>
            <a:off x="4554141" y="1857375"/>
            <a:ext cx="1214437" cy="535781"/>
          </a:xfrm>
          <a:custGeom>
            <a:avLst/>
            <a:gdLst/>
            <a:ahLst/>
            <a:cxnLst/>
            <a:rect l="l" t="t" r="r" b="b"/>
            <a:pathLst>
              <a:path w="1214437" h="535781">
                <a:moveTo>
                  <a:pt x="0" y="0"/>
                </a:moveTo>
                <a:lnTo>
                  <a:pt x="1053703" y="0"/>
                </a:lnTo>
                <a:lnTo>
                  <a:pt x="1214437" y="267891"/>
                </a:lnTo>
                <a:lnTo>
                  <a:pt x="1053703" y="535781"/>
                </a:lnTo>
                <a:lnTo>
                  <a:pt x="0" y="535781"/>
                </a:lnTo>
                <a:close/>
              </a:path>
            </a:pathLst>
          </a:custGeom>
          <a:solidFill>
            <a:srgbClr val="16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39" name="qwen-graph-summarization-text"/>
          <p:cNvSpPr txBox="1"/>
          <p:nvPr/>
        </p:nvSpPr>
        <p:spPr>
          <a:xfrm>
            <a:off x="4589859" y="1881188"/>
            <a:ext cx="1041797" cy="4881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FFFFFF"/>
                </a:solidFill>
                <a:latin typeface="Arial"/>
                <a:ea typeface="Malgun Gothic"/>
              </a:rPr>
              <a:t>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FFFFFF"/>
                </a:solidFill>
                <a:latin typeface="Arial"/>
                <a:ea typeface="Malgun Gothic"/>
              </a:rPr>
              <a:t>Summarization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FFFFFF"/>
                </a:solidFill>
                <a:latin typeface="Arial"/>
                <a:ea typeface="Malgun Gothic"/>
              </a:rPr>
              <a:t>Qwen3-VL-2B</a:t>
            </a:r>
          </a:p>
        </p:txBody>
      </p:sp>
      <p:sp xmlns:a="http://schemas.openxmlformats.org/drawingml/2006/main">
        <p:nvSpPr>
          <p:cNvPr id="40" name="qwen-video-summary"/>
          <p:cNvSpPr/>
          <p:nvPr/>
        </p:nvSpPr>
        <p:spPr>
          <a:xfrm>
            <a:off x="5828109" y="1869281"/>
            <a:ext cx="1202531" cy="529828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1" name="qwen-video-summary-text"/>
          <p:cNvSpPr txBox="1"/>
          <p:nvPr/>
        </p:nvSpPr>
        <p:spPr>
          <a:xfrm>
            <a:off x="5863828" y="1893094"/>
            <a:ext cx="1131094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Graph-grounded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Video Summary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(Text)</a:t>
            </a:r>
          </a:p>
        </p:txBody>
      </p:sp>
      <p:sp xmlns:a="http://schemas.openxmlformats.org/drawingml/2006/main">
        <p:nvSpPr>
          <p:cNvPr id="42" name="qwen-text-encoding"/>
          <p:cNvSpPr/>
          <p:nvPr/>
        </p:nvSpPr>
        <p:spPr>
          <a:xfrm>
            <a:off x="7102078" y="1857375"/>
            <a:ext cx="1184672" cy="535781"/>
          </a:xfrm>
          <a:custGeom>
            <a:avLst/>
            <a:gdLst/>
            <a:ahLst/>
            <a:cxnLst/>
            <a:rect l="l" t="t" r="r" b="b"/>
            <a:pathLst>
              <a:path w="1184672" h="535781">
                <a:moveTo>
                  <a:pt x="0" y="0"/>
                </a:moveTo>
                <a:lnTo>
                  <a:pt x="1023938" y="0"/>
                </a:lnTo>
                <a:lnTo>
                  <a:pt x="1184672" y="267891"/>
                </a:lnTo>
                <a:lnTo>
                  <a:pt x="1023938" y="535781"/>
                </a:lnTo>
                <a:lnTo>
                  <a:pt x="0" y="535781"/>
                </a:lnTo>
                <a:close/>
              </a:path>
            </a:pathLst>
          </a:custGeom>
          <a:solidFill>
            <a:srgbClr val="16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3" name="qwen-text-encoding-text"/>
          <p:cNvSpPr txBox="1"/>
          <p:nvPr/>
        </p:nvSpPr>
        <p:spPr>
          <a:xfrm>
            <a:off x="7137797" y="1881188"/>
            <a:ext cx="1012031" cy="4881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FFFFFF"/>
                </a:solidFill>
                <a:latin typeface="Arial"/>
                <a:ea typeface="Malgun Gothic"/>
              </a:rPr>
              <a:t>Text Encoding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0">
                <a:solidFill>
                  <a:srgbClr val="FFFFFF"/>
                </a:solidFill>
                <a:latin typeface="Arial"/>
                <a:ea typeface="Malgun Gothic"/>
              </a:rPr>
              <a:t>BGE-large-en-v1.5</a:t>
            </a:r>
          </a:p>
        </p:txBody>
      </p:sp>
      <p:sp xmlns:a="http://schemas.openxmlformats.org/drawingml/2006/main">
        <p:nvSpPr>
          <p:cNvPr id="44" name="qwen-text-embedding"/>
          <p:cNvSpPr/>
          <p:nvPr/>
        </p:nvSpPr>
        <p:spPr>
          <a:xfrm>
            <a:off x="8316516" y="1869281"/>
            <a:ext cx="869156" cy="529828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5" name="qwen-text-embedding-text"/>
          <p:cNvSpPr txBox="1"/>
          <p:nvPr/>
        </p:nvSpPr>
        <p:spPr>
          <a:xfrm>
            <a:off x="8352234" y="1893094"/>
            <a:ext cx="797719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168765"/>
                </a:solidFill>
                <a:latin typeface="Arial"/>
                <a:ea typeface="Malgun Gothic"/>
              </a:rPr>
              <a:t>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168765"/>
                </a:solidFill>
                <a:latin typeface="Arial"/>
                <a:ea typeface="Malgun Gothic"/>
              </a:rPr>
              <a:t>Embedding</a:t>
            </a:r>
          </a:p>
        </p:txBody>
      </p:sp>
      <p:sp xmlns:a="http://schemas.openxmlformats.org/drawingml/2006/main">
        <p:nvSpPr>
          <p:cNvPr id="46" name="qwen-recommendation"/>
          <p:cNvSpPr/>
          <p:nvPr/>
        </p:nvSpPr>
        <p:spPr>
          <a:xfrm>
            <a:off x="9221391" y="1857375"/>
            <a:ext cx="1327547" cy="535781"/>
          </a:xfrm>
          <a:custGeom>
            <a:avLst/>
            <a:gdLst/>
            <a:ahLst/>
            <a:cxnLst/>
            <a:rect l="l" t="t" r="r" b="b"/>
            <a:pathLst>
              <a:path w="1327547" h="535781">
                <a:moveTo>
                  <a:pt x="0" y="0"/>
                </a:moveTo>
                <a:lnTo>
                  <a:pt x="1166812" y="0"/>
                </a:lnTo>
                <a:lnTo>
                  <a:pt x="1327547" y="267891"/>
                </a:lnTo>
                <a:lnTo>
                  <a:pt x="1166812" y="535781"/>
                </a:lnTo>
                <a:lnTo>
                  <a:pt x="0" y="535781"/>
                </a:lnTo>
                <a:close/>
              </a:path>
            </a:pathLst>
          </a:custGeom>
          <a:solidFill>
            <a:srgbClr val="16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7" name="qwen-recommendation-text"/>
          <p:cNvSpPr txBox="1"/>
          <p:nvPr/>
        </p:nvSpPr>
        <p:spPr>
          <a:xfrm>
            <a:off x="9257109" y="1881188"/>
            <a:ext cx="1154906" cy="4881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FFFFFF"/>
                </a:solidFill>
                <a:latin typeface="Arial"/>
                <a:ea typeface="Malgun Gothic"/>
              </a:rPr>
              <a:t>Recommendation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FFFFFF"/>
                </a:solidFill>
                <a:latin typeface="Arial"/>
                <a:ea typeface="Malgun Gothic"/>
              </a:rPr>
              <a:t>SASRec</a:t>
            </a:r>
          </a:p>
        </p:txBody>
      </p:sp>
      <p:sp xmlns:a="http://schemas.openxmlformats.org/drawingml/2006/main">
        <p:nvSpPr>
          <p:cNvPr id="48" name="gemini-graph-extraction"/>
          <p:cNvSpPr/>
          <p:nvPr/>
        </p:nvSpPr>
        <p:spPr>
          <a:xfrm>
            <a:off x="2321719" y="2553891"/>
            <a:ext cx="1154906" cy="535781"/>
          </a:xfrm>
          <a:custGeom>
            <a:avLst/>
            <a:gdLst/>
            <a:ahLst/>
            <a:cxnLst/>
            <a:rect l="l" t="t" r="r" b="b"/>
            <a:pathLst>
              <a:path w="1154906" h="535781">
                <a:moveTo>
                  <a:pt x="0" y="0"/>
                </a:moveTo>
                <a:lnTo>
                  <a:pt x="994172" y="0"/>
                </a:lnTo>
                <a:lnTo>
                  <a:pt x="1154906" y="267890"/>
                </a:lnTo>
                <a:lnTo>
                  <a:pt x="994172" y="535781"/>
                </a:lnTo>
                <a:lnTo>
                  <a:pt x="0" y="535781"/>
                </a:lnTo>
                <a:close/>
              </a:path>
            </a:pathLst>
          </a:custGeom>
          <a:solidFill>
            <a:srgbClr val="16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49" name="gemini-graph-extraction-text"/>
          <p:cNvSpPr txBox="1"/>
          <p:nvPr/>
        </p:nvSpPr>
        <p:spPr>
          <a:xfrm>
            <a:off x="2357438" y="2577703"/>
            <a:ext cx="982266" cy="4881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FFFFFF"/>
                </a:solidFill>
                <a:latin typeface="Arial"/>
                <a:ea typeface="Malgun Gothic"/>
              </a:rPr>
              <a:t>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FFFFFF"/>
                </a:solidFill>
                <a:latin typeface="Arial"/>
                <a:ea typeface="Malgun Gothic"/>
              </a:rPr>
              <a:t>Extraction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37" b="0">
                <a:solidFill>
                  <a:srgbClr val="FFFFFF"/>
                </a:solidFill>
                <a:latin typeface="Arial"/>
                <a:ea typeface="Malgun Gothic"/>
              </a:rPr>
              <a:t>Gemini 3.7 Flash</a:t>
            </a:r>
          </a:p>
        </p:txBody>
      </p:sp>
      <p:sp xmlns:a="http://schemas.openxmlformats.org/drawingml/2006/main">
        <p:nvSpPr>
          <p:cNvPr id="50" name="gemini-scene-graphs-page-3"/>
          <p:cNvSpPr/>
          <p:nvPr/>
        </p:nvSpPr>
        <p:spPr>
          <a:xfrm>
            <a:off x="3631406" y="2661047"/>
            <a:ext cx="839391" cy="506016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1" name="gemini-scene-graphs-page-2"/>
          <p:cNvSpPr/>
          <p:nvPr/>
        </p:nvSpPr>
        <p:spPr>
          <a:xfrm>
            <a:off x="3595688" y="2619375"/>
            <a:ext cx="839391" cy="506016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2" name="gemini-scene-graphs-page-1"/>
          <p:cNvSpPr/>
          <p:nvPr/>
        </p:nvSpPr>
        <p:spPr>
          <a:xfrm>
            <a:off x="3559969" y="2577703"/>
            <a:ext cx="839391" cy="506016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3" name="gemini-scene-graphs-page-0"/>
          <p:cNvSpPr/>
          <p:nvPr/>
        </p:nvSpPr>
        <p:spPr>
          <a:xfrm>
            <a:off x="3524250" y="2536031"/>
            <a:ext cx="839391" cy="506016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4" name="gemini-scene-graphs-text"/>
          <p:cNvSpPr txBox="1"/>
          <p:nvPr/>
        </p:nvSpPr>
        <p:spPr>
          <a:xfrm>
            <a:off x="3559969" y="2553891"/>
            <a:ext cx="767953" cy="47029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Scene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Context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Graph</a:t>
            </a:r>
          </a:p>
        </p:txBody>
      </p:sp>
      <p:sp xmlns:a="http://schemas.openxmlformats.org/drawingml/2006/main">
        <p:nvSpPr>
          <p:cNvPr id="55" name="gemini-graph-summarization"/>
          <p:cNvSpPr/>
          <p:nvPr/>
        </p:nvSpPr>
        <p:spPr>
          <a:xfrm>
            <a:off x="4554141" y="2553891"/>
            <a:ext cx="1214437" cy="535781"/>
          </a:xfrm>
          <a:custGeom>
            <a:avLst/>
            <a:gdLst/>
            <a:ahLst/>
            <a:cxnLst/>
            <a:rect l="l" t="t" r="r" b="b"/>
            <a:pathLst>
              <a:path w="1214437" h="535781">
                <a:moveTo>
                  <a:pt x="0" y="0"/>
                </a:moveTo>
                <a:lnTo>
                  <a:pt x="1053703" y="0"/>
                </a:lnTo>
                <a:lnTo>
                  <a:pt x="1214437" y="267890"/>
                </a:lnTo>
                <a:lnTo>
                  <a:pt x="1053703" y="535781"/>
                </a:lnTo>
                <a:lnTo>
                  <a:pt x="0" y="535781"/>
                </a:lnTo>
                <a:close/>
              </a:path>
            </a:pathLst>
          </a:custGeom>
          <a:solidFill>
            <a:srgbClr val="16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6" name="gemini-graph-summarization-text"/>
          <p:cNvSpPr txBox="1"/>
          <p:nvPr/>
        </p:nvSpPr>
        <p:spPr>
          <a:xfrm>
            <a:off x="4589859" y="2577703"/>
            <a:ext cx="1041797" cy="4881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FFFFFF"/>
                </a:solidFill>
                <a:latin typeface="Arial"/>
                <a:ea typeface="Malgun Gothic"/>
              </a:rPr>
              <a:t>Graph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FFFFFF"/>
                </a:solidFill>
                <a:latin typeface="Arial"/>
                <a:ea typeface="Malgun Gothic"/>
              </a:rPr>
              <a:t>Summarization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FFFFFF"/>
                </a:solidFill>
                <a:latin typeface="Arial"/>
                <a:ea typeface="Malgun Gothic"/>
              </a:rPr>
              <a:t>Qwen3-VL-2B</a:t>
            </a:r>
          </a:p>
        </p:txBody>
      </p:sp>
      <p:sp xmlns:a="http://schemas.openxmlformats.org/drawingml/2006/main">
        <p:nvSpPr>
          <p:cNvPr id="57" name="gemini-video-summary"/>
          <p:cNvSpPr/>
          <p:nvPr/>
        </p:nvSpPr>
        <p:spPr>
          <a:xfrm>
            <a:off x="5828109" y="2565797"/>
            <a:ext cx="1202531" cy="529828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58" name="gemini-video-summary-text"/>
          <p:cNvSpPr txBox="1"/>
          <p:nvPr/>
        </p:nvSpPr>
        <p:spPr>
          <a:xfrm>
            <a:off x="5863828" y="2589609"/>
            <a:ext cx="1131094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Graph-grounded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Video Summary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168765"/>
                </a:solidFill>
                <a:latin typeface="Arial"/>
                <a:ea typeface="Malgun Gothic"/>
              </a:rPr>
              <a:t>(Text)</a:t>
            </a:r>
          </a:p>
        </p:txBody>
      </p:sp>
      <p:sp xmlns:a="http://schemas.openxmlformats.org/drawingml/2006/main">
        <p:nvSpPr>
          <p:cNvPr id="59" name="gemini-text-encoding"/>
          <p:cNvSpPr/>
          <p:nvPr/>
        </p:nvSpPr>
        <p:spPr>
          <a:xfrm>
            <a:off x="7102078" y="2553891"/>
            <a:ext cx="1184672" cy="535781"/>
          </a:xfrm>
          <a:custGeom>
            <a:avLst/>
            <a:gdLst/>
            <a:ahLst/>
            <a:cxnLst/>
            <a:rect l="l" t="t" r="r" b="b"/>
            <a:pathLst>
              <a:path w="1184672" h="535781">
                <a:moveTo>
                  <a:pt x="0" y="0"/>
                </a:moveTo>
                <a:lnTo>
                  <a:pt x="1023938" y="0"/>
                </a:lnTo>
                <a:lnTo>
                  <a:pt x="1184672" y="267890"/>
                </a:lnTo>
                <a:lnTo>
                  <a:pt x="1023938" y="535781"/>
                </a:lnTo>
                <a:lnTo>
                  <a:pt x="0" y="535781"/>
                </a:lnTo>
                <a:close/>
              </a:path>
            </a:pathLst>
          </a:custGeom>
          <a:solidFill>
            <a:srgbClr val="16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0" name="gemini-text-encoding-text"/>
          <p:cNvSpPr txBox="1"/>
          <p:nvPr/>
        </p:nvSpPr>
        <p:spPr>
          <a:xfrm>
            <a:off x="7137797" y="2577703"/>
            <a:ext cx="1012031" cy="4881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FFFFFF"/>
                </a:solidFill>
                <a:latin typeface="Arial"/>
                <a:ea typeface="Malgun Gothic"/>
              </a:rPr>
              <a:t>Text Encoding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0">
                <a:solidFill>
                  <a:srgbClr val="FFFFFF"/>
                </a:solidFill>
                <a:latin typeface="Arial"/>
                <a:ea typeface="Malgun Gothic"/>
              </a:rPr>
              <a:t>BGE-large-en-v1.5</a:t>
            </a:r>
          </a:p>
        </p:txBody>
      </p:sp>
      <p:sp xmlns:a="http://schemas.openxmlformats.org/drawingml/2006/main">
        <p:nvSpPr>
          <p:cNvPr id="61" name="gemini-text-embedding"/>
          <p:cNvSpPr/>
          <p:nvPr/>
        </p:nvSpPr>
        <p:spPr>
          <a:xfrm>
            <a:off x="8316516" y="2565797"/>
            <a:ext cx="869156" cy="529828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11906">
            <a:solidFill>
              <a:srgbClr val="ADDC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2" name="gemini-text-embedding-text"/>
          <p:cNvSpPr txBox="1"/>
          <p:nvPr/>
        </p:nvSpPr>
        <p:spPr>
          <a:xfrm>
            <a:off x="8352234" y="2589609"/>
            <a:ext cx="797719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168765"/>
                </a:solidFill>
                <a:latin typeface="Arial"/>
                <a:ea typeface="Malgun Gothic"/>
              </a:rPr>
              <a:t>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168765"/>
                </a:solidFill>
                <a:latin typeface="Arial"/>
                <a:ea typeface="Malgun Gothic"/>
              </a:rPr>
              <a:t>Embedding</a:t>
            </a:r>
          </a:p>
        </p:txBody>
      </p:sp>
      <p:sp xmlns:a="http://schemas.openxmlformats.org/drawingml/2006/main">
        <p:nvSpPr>
          <p:cNvPr id="63" name="gemini-recommendation"/>
          <p:cNvSpPr/>
          <p:nvPr/>
        </p:nvSpPr>
        <p:spPr>
          <a:xfrm>
            <a:off x="9221391" y="2553891"/>
            <a:ext cx="1327547" cy="535781"/>
          </a:xfrm>
          <a:custGeom>
            <a:avLst/>
            <a:gdLst/>
            <a:ahLst/>
            <a:cxnLst/>
            <a:rect l="l" t="t" r="r" b="b"/>
            <a:pathLst>
              <a:path w="1327547" h="535781">
                <a:moveTo>
                  <a:pt x="0" y="0"/>
                </a:moveTo>
                <a:lnTo>
                  <a:pt x="1166812" y="0"/>
                </a:lnTo>
                <a:lnTo>
                  <a:pt x="1327547" y="267890"/>
                </a:lnTo>
                <a:lnTo>
                  <a:pt x="1166812" y="535781"/>
                </a:lnTo>
                <a:lnTo>
                  <a:pt x="0" y="535781"/>
                </a:lnTo>
                <a:close/>
              </a:path>
            </a:pathLst>
          </a:custGeom>
          <a:solidFill>
            <a:srgbClr val="1687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4" name="gemini-recommendation-text"/>
          <p:cNvSpPr txBox="1"/>
          <p:nvPr/>
        </p:nvSpPr>
        <p:spPr>
          <a:xfrm>
            <a:off x="9257109" y="2577703"/>
            <a:ext cx="1154906" cy="4881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FFFFFF"/>
                </a:solidFill>
                <a:latin typeface="Arial"/>
                <a:ea typeface="Malgun Gothic"/>
              </a:rPr>
              <a:t>Recommendation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FFFFFF"/>
                </a:solidFill>
                <a:latin typeface="Arial"/>
                <a:ea typeface="Malgun Gothic"/>
              </a:rPr>
              <a:t>SASRec</a:t>
            </a:r>
          </a:p>
        </p:txBody>
      </p:sp>
      <p:sp xmlns:a="http://schemas.openxmlformats.org/drawingml/2006/main">
        <p:nvSpPr>
          <p:cNvPr id="65" name="description-extraction"/>
          <p:cNvSpPr/>
          <p:nvPr/>
        </p:nvSpPr>
        <p:spPr>
          <a:xfrm>
            <a:off x="2321719" y="3917156"/>
            <a:ext cx="1154906" cy="529828"/>
          </a:xfrm>
          <a:custGeom>
            <a:avLst/>
            <a:gdLst/>
            <a:ahLst/>
            <a:cxnLst/>
            <a:rect l="l" t="t" r="r" b="b"/>
            <a:pathLst>
              <a:path w="1154906" h="529828">
                <a:moveTo>
                  <a:pt x="0" y="0"/>
                </a:moveTo>
                <a:lnTo>
                  <a:pt x="994172" y="0"/>
                </a:lnTo>
                <a:lnTo>
                  <a:pt x="1154906" y="264914"/>
                </a:lnTo>
                <a:lnTo>
                  <a:pt x="994172" y="529828"/>
                </a:lnTo>
                <a:lnTo>
                  <a:pt x="0" y="529828"/>
                </a:lnTo>
                <a:close/>
              </a:path>
            </a:pathLst>
          </a:custGeom>
          <a:solidFill>
            <a:srgbClr val="2F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6" name="description-extraction-text"/>
          <p:cNvSpPr txBox="1"/>
          <p:nvPr/>
        </p:nvSpPr>
        <p:spPr>
          <a:xfrm>
            <a:off x="2357438" y="3940969"/>
            <a:ext cx="982266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8" b="1">
                <a:solidFill>
                  <a:srgbClr val="FFFFFF"/>
                </a:solidFill>
                <a:latin typeface="Arial"/>
                <a:ea typeface="Malgun Gothic"/>
              </a:rPr>
              <a:t>Description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FFFFFF"/>
                </a:solidFill>
                <a:latin typeface="Arial"/>
                <a:ea typeface="Malgun Gothic"/>
              </a:rPr>
              <a:t>Qwen3-VL-2B</a:t>
            </a:r>
          </a:p>
        </p:txBody>
      </p:sp>
      <p:sp xmlns:a="http://schemas.openxmlformats.org/drawingml/2006/main">
        <p:nvSpPr>
          <p:cNvPr id="67" name="scene-descriptions"/>
          <p:cNvSpPr/>
          <p:nvPr/>
        </p:nvSpPr>
        <p:spPr>
          <a:xfrm>
            <a:off x="3524250" y="3917156"/>
            <a:ext cx="916781" cy="529828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11906">
            <a:solidFill>
              <a:srgbClr val="BCD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8" name="scene-descriptions-text"/>
          <p:cNvSpPr txBox="1"/>
          <p:nvPr/>
        </p:nvSpPr>
        <p:spPr>
          <a:xfrm>
            <a:off x="3559969" y="3940969"/>
            <a:ext cx="845344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2F78E8"/>
                </a:solidFill>
                <a:latin typeface="Arial"/>
                <a:ea typeface="Malgun Gothic"/>
              </a:rPr>
              <a:t>Scene-wise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2F78E8"/>
                </a:solidFill>
                <a:latin typeface="Arial"/>
                <a:ea typeface="Malgun Gothic"/>
              </a:rPr>
              <a:t>Description</a:t>
            </a:r>
          </a:p>
        </p:txBody>
      </p:sp>
      <p:sp xmlns:a="http://schemas.openxmlformats.org/drawingml/2006/main">
        <p:nvSpPr>
          <p:cNvPr id="69" name="description-summarization"/>
          <p:cNvSpPr/>
          <p:nvPr/>
        </p:nvSpPr>
        <p:spPr>
          <a:xfrm>
            <a:off x="4554141" y="3917156"/>
            <a:ext cx="1214437" cy="529828"/>
          </a:xfrm>
          <a:custGeom>
            <a:avLst/>
            <a:gdLst/>
            <a:ahLst/>
            <a:cxnLst/>
            <a:rect l="l" t="t" r="r" b="b"/>
            <a:pathLst>
              <a:path w="1214437" h="529828">
                <a:moveTo>
                  <a:pt x="0" y="0"/>
                </a:moveTo>
                <a:lnTo>
                  <a:pt x="1053703" y="0"/>
                </a:lnTo>
                <a:lnTo>
                  <a:pt x="1214437" y="264914"/>
                </a:lnTo>
                <a:lnTo>
                  <a:pt x="1053703" y="529828"/>
                </a:lnTo>
                <a:lnTo>
                  <a:pt x="0" y="529828"/>
                </a:lnTo>
                <a:close/>
              </a:path>
            </a:pathLst>
          </a:custGeom>
          <a:solidFill>
            <a:srgbClr val="2F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0" name="description-summarization-text"/>
          <p:cNvSpPr txBox="1"/>
          <p:nvPr/>
        </p:nvSpPr>
        <p:spPr>
          <a:xfrm>
            <a:off x="4589859" y="3940969"/>
            <a:ext cx="1041797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FFFFFF"/>
                </a:solidFill>
                <a:latin typeface="Arial"/>
                <a:ea typeface="Malgun Gothic"/>
              </a:rPr>
              <a:t>Description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FFFFFF"/>
                </a:solidFill>
                <a:latin typeface="Arial"/>
                <a:ea typeface="Malgun Gothic"/>
              </a:rPr>
              <a:t>Summarization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FFFFFF"/>
                </a:solidFill>
                <a:latin typeface="Arial"/>
                <a:ea typeface="Malgun Gothic"/>
              </a:rPr>
              <a:t>Qwen3-VL-2B</a:t>
            </a:r>
          </a:p>
        </p:txBody>
      </p:sp>
      <p:sp xmlns:a="http://schemas.openxmlformats.org/drawingml/2006/main">
        <p:nvSpPr>
          <p:cNvPr id="71" name="description-video-summary"/>
          <p:cNvSpPr/>
          <p:nvPr/>
        </p:nvSpPr>
        <p:spPr>
          <a:xfrm>
            <a:off x="5828109" y="3917156"/>
            <a:ext cx="1202531" cy="529828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11906">
            <a:solidFill>
              <a:srgbClr val="BCD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2" name="description-video-summary-text"/>
          <p:cNvSpPr txBox="1"/>
          <p:nvPr/>
        </p:nvSpPr>
        <p:spPr>
          <a:xfrm>
            <a:off x="5863828" y="3940969"/>
            <a:ext cx="1131094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2F78E8"/>
                </a:solidFill>
                <a:latin typeface="Arial"/>
                <a:ea typeface="Malgun Gothic"/>
              </a:rPr>
              <a:t>Desc-grounded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2F78E8"/>
                </a:solidFill>
                <a:latin typeface="Arial"/>
                <a:ea typeface="Malgun Gothic"/>
              </a:rPr>
              <a:t>Video Summary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2F78E8"/>
                </a:solidFill>
                <a:latin typeface="Arial"/>
                <a:ea typeface="Malgun Gothic"/>
              </a:rPr>
              <a:t>(Text)</a:t>
            </a:r>
          </a:p>
        </p:txBody>
      </p:sp>
      <p:sp xmlns:a="http://schemas.openxmlformats.org/drawingml/2006/main">
        <p:nvSpPr>
          <p:cNvPr id="73" name="description-text-encoding"/>
          <p:cNvSpPr/>
          <p:nvPr/>
        </p:nvSpPr>
        <p:spPr>
          <a:xfrm>
            <a:off x="7102078" y="3917156"/>
            <a:ext cx="1184672" cy="529828"/>
          </a:xfrm>
          <a:custGeom>
            <a:avLst/>
            <a:gdLst/>
            <a:ahLst/>
            <a:cxnLst/>
            <a:rect l="l" t="t" r="r" b="b"/>
            <a:pathLst>
              <a:path w="1184672" h="529828">
                <a:moveTo>
                  <a:pt x="0" y="0"/>
                </a:moveTo>
                <a:lnTo>
                  <a:pt x="1023938" y="0"/>
                </a:lnTo>
                <a:lnTo>
                  <a:pt x="1184672" y="264914"/>
                </a:lnTo>
                <a:lnTo>
                  <a:pt x="1023938" y="529828"/>
                </a:lnTo>
                <a:lnTo>
                  <a:pt x="0" y="529828"/>
                </a:lnTo>
                <a:close/>
              </a:path>
            </a:pathLst>
          </a:custGeom>
          <a:solidFill>
            <a:srgbClr val="2F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4" name="description-text-encoding-text"/>
          <p:cNvSpPr txBox="1"/>
          <p:nvPr/>
        </p:nvSpPr>
        <p:spPr>
          <a:xfrm>
            <a:off x="7137797" y="3940969"/>
            <a:ext cx="1012031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FFFFFF"/>
                </a:solidFill>
                <a:latin typeface="Arial"/>
                <a:ea typeface="Malgun Gothic"/>
              </a:rPr>
              <a:t>Text Encoding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0">
                <a:solidFill>
                  <a:srgbClr val="FFFFFF"/>
                </a:solidFill>
                <a:latin typeface="Arial"/>
                <a:ea typeface="Malgun Gothic"/>
              </a:rPr>
              <a:t>BGE-large-en-v1.5</a:t>
            </a:r>
          </a:p>
        </p:txBody>
      </p:sp>
      <p:sp xmlns:a="http://schemas.openxmlformats.org/drawingml/2006/main">
        <p:nvSpPr>
          <p:cNvPr id="75" name="description-text-embedding"/>
          <p:cNvSpPr/>
          <p:nvPr/>
        </p:nvSpPr>
        <p:spPr>
          <a:xfrm>
            <a:off x="8316516" y="3917156"/>
            <a:ext cx="869156" cy="529828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11906">
            <a:solidFill>
              <a:srgbClr val="BCD1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6" name="description-text-embedding-text"/>
          <p:cNvSpPr txBox="1"/>
          <p:nvPr/>
        </p:nvSpPr>
        <p:spPr>
          <a:xfrm>
            <a:off x="8352234" y="3940969"/>
            <a:ext cx="797719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2F78E8"/>
                </a:solidFill>
                <a:latin typeface="Arial"/>
                <a:ea typeface="Malgun Gothic"/>
              </a:rPr>
              <a:t>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2F78E8"/>
                </a:solidFill>
                <a:latin typeface="Arial"/>
                <a:ea typeface="Malgun Gothic"/>
              </a:rPr>
              <a:t>Embedding</a:t>
            </a:r>
          </a:p>
        </p:txBody>
      </p:sp>
      <p:sp xmlns:a="http://schemas.openxmlformats.org/drawingml/2006/main">
        <p:nvSpPr>
          <p:cNvPr id="77" name="description-recommendation"/>
          <p:cNvSpPr/>
          <p:nvPr/>
        </p:nvSpPr>
        <p:spPr>
          <a:xfrm>
            <a:off x="9221391" y="3917156"/>
            <a:ext cx="1327547" cy="529828"/>
          </a:xfrm>
          <a:custGeom>
            <a:avLst/>
            <a:gdLst/>
            <a:ahLst/>
            <a:cxnLst/>
            <a:rect l="l" t="t" r="r" b="b"/>
            <a:pathLst>
              <a:path w="1327547" h="529828">
                <a:moveTo>
                  <a:pt x="0" y="0"/>
                </a:moveTo>
                <a:lnTo>
                  <a:pt x="1166812" y="0"/>
                </a:lnTo>
                <a:lnTo>
                  <a:pt x="1327547" y="264914"/>
                </a:lnTo>
                <a:lnTo>
                  <a:pt x="1166812" y="529828"/>
                </a:lnTo>
                <a:lnTo>
                  <a:pt x="0" y="529828"/>
                </a:lnTo>
                <a:close/>
              </a:path>
            </a:pathLst>
          </a:custGeom>
          <a:solidFill>
            <a:srgbClr val="2F7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78" name="description-recommendation-text"/>
          <p:cNvSpPr txBox="1"/>
          <p:nvPr/>
        </p:nvSpPr>
        <p:spPr>
          <a:xfrm>
            <a:off x="9257109" y="3940969"/>
            <a:ext cx="1154906" cy="482203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FFFFFF"/>
                </a:solidFill>
                <a:latin typeface="Arial"/>
                <a:ea typeface="Malgun Gothic"/>
              </a:rPr>
              <a:t>Recommendation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FFFFFF"/>
                </a:solidFill>
                <a:latin typeface="Arial"/>
                <a:ea typeface="Malgun Gothic"/>
              </a:rPr>
              <a:t>SASRec</a:t>
            </a:r>
          </a:p>
        </p:txBody>
      </p:sp>
      <p:cxnSp xmlns:a="http://schemas.openxmlformats.org/drawingml/2006/main">
        <p:nvCxnSpPr>
          <p:cNvPr id="79" name="title-bypass-horizontal"/>
          <p:cNvCxnSpPr/>
          <p:nvPr/>
        </p:nvCxnSpPr>
        <p:spPr>
          <a:xfrm>
            <a:off x="2095500" y="5405438"/>
            <a:ext cx="2506266" cy="0"/>
          </a:xfrm>
          <a:prstGeom prst="line">
            <a:avLst/>
          </a:prstGeom>
          <a:ln w="10715">
            <a:solidFill>
              <a:srgbClr val="7474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80" name="title-bypass-vertical"/>
          <p:cNvCxnSpPr/>
          <p:nvPr/>
        </p:nvCxnSpPr>
        <p:spPr>
          <a:xfrm>
            <a:off x="4601766" y="5405438"/>
            <a:ext cx="0" cy="392906"/>
          </a:xfrm>
          <a:prstGeom prst="line">
            <a:avLst/>
          </a:prstGeom>
          <a:ln w="10715">
            <a:solidFill>
              <a:srgbClr val="74747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81" name="title-to-bge"/>
          <p:cNvCxnSpPr/>
          <p:nvPr/>
        </p:nvCxnSpPr>
        <p:spPr>
          <a:xfrm>
            <a:off x="4601766" y="5798344"/>
            <a:ext cx="2500312" cy="0"/>
          </a:xfrm>
          <a:prstGeom prst="line">
            <a:avLst/>
          </a:prstGeom>
          <a:ln w="10715">
            <a:solidFill>
              <a:srgbClr val="747474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82" name="metadata-text-encoding"/>
          <p:cNvSpPr/>
          <p:nvPr/>
        </p:nvSpPr>
        <p:spPr>
          <a:xfrm>
            <a:off x="7102078" y="5506641"/>
            <a:ext cx="1184672" cy="577453"/>
          </a:xfrm>
          <a:custGeom>
            <a:avLst/>
            <a:gdLst/>
            <a:ahLst/>
            <a:cxnLst/>
            <a:rect l="l" t="t" r="r" b="b"/>
            <a:pathLst>
              <a:path w="1184672" h="577453">
                <a:moveTo>
                  <a:pt x="0" y="0"/>
                </a:moveTo>
                <a:lnTo>
                  <a:pt x="1023938" y="0"/>
                </a:lnTo>
                <a:lnTo>
                  <a:pt x="1184672" y="288726"/>
                </a:lnTo>
                <a:lnTo>
                  <a:pt x="1023938" y="577453"/>
                </a:lnTo>
                <a:lnTo>
                  <a:pt x="0" y="577453"/>
                </a:lnTo>
                <a:close/>
              </a:path>
            </a:pathLst>
          </a:cu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3" name="metadata-text-encoding-text"/>
          <p:cNvSpPr txBox="1"/>
          <p:nvPr/>
        </p:nvSpPr>
        <p:spPr>
          <a:xfrm>
            <a:off x="7137797" y="5530453"/>
            <a:ext cx="1012031" cy="5298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FFFFFF"/>
                </a:solidFill>
                <a:latin typeface="Arial"/>
                <a:ea typeface="Malgun Gothic"/>
              </a:rPr>
              <a:t>Text Encoding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0">
                <a:solidFill>
                  <a:srgbClr val="FFFFFF"/>
                </a:solidFill>
                <a:latin typeface="Arial"/>
                <a:ea typeface="Malgun Gothic"/>
              </a:rPr>
              <a:t>BGE-large-en-v1.5</a:t>
            </a:r>
          </a:p>
        </p:txBody>
      </p:sp>
      <p:sp xmlns:a="http://schemas.openxmlformats.org/drawingml/2006/main">
        <p:nvSpPr>
          <p:cNvPr id="84" name="metadata-text-embedding"/>
          <p:cNvSpPr/>
          <p:nvPr/>
        </p:nvSpPr>
        <p:spPr>
          <a:xfrm>
            <a:off x="8316516" y="5506641"/>
            <a:ext cx="869156" cy="577453"/>
          </a:xfrm>
          <a:prstGeom prst="roundRect">
            <a:avLst>
              <a:gd name="adj" fmla="val 10309"/>
            </a:avLst>
          </a:prstGeom>
          <a:solidFill>
            <a:srgbClr val="FFFFFF"/>
          </a:solidFill>
          <a:ln w="11906">
            <a:solidFill>
              <a:srgbClr val="7474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5" name="metadata-text-embedding-text"/>
          <p:cNvSpPr txBox="1"/>
          <p:nvPr/>
        </p:nvSpPr>
        <p:spPr>
          <a:xfrm>
            <a:off x="8352234" y="5530453"/>
            <a:ext cx="797719" cy="5298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747474"/>
                </a:solidFill>
                <a:latin typeface="Arial"/>
                <a:ea typeface="Malgun Gothic"/>
              </a:rPr>
              <a:t>Text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31" b="1">
                <a:solidFill>
                  <a:srgbClr val="747474"/>
                </a:solidFill>
                <a:latin typeface="Arial"/>
                <a:ea typeface="Malgun Gothic"/>
              </a:rPr>
              <a:t>Embedding</a:t>
            </a:r>
          </a:p>
        </p:txBody>
      </p:sp>
      <p:sp xmlns:a="http://schemas.openxmlformats.org/drawingml/2006/main">
        <p:nvSpPr>
          <p:cNvPr id="86" name="metadata-recommendation"/>
          <p:cNvSpPr/>
          <p:nvPr/>
        </p:nvSpPr>
        <p:spPr>
          <a:xfrm>
            <a:off x="9221391" y="5506641"/>
            <a:ext cx="1327547" cy="577453"/>
          </a:xfrm>
          <a:custGeom>
            <a:avLst/>
            <a:gdLst/>
            <a:ahLst/>
            <a:cxnLst/>
            <a:rect l="l" t="t" r="r" b="b"/>
            <a:pathLst>
              <a:path w="1327547" h="577453">
                <a:moveTo>
                  <a:pt x="0" y="0"/>
                </a:moveTo>
                <a:lnTo>
                  <a:pt x="1166812" y="0"/>
                </a:lnTo>
                <a:lnTo>
                  <a:pt x="1327547" y="288726"/>
                </a:lnTo>
                <a:lnTo>
                  <a:pt x="1166812" y="577453"/>
                </a:lnTo>
                <a:lnTo>
                  <a:pt x="0" y="577453"/>
                </a:lnTo>
                <a:close/>
              </a:path>
            </a:pathLst>
          </a:custGeom>
          <a:solidFill>
            <a:srgbClr val="7474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7" name="metadata-recommendation-text"/>
          <p:cNvSpPr txBox="1"/>
          <p:nvPr/>
        </p:nvSpPr>
        <p:spPr>
          <a:xfrm>
            <a:off x="9257109" y="5530453"/>
            <a:ext cx="1154906" cy="52982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1">
                <a:solidFill>
                  <a:srgbClr val="FFFFFF"/>
                </a:solidFill>
                <a:latin typeface="Arial"/>
                <a:ea typeface="Malgun Gothic"/>
              </a:rPr>
              <a:t>Recommendation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FFFFFF"/>
                </a:solidFill>
                <a:latin typeface="Arial"/>
                <a:ea typeface="Malgun Gothic"/>
              </a:rPr>
              <a:t>SASRec</a:t>
            </a:r>
          </a:p>
        </p:txBody>
      </p:sp>
      <p:sp xmlns:a="http://schemas.openxmlformats.org/drawingml/2006/main">
        <p:nvSpPr>
          <p:cNvPr id="88" name="evaluation-1-marker"/>
          <p:cNvSpPr/>
          <p:nvPr/>
        </p:nvSpPr>
        <p:spPr>
          <a:xfrm>
            <a:off x="10662047" y="1887141"/>
            <a:ext cx="238125" cy="238125"/>
          </a:xfrm>
          <a:prstGeom prst="ellipse">
            <a:avLst/>
          </a:prstGeom>
          <a:solidFill>
            <a:srgbClr val="AC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89" name="evaluation-1-number"/>
          <p:cNvSpPr txBox="1"/>
          <p:nvPr/>
        </p:nvSpPr>
        <p:spPr>
          <a:xfrm>
            <a:off x="10662047" y="1887141"/>
            <a:ext cx="238125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1">
                <a:solidFill>
                  <a:srgbClr val="FFFFFF"/>
                </a:solidFill>
                <a:latin typeface="Arial"/>
                <a:ea typeface="Malgun Gothic"/>
              </a:rPr>
              <a:t>1</a:t>
            </a:r>
          </a:p>
        </p:txBody>
      </p:sp>
      <p:sp xmlns:a="http://schemas.openxmlformats.org/drawingml/2006/main">
        <p:nvSpPr>
          <p:cNvPr id="90" name="evaluation-1-title"/>
          <p:cNvSpPr txBox="1"/>
          <p:nvPr/>
        </p:nvSpPr>
        <p:spPr>
          <a:xfrm>
            <a:off x="10953750" y="1833562"/>
            <a:ext cx="916781" cy="3571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AC6000"/>
                </a:solidFill>
                <a:latin typeface="Arial"/>
                <a:ea typeface="Malgun Gothic"/>
              </a:rPr>
              <a:t>Full-catalog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AC6000"/>
                </a:solidFill>
                <a:latin typeface="Arial"/>
                <a:ea typeface="Malgun Gothic"/>
              </a:rPr>
              <a:t>Ranking</a:t>
            </a:r>
          </a:p>
        </p:txBody>
      </p:sp>
      <p:sp xmlns:a="http://schemas.openxmlformats.org/drawingml/2006/main">
        <p:nvSpPr>
          <p:cNvPr id="91" name="evaluation-2-marker"/>
          <p:cNvSpPr/>
          <p:nvPr/>
        </p:nvSpPr>
        <p:spPr>
          <a:xfrm>
            <a:off x="10662047" y="3506391"/>
            <a:ext cx="238125" cy="238125"/>
          </a:xfrm>
          <a:prstGeom prst="ellipse">
            <a:avLst/>
          </a:prstGeom>
          <a:solidFill>
            <a:srgbClr val="AC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2" name="evaluation-2-number"/>
          <p:cNvSpPr txBox="1"/>
          <p:nvPr/>
        </p:nvSpPr>
        <p:spPr>
          <a:xfrm>
            <a:off x="10662047" y="3506391"/>
            <a:ext cx="238125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1">
                <a:solidFill>
                  <a:srgbClr val="FFFFFF"/>
                </a:solidFill>
                <a:latin typeface="Arial"/>
                <a:ea typeface="Malgun Gothic"/>
              </a:rPr>
              <a:t>2</a:t>
            </a:r>
          </a:p>
        </p:txBody>
      </p:sp>
      <p:sp xmlns:a="http://schemas.openxmlformats.org/drawingml/2006/main">
        <p:nvSpPr>
          <p:cNvPr id="93" name="evaluation-2-title"/>
          <p:cNvSpPr txBox="1"/>
          <p:nvPr/>
        </p:nvSpPr>
        <p:spPr>
          <a:xfrm>
            <a:off x="10953750" y="3452812"/>
            <a:ext cx="916781" cy="35718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AC6000"/>
                </a:solidFill>
                <a:latin typeface="Arial"/>
                <a:ea typeface="Malgun Gothic"/>
              </a:rPr>
              <a:t>Calculate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AC6000"/>
                </a:solidFill>
                <a:latin typeface="Arial"/>
                <a:ea typeface="Malgun Gothic"/>
              </a:rPr>
              <a:t>Measures</a:t>
            </a:r>
          </a:p>
        </p:txBody>
      </p:sp>
      <p:sp xmlns:a="http://schemas.openxmlformats.org/drawingml/2006/main">
        <p:nvSpPr>
          <p:cNvPr id="94" name="evaluation-3-marker"/>
          <p:cNvSpPr/>
          <p:nvPr/>
        </p:nvSpPr>
        <p:spPr>
          <a:xfrm>
            <a:off x="10662047" y="4970859"/>
            <a:ext cx="238125" cy="238125"/>
          </a:xfrm>
          <a:prstGeom prst="ellipse">
            <a:avLst/>
          </a:prstGeom>
          <a:solidFill>
            <a:srgbClr val="AC6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95" name="evaluation-3-number"/>
          <p:cNvSpPr txBox="1"/>
          <p:nvPr/>
        </p:nvSpPr>
        <p:spPr>
          <a:xfrm>
            <a:off x="10662047" y="4970859"/>
            <a:ext cx="238125" cy="23812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1" b="1">
                <a:solidFill>
                  <a:srgbClr val="FFFFFF"/>
                </a:solidFill>
                <a:latin typeface="Arial"/>
                <a:ea typeface="Malgun Gothic"/>
              </a:rPr>
              <a:t>3</a:t>
            </a:r>
          </a:p>
        </p:txBody>
      </p:sp>
      <p:sp xmlns:a="http://schemas.openxmlformats.org/drawingml/2006/main">
        <p:nvSpPr>
          <p:cNvPr id="96" name="evaluation-3-title"/>
          <p:cNvSpPr txBox="1"/>
          <p:nvPr/>
        </p:nvSpPr>
        <p:spPr>
          <a:xfrm>
            <a:off x="10953750" y="4917281"/>
            <a:ext cx="916781" cy="29765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25" b="1">
                <a:solidFill>
                  <a:srgbClr val="AC6000"/>
                </a:solidFill>
                <a:latin typeface="Arial"/>
                <a:ea typeface="Malgun Gothic"/>
              </a:rPr>
              <a:t>Diagnosis</a:t>
            </a:r>
          </a:p>
        </p:txBody>
      </p:sp>
      <p:sp xmlns:a="http://schemas.openxmlformats.org/drawingml/2006/main">
        <p:nvSpPr>
          <p:cNvPr id="97" name="catalog-definition"/>
          <p:cNvSpPr txBox="1"/>
          <p:nvPr/>
        </p:nvSpPr>
        <p:spPr>
          <a:xfrm>
            <a:off x="10793016" y="2309812"/>
            <a:ext cx="1071562" cy="5953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1">
                <a:solidFill>
                  <a:srgbClr val="737E8D"/>
                </a:solidFill>
                <a:latin typeface="Arial"/>
                <a:ea typeface="Malgun Gothic"/>
              </a:rPr>
              <a:t>*Catalog: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1">
                <a:solidFill>
                  <a:srgbClr val="737E8D"/>
                </a:solidFill>
                <a:latin typeface="Arial"/>
                <a:ea typeface="Malgun Gothic"/>
              </a:rPr>
              <a:t>선정된 사용자들의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1">
                <a:solidFill>
                  <a:srgbClr val="737E8D"/>
                </a:solidFill>
                <a:latin typeface="Arial"/>
                <a:ea typeface="Malgun Gothic"/>
              </a:rPr>
              <a:t>Train/valid/test item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3" b="1">
                <a:solidFill>
                  <a:srgbClr val="737E8D"/>
                </a:solidFill>
                <a:latin typeface="Arial"/>
                <a:ea typeface="Malgun Gothic"/>
              </a:rPr>
              <a:t>합집합</a:t>
            </a:r>
          </a:p>
        </p:txBody>
      </p:sp>
      <p:sp xmlns:a="http://schemas.openxmlformats.org/drawingml/2006/main">
        <p:nvSpPr>
          <p:cNvPr id="98" name="evaluation-measures"/>
          <p:cNvSpPr txBox="1"/>
          <p:nvPr/>
        </p:nvSpPr>
        <p:spPr>
          <a:xfrm>
            <a:off x="10751344" y="3857625"/>
            <a:ext cx="1131094" cy="39290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737E8D"/>
                </a:solidFill>
                <a:latin typeface="Arial"/>
                <a:ea typeface="Malgun Gothic"/>
              </a:rPr>
              <a:t>•   Rank quality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4" b="0">
                <a:solidFill>
                  <a:srgbClr val="737E8D"/>
                </a:solidFill>
                <a:latin typeface="Arial"/>
                <a:ea typeface="Malgun Gothic"/>
              </a:rPr>
              <a:t>•   Catalog spread</a:t>
            </a:r>
          </a:p>
        </p:txBody>
      </p:sp>
    </p:spTree>
    <p:extLst>
      <p:ext uri="{BB962C8B-B14F-4D97-AF65-F5344CB8AC3E}">
        <p14:creationId xmlns:p14="http://schemas.microsoft.com/office/powerpoint/2010/main" val="17467412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2026-08-27T10:45:30.2310000Z</dcterms:created>
  <dcterms:modified xsi:type="dcterms:W3CDTF">2026-08-27T10:45:30.2310000Z</dcterms:modified>
</coreProperties>
</file>