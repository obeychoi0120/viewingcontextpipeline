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Scene extraction supports qwen3vl, qwen3.5 and gemini. Graphs feed both paths; Descriptions feed only the Summary-based Text path. Title is excluded from extraction and summarization. Title branches shown here are used only by title-enabled arms; other arms mask the title component. BGE features are frozen; video encoders and SASRec train jointly. The three item-vector paths are alternative models, not concatenated outputs. Direct Graph uses the selected aggregation after its Scene MLP. Current arm names and required inputs are listed in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red extraction panel"/>
          <p:cNvSpPr/>
          <p:nvPr/>
        </p:nvSpPr>
        <p:spPr>
          <a:xfrm>
            <a:off x="548640" y="1965960"/>
            <a:ext cx="4572000" cy="882396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240">
            <a:solidFill>
              <a:srgbClr val="CCD7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aseline panel"/>
          <p:cNvSpPr/>
          <p:nvPr/>
        </p:nvSpPr>
        <p:spPr>
          <a:xfrm>
            <a:off x="5623560" y="1965960"/>
            <a:ext cx="10424160" cy="13716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5240">
            <a:solidFill>
              <a:srgbClr val="CCD7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 path panel"/>
          <p:cNvSpPr/>
          <p:nvPr/>
        </p:nvSpPr>
        <p:spPr>
          <a:xfrm>
            <a:off x="5623560" y="3794760"/>
            <a:ext cx="10424160" cy="3337560"/>
          </a:xfrm>
          <a:prstGeom prst="roundRect">
            <a:avLst>
              <a:gd name="adj" fmla="val 12000"/>
            </a:avLst>
          </a:prstGeom>
          <a:solidFill>
            <a:srgbClr val="F0F5FF"/>
          </a:solidFill>
          <a:ln w="15240">
            <a:solidFill>
              <a:srgbClr val="C6D9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Graph path panel"/>
          <p:cNvSpPr/>
          <p:nvPr/>
        </p:nvSpPr>
        <p:spPr>
          <a:xfrm>
            <a:off x="5623560" y="7452360"/>
            <a:ext cx="10424160" cy="3337560"/>
          </a:xfrm>
          <a:prstGeom prst="roundRect">
            <a:avLst>
              <a:gd name="adj" fmla="val 12000"/>
            </a:avLst>
          </a:prstGeom>
          <a:solidFill>
            <a:srgbClr val="EFF9F8"/>
          </a:solidFill>
          <a:ln w="15240">
            <a:solidFill>
              <a:srgbClr val="BADE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itle"/>
          <p:cNvSpPr txBox="1"/>
          <p:nvPr/>
        </p:nvSpPr>
        <p:spPr>
          <a:xfrm>
            <a:off x="548640" y="320040"/>
            <a:ext cx="20848320" cy="59436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83450"/>
                </a:solidFill>
                <a:latin typeface="Liberation Sans"/>
              </a:rPr>
              <a:t>ViewingContextPipeline</a:t>
            </a:r>
          </a:p>
        </p:txBody>
      </p:sp>
      <p:sp>
        <p:nvSpPr>
          <p:cNvPr id="7" name="Dataset"/>
          <p:cNvSpPr txBox="1"/>
          <p:nvPr/>
        </p:nvSpPr>
        <p:spPr>
          <a:xfrm>
            <a:off x="548640" y="1024128"/>
            <a:ext cx="20848320" cy="36576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36B82"/>
                </a:solidFill>
                <a:latin typeface="Liberation Sans"/>
              </a:rPr>
              <a:t>MicroLens-100K</a:t>
            </a:r>
          </a:p>
        </p:txBody>
      </p:sp>
      <p:sp>
        <p:nvSpPr>
          <p:cNvPr id="8" name="VIDEO PROCESSING"/>
          <p:cNvSpPr txBox="1"/>
          <p:nvPr/>
        </p:nvSpPr>
        <p:spPr>
          <a:xfrm>
            <a:off x="548640" y="1490472"/>
            <a:ext cx="4572000" cy="384048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450"/>
                </a:solidFill>
                <a:latin typeface="Liberation Sans"/>
              </a:rPr>
              <a:t>VIDEO PROCESSING</a:t>
            </a:r>
          </a:p>
        </p:txBody>
      </p:sp>
      <p:sp>
        <p:nvSpPr>
          <p:cNvPr id="9" name="ITEM REPRESENTATIONS"/>
          <p:cNvSpPr txBox="1"/>
          <p:nvPr/>
        </p:nvSpPr>
        <p:spPr>
          <a:xfrm>
            <a:off x="5623560" y="1490472"/>
            <a:ext cx="10424160" cy="384048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450"/>
                </a:solidFill>
                <a:latin typeface="Liberation Sans"/>
              </a:rPr>
              <a:t>ITEM REPRESENTATIONS</a:t>
            </a:r>
          </a:p>
        </p:txBody>
      </p:sp>
      <p:sp>
        <p:nvSpPr>
          <p:cNvPr id="10" name="Video"/>
          <p:cNvSpPr/>
          <p:nvPr/>
        </p:nvSpPr>
        <p:spPr>
          <a:xfrm>
            <a:off x="1005840" y="2606040"/>
            <a:ext cx="3657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834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Video text"/>
          <p:cNvSpPr txBox="1"/>
          <p:nvPr/>
        </p:nvSpPr>
        <p:spPr>
          <a:xfrm>
            <a:off x="1097280" y="2660904"/>
            <a:ext cx="3474720" cy="62179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3450"/>
                </a:solidFill>
                <a:latin typeface="Liberation Sans"/>
              </a:rPr>
              <a:t>Video</a:t>
            </a:r>
          </a:p>
        </p:txBody>
      </p:sp>
      <p:sp>
        <p:nvSpPr>
          <p:cNvPr id="12" name="Keyframes"/>
          <p:cNvSpPr/>
          <p:nvPr/>
        </p:nvSpPr>
        <p:spPr>
          <a:xfrm>
            <a:off x="1005840" y="3657600"/>
            <a:ext cx="36576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834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Keyframes text"/>
          <p:cNvSpPr txBox="1"/>
          <p:nvPr/>
        </p:nvSpPr>
        <p:spPr>
          <a:xfrm>
            <a:off x="1097280" y="3712463"/>
            <a:ext cx="3474720" cy="89611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3450"/>
                </a:solidFill>
                <a:latin typeface="Liberation Sans"/>
              </a:rPr>
              <a:t>Keyframes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36B82"/>
                </a:solidFill>
                <a:latin typeface="Liberation Sans"/>
              </a:rPr>
              <a:t>1 Scene: 30s, 6 keyframes</a:t>
            </a:r>
          </a:p>
        </p:txBody>
      </p:sp>
      <p:sp>
        <p:nvSpPr>
          <p:cNvPr id="14" name="Extraction"/>
          <p:cNvSpPr/>
          <p:nvPr/>
        </p:nvSpPr>
        <p:spPr>
          <a:xfrm>
            <a:off x="1005840" y="50292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834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Extraction text"/>
          <p:cNvSpPr txBox="1"/>
          <p:nvPr/>
        </p:nvSpPr>
        <p:spPr>
          <a:xfrm>
            <a:off x="1097280" y="5084064"/>
            <a:ext cx="347472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83450"/>
                </a:solidFill>
                <a:latin typeface="Liberation Sans"/>
              </a:rPr>
              <a:t>Scene Extraction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B82"/>
                </a:solidFill>
                <a:latin typeface="Liberation Sans"/>
              </a:rPr>
              <a:t>Qwen3-VL · Qwen3.5 · Gemini</a:t>
            </a:r>
          </a:p>
        </p:txBody>
      </p:sp>
      <p:sp>
        <p:nvSpPr>
          <p:cNvPr id="16" name="Descriptions"/>
          <p:cNvSpPr/>
          <p:nvPr/>
        </p:nvSpPr>
        <p:spPr>
          <a:xfrm>
            <a:off x="1005840" y="6400800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C66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Descriptions text"/>
          <p:cNvSpPr txBox="1"/>
          <p:nvPr/>
        </p:nvSpPr>
        <p:spPr>
          <a:xfrm>
            <a:off x="1097280" y="6455664"/>
            <a:ext cx="3474720" cy="71323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66B7"/>
                </a:solidFill>
                <a:latin typeface="Liberation Sans"/>
              </a:rPr>
              <a:t>Scene Descriptions</a:t>
            </a:r>
          </a:p>
        </p:txBody>
      </p:sp>
      <p:sp>
        <p:nvSpPr>
          <p:cNvPr id="18" name="Graphs"/>
          <p:cNvSpPr/>
          <p:nvPr/>
        </p:nvSpPr>
        <p:spPr>
          <a:xfrm>
            <a:off x="1005840" y="8138160"/>
            <a:ext cx="36576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9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raphs text"/>
          <p:cNvSpPr txBox="1"/>
          <p:nvPr/>
        </p:nvSpPr>
        <p:spPr>
          <a:xfrm>
            <a:off x="1097280" y="8193024"/>
            <a:ext cx="3474720" cy="71323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98D"/>
                </a:solidFill>
                <a:latin typeface="Liberation Sans"/>
              </a:rPr>
              <a:t>Scene Graphs</a:t>
            </a:r>
          </a:p>
        </p:txBody>
      </p:sp>
      <p:cxnSp>
        <p:nvCxnSpPr>
          <p:cNvPr id="20" name="Video to keyframes segment 1"/>
          <p:cNvCxnSpPr/>
          <p:nvPr/>
        </p:nvCxnSpPr>
        <p:spPr>
          <a:xfrm>
            <a:off x="2834640" y="3337560"/>
            <a:ext cx="0" cy="320040"/>
          </a:xfrm>
          <a:prstGeom prst="line">
            <a:avLst/>
          </a:prstGeom>
          <a:ln w="22860">
            <a:solidFill>
              <a:srgbClr val="536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Keyframes to extraction segment 1"/>
          <p:cNvCxnSpPr/>
          <p:nvPr/>
        </p:nvCxnSpPr>
        <p:spPr>
          <a:xfrm>
            <a:off x="2834640" y="4663440"/>
            <a:ext cx="0" cy="365760"/>
          </a:xfrm>
          <a:prstGeom prst="line">
            <a:avLst/>
          </a:prstGeom>
          <a:ln w="22860">
            <a:solidFill>
              <a:srgbClr val="536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xtraction to descriptions segment 1"/>
          <p:cNvCxnSpPr/>
          <p:nvPr/>
        </p:nvCxnSpPr>
        <p:spPr>
          <a:xfrm>
            <a:off x="2834640" y="5943600"/>
            <a:ext cx="0" cy="457200"/>
          </a:xfrm>
          <a:prstGeom prst="line">
            <a:avLst/>
          </a:prstGeom>
          <a:ln w="22860">
            <a:solidFill>
              <a:srgbClr val="2C66B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xtraction to graphs segment 1"/>
          <p:cNvCxnSpPr/>
          <p:nvPr/>
        </p:nvCxnSpPr>
        <p:spPr>
          <a:xfrm>
            <a:off x="2834640" y="5943600"/>
            <a:ext cx="0" cy="201168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xtraction to graphs segment 2"/>
          <p:cNvCxnSpPr/>
          <p:nvPr/>
        </p:nvCxnSpPr>
        <p:spPr>
          <a:xfrm flipH="1">
            <a:off x="786384" y="6144768"/>
            <a:ext cx="2048256" cy="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xtraction to graphs segment 3"/>
          <p:cNvCxnSpPr/>
          <p:nvPr/>
        </p:nvCxnSpPr>
        <p:spPr>
          <a:xfrm>
            <a:off x="786384" y="6144768"/>
            <a:ext cx="0" cy="2404872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xtraction to graphs segment 4"/>
          <p:cNvCxnSpPr/>
          <p:nvPr/>
        </p:nvCxnSpPr>
        <p:spPr>
          <a:xfrm>
            <a:off x="786384" y="8549640"/>
            <a:ext cx="219456" cy="0"/>
          </a:xfrm>
          <a:prstGeom prst="line">
            <a:avLst/>
          </a:prstGeom>
          <a:ln w="22860">
            <a:solidFill>
              <a:srgbClr val="0089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aseline title"/>
          <p:cNvSpPr/>
          <p:nvPr/>
        </p:nvSpPr>
        <p:spPr>
          <a:xfrm>
            <a:off x="5852160" y="21945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8758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aseline title text"/>
          <p:cNvSpPr txBox="1"/>
          <p:nvPr/>
        </p:nvSpPr>
        <p:spPr>
          <a:xfrm>
            <a:off x="5943600" y="2249424"/>
            <a:ext cx="310896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87581"/>
                </a:solidFill>
                <a:latin typeface="Liberation Sans"/>
              </a:rPr>
              <a:t>Title</a:t>
            </a:r>
          </a:p>
        </p:txBody>
      </p:sp>
      <p:sp>
        <p:nvSpPr>
          <p:cNvPr id="29" name="Baseline embedding"/>
          <p:cNvSpPr/>
          <p:nvPr/>
        </p:nvSpPr>
        <p:spPr>
          <a:xfrm>
            <a:off x="9464040" y="21945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8758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aseline embedding text"/>
          <p:cNvSpPr txBox="1"/>
          <p:nvPr/>
        </p:nvSpPr>
        <p:spPr>
          <a:xfrm>
            <a:off x="9555480" y="2249424"/>
            <a:ext cx="320040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87581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36B82"/>
                </a:solidFill>
                <a:latin typeface="Liberation Sans"/>
              </a:rPr>
              <a:t>1,024</a:t>
            </a:r>
          </a:p>
        </p:txBody>
      </p:sp>
      <p:sp>
        <p:nvSpPr>
          <p:cNvPr id="31" name="Baseline"/>
          <p:cNvSpPr/>
          <p:nvPr/>
        </p:nvSpPr>
        <p:spPr>
          <a:xfrm>
            <a:off x="13487400" y="21945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8758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aseline text"/>
          <p:cNvSpPr txBox="1"/>
          <p:nvPr/>
        </p:nvSpPr>
        <p:spPr>
          <a:xfrm>
            <a:off x="13578840" y="2249424"/>
            <a:ext cx="2148839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687581"/>
                </a:solidFill>
                <a:latin typeface="Liberation Sans"/>
              </a:rPr>
              <a:t>Projection +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36B82"/>
                </a:solidFill>
                <a:latin typeface="Liberation Sans"/>
              </a:rPr>
              <a:t>Item 512</a:t>
            </a:r>
          </a:p>
        </p:txBody>
      </p:sp>
      <p:cxnSp>
        <p:nvCxnSpPr>
          <p:cNvPr id="33" name="Baseline title to embedding segment 1"/>
          <p:cNvCxnSpPr/>
          <p:nvPr/>
        </p:nvCxnSpPr>
        <p:spPr>
          <a:xfrm>
            <a:off x="9144000" y="2651760"/>
            <a:ext cx="320040" cy="0"/>
          </a:xfrm>
          <a:prstGeom prst="line">
            <a:avLst/>
          </a:prstGeom>
          <a:ln w="22860">
            <a:solidFill>
              <a:srgbClr val="68758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Baseline embedding to output segment 1"/>
          <p:cNvCxnSpPr/>
          <p:nvPr/>
        </p:nvCxnSpPr>
        <p:spPr>
          <a:xfrm>
            <a:off x="12847320" y="2651760"/>
            <a:ext cx="640080" cy="0"/>
          </a:xfrm>
          <a:prstGeom prst="line">
            <a:avLst/>
          </a:prstGeom>
          <a:ln w="22860">
            <a:solidFill>
              <a:srgbClr val="68758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heading"/>
          <p:cNvSpPr txBox="1"/>
          <p:nvPr/>
        </p:nvSpPr>
        <p:spPr>
          <a:xfrm>
            <a:off x="5852160" y="4023360"/>
            <a:ext cx="2743200" cy="384048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66B7"/>
                </a:solidFill>
                <a:latin typeface="Liberation Sans"/>
              </a:rPr>
              <a:t>TEXT PATH</a:t>
            </a:r>
          </a:p>
        </p:txBody>
      </p:sp>
      <p:sp>
        <p:nvSpPr>
          <p:cNvPr id="36" name="Text title"/>
          <p:cNvSpPr/>
          <p:nvPr/>
        </p:nvSpPr>
        <p:spPr>
          <a:xfrm>
            <a:off x="5852160" y="45262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C66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 title text"/>
          <p:cNvSpPr txBox="1"/>
          <p:nvPr/>
        </p:nvSpPr>
        <p:spPr>
          <a:xfrm>
            <a:off x="5943600" y="4581144"/>
            <a:ext cx="310896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66B7"/>
                </a:solidFill>
                <a:latin typeface="Liberation Sans"/>
              </a:rPr>
              <a:t>Title</a:t>
            </a:r>
          </a:p>
        </p:txBody>
      </p:sp>
      <p:sp>
        <p:nvSpPr>
          <p:cNvPr id="38" name="Text title embedding"/>
          <p:cNvSpPr/>
          <p:nvPr/>
        </p:nvSpPr>
        <p:spPr>
          <a:xfrm>
            <a:off x="9464040" y="452628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C66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 title embedding text"/>
          <p:cNvSpPr txBox="1"/>
          <p:nvPr/>
        </p:nvSpPr>
        <p:spPr>
          <a:xfrm>
            <a:off x="9555480" y="4581144"/>
            <a:ext cx="320040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C66B7"/>
                </a:solidFill>
                <a:latin typeface="Liberation Sans"/>
              </a:rPr>
              <a:t>BGE +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36B82"/>
                </a:solidFill>
                <a:latin typeface="Liberation Sans"/>
              </a:rPr>
              <a:t>1,024 → 128</a:t>
            </a:r>
          </a:p>
        </p:txBody>
      </p:sp>
      <p:sp>
        <p:nvSpPr>
          <p:cNvPr id="40" name="Video summary"/>
          <p:cNvSpPr/>
          <p:nvPr/>
        </p:nvSpPr>
        <p:spPr>
          <a:xfrm>
            <a:off x="5852160" y="59436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C66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Video summary text"/>
          <p:cNvSpPr txBox="1"/>
          <p:nvPr/>
        </p:nvSpPr>
        <p:spPr>
          <a:xfrm>
            <a:off x="5943600" y="5998464"/>
            <a:ext cx="310896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C66B7"/>
                </a:solidFill>
                <a:latin typeface="Liberation Sans"/>
              </a:rPr>
              <a:t>Video-wise Summary</a:t>
            </a:r>
          </a:p>
        </p:txBody>
      </p:sp>
      <p:sp>
        <p:nvSpPr>
          <p:cNvPr id="42" name="Summary embedding"/>
          <p:cNvSpPr/>
          <p:nvPr/>
        </p:nvSpPr>
        <p:spPr>
          <a:xfrm>
            <a:off x="9464040" y="59436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C66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ummary embedding text"/>
          <p:cNvSpPr txBox="1"/>
          <p:nvPr/>
        </p:nvSpPr>
        <p:spPr>
          <a:xfrm>
            <a:off x="9555480" y="5998464"/>
            <a:ext cx="320040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C66B7"/>
                </a:solidFill>
                <a:latin typeface="Liberation Sans"/>
              </a:rPr>
              <a:t>BGE +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36B82"/>
                </a:solidFill>
                <a:latin typeface="Liberation Sans"/>
              </a:rPr>
              <a:t>1,024 → 384</a:t>
            </a:r>
          </a:p>
        </p:txBody>
      </p:sp>
      <p:sp>
        <p:nvSpPr>
          <p:cNvPr id="44" name="Text fusion"/>
          <p:cNvSpPr/>
          <p:nvPr/>
        </p:nvSpPr>
        <p:spPr>
          <a:xfrm>
            <a:off x="13487400" y="5257800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E2EEFF"/>
          </a:solidFill>
          <a:ln w="15240">
            <a:solidFill>
              <a:srgbClr val="2C66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 fusion text"/>
          <p:cNvSpPr txBox="1"/>
          <p:nvPr/>
        </p:nvSpPr>
        <p:spPr>
          <a:xfrm>
            <a:off x="13578840" y="5312664"/>
            <a:ext cx="2148839" cy="107899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C66B7"/>
                </a:solidFill>
                <a:latin typeface="Liberation Sans"/>
              </a:rPr>
              <a:t>Concat +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36B82"/>
                </a:solidFill>
                <a:latin typeface="Liberation Sans"/>
              </a:rPr>
              <a:t>Item 512</a:t>
            </a:r>
          </a:p>
        </p:txBody>
      </p:sp>
      <p:cxnSp>
        <p:nvCxnSpPr>
          <p:cNvPr id="46" name="Descriptions to summary segment 1"/>
          <p:cNvCxnSpPr/>
          <p:nvPr/>
        </p:nvCxnSpPr>
        <p:spPr>
          <a:xfrm>
            <a:off x="4663440" y="6812280"/>
            <a:ext cx="521208" cy="0"/>
          </a:xfrm>
          <a:prstGeom prst="line">
            <a:avLst/>
          </a:prstGeom>
          <a:ln w="22860">
            <a:solidFill>
              <a:srgbClr val="2C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escriptions to summary segment 2"/>
          <p:cNvCxnSpPr/>
          <p:nvPr/>
        </p:nvCxnSpPr>
        <p:spPr>
          <a:xfrm flipV="1">
            <a:off x="5184648" y="6126480"/>
            <a:ext cx="0" cy="685800"/>
          </a:xfrm>
          <a:prstGeom prst="line">
            <a:avLst/>
          </a:prstGeom>
          <a:ln w="22860">
            <a:solidFill>
              <a:srgbClr val="2C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escriptions to summary segment 3"/>
          <p:cNvCxnSpPr/>
          <p:nvPr/>
        </p:nvCxnSpPr>
        <p:spPr>
          <a:xfrm>
            <a:off x="5184648" y="6126480"/>
            <a:ext cx="667512" cy="0"/>
          </a:xfrm>
          <a:prstGeom prst="line">
            <a:avLst/>
          </a:prstGeom>
          <a:ln w="22860">
            <a:solidFill>
              <a:srgbClr val="2C66B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raphs to summary segment 1"/>
          <p:cNvCxnSpPr/>
          <p:nvPr/>
        </p:nvCxnSpPr>
        <p:spPr>
          <a:xfrm>
            <a:off x="4663440" y="8549640"/>
            <a:ext cx="731520" cy="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raphs to summary segment 2"/>
          <p:cNvCxnSpPr/>
          <p:nvPr/>
        </p:nvCxnSpPr>
        <p:spPr>
          <a:xfrm flipV="1">
            <a:off x="5394960" y="6583680"/>
            <a:ext cx="0" cy="196596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raphs to summary segment 3"/>
          <p:cNvCxnSpPr/>
          <p:nvPr/>
        </p:nvCxnSpPr>
        <p:spPr>
          <a:xfrm>
            <a:off x="5394960" y="6583680"/>
            <a:ext cx="457200" cy="0"/>
          </a:xfrm>
          <a:prstGeom prst="line">
            <a:avLst/>
          </a:prstGeom>
          <a:ln w="22860">
            <a:solidFill>
              <a:srgbClr val="0089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Text title to embedding segment 1"/>
          <p:cNvCxnSpPr/>
          <p:nvPr/>
        </p:nvCxnSpPr>
        <p:spPr>
          <a:xfrm>
            <a:off x="9144000" y="4983480"/>
            <a:ext cx="320040" cy="0"/>
          </a:xfrm>
          <a:prstGeom prst="line">
            <a:avLst/>
          </a:prstGeom>
          <a:ln w="22860">
            <a:solidFill>
              <a:srgbClr val="2C66B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ummary to embedding segment 1"/>
          <p:cNvCxnSpPr/>
          <p:nvPr/>
        </p:nvCxnSpPr>
        <p:spPr>
          <a:xfrm>
            <a:off x="9144000" y="6400800"/>
            <a:ext cx="320040" cy="0"/>
          </a:xfrm>
          <a:prstGeom prst="line">
            <a:avLst/>
          </a:prstGeom>
          <a:ln w="22860">
            <a:solidFill>
              <a:srgbClr val="2C66B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Text title embedding to merge segment 1"/>
          <p:cNvCxnSpPr/>
          <p:nvPr/>
        </p:nvCxnSpPr>
        <p:spPr>
          <a:xfrm>
            <a:off x="12847320" y="4983480"/>
            <a:ext cx="365760" cy="0"/>
          </a:xfrm>
          <a:prstGeom prst="line">
            <a:avLst/>
          </a:prstGeom>
          <a:ln w="22860">
            <a:solidFill>
              <a:srgbClr val="2C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Text title embedding to merge segment 2"/>
          <p:cNvCxnSpPr/>
          <p:nvPr/>
        </p:nvCxnSpPr>
        <p:spPr>
          <a:xfrm>
            <a:off x="13213080" y="4983480"/>
            <a:ext cx="0" cy="868680"/>
          </a:xfrm>
          <a:prstGeom prst="line">
            <a:avLst/>
          </a:prstGeom>
          <a:ln w="22860">
            <a:solidFill>
              <a:srgbClr val="2C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ummary embedding to merge segment 1"/>
          <p:cNvCxnSpPr/>
          <p:nvPr/>
        </p:nvCxnSpPr>
        <p:spPr>
          <a:xfrm>
            <a:off x="12847320" y="6400800"/>
            <a:ext cx="365760" cy="0"/>
          </a:xfrm>
          <a:prstGeom prst="line">
            <a:avLst/>
          </a:prstGeom>
          <a:ln w="22860">
            <a:solidFill>
              <a:srgbClr val="2C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ummary embedding to merge segment 2"/>
          <p:cNvCxnSpPr/>
          <p:nvPr/>
        </p:nvCxnSpPr>
        <p:spPr>
          <a:xfrm flipV="1">
            <a:off x="13213080" y="5852160"/>
            <a:ext cx="0" cy="548640"/>
          </a:xfrm>
          <a:prstGeom prst="line">
            <a:avLst/>
          </a:prstGeom>
          <a:ln w="22860">
            <a:solidFill>
              <a:srgbClr val="2C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embedding merge"/>
          <p:cNvSpPr/>
          <p:nvPr/>
        </p:nvSpPr>
        <p:spPr>
          <a:xfrm>
            <a:off x="13181076" y="5820156"/>
            <a:ext cx="64008" cy="64008"/>
          </a:xfrm>
          <a:prstGeom prst="ellipse">
            <a:avLst/>
          </a:prstGeom>
          <a:solidFill>
            <a:srgbClr val="2C6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Text embeddings to fusion segment 1"/>
          <p:cNvCxnSpPr/>
          <p:nvPr/>
        </p:nvCxnSpPr>
        <p:spPr>
          <a:xfrm>
            <a:off x="13213080" y="5852160"/>
            <a:ext cx="274320" cy="0"/>
          </a:xfrm>
          <a:prstGeom prst="line">
            <a:avLst/>
          </a:prstGeom>
          <a:ln w="22860">
            <a:solidFill>
              <a:srgbClr val="2C66B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Graph heading"/>
          <p:cNvSpPr txBox="1"/>
          <p:nvPr/>
        </p:nvSpPr>
        <p:spPr>
          <a:xfrm>
            <a:off x="5852160" y="7680960"/>
            <a:ext cx="2743200" cy="384048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898D"/>
                </a:solidFill>
                <a:latin typeface="Liberation Sans"/>
              </a:rPr>
              <a:t>GRAPH PATH</a:t>
            </a:r>
          </a:p>
        </p:txBody>
      </p:sp>
      <p:sp>
        <p:nvSpPr>
          <p:cNvPr id="61" name="Graph title"/>
          <p:cNvSpPr/>
          <p:nvPr/>
        </p:nvSpPr>
        <p:spPr>
          <a:xfrm>
            <a:off x="5852160" y="8183879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9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Graph title text"/>
          <p:cNvSpPr txBox="1"/>
          <p:nvPr/>
        </p:nvSpPr>
        <p:spPr>
          <a:xfrm>
            <a:off x="5943600" y="8238744"/>
            <a:ext cx="310896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98D"/>
                </a:solidFill>
                <a:latin typeface="Liberation Sans"/>
              </a:rPr>
              <a:t>Title</a:t>
            </a:r>
          </a:p>
        </p:txBody>
      </p:sp>
      <p:sp>
        <p:nvSpPr>
          <p:cNvPr id="63" name="Graph title embedding"/>
          <p:cNvSpPr/>
          <p:nvPr/>
        </p:nvSpPr>
        <p:spPr>
          <a:xfrm>
            <a:off x="9464040" y="8183879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9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Graph title embedding text"/>
          <p:cNvSpPr txBox="1"/>
          <p:nvPr/>
        </p:nvSpPr>
        <p:spPr>
          <a:xfrm>
            <a:off x="9555480" y="8238744"/>
            <a:ext cx="320040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898D"/>
                </a:solidFill>
                <a:latin typeface="Liberation Sans"/>
              </a:rPr>
              <a:t>BGE +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36B82"/>
                </a:solidFill>
                <a:latin typeface="Liberation Sans"/>
              </a:rPr>
              <a:t>1,024 → 128</a:t>
            </a:r>
          </a:p>
        </p:txBody>
      </p:sp>
      <p:sp>
        <p:nvSpPr>
          <p:cNvPr id="65" name="Graph elements"/>
          <p:cNvSpPr/>
          <p:nvPr/>
        </p:nvSpPr>
        <p:spPr>
          <a:xfrm>
            <a:off x="5852160" y="95554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9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Graph elements text"/>
          <p:cNvSpPr txBox="1"/>
          <p:nvPr/>
        </p:nvSpPr>
        <p:spPr>
          <a:xfrm>
            <a:off x="5943600" y="9610344"/>
            <a:ext cx="3108960" cy="80467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898D"/>
                </a:solidFill>
                <a:latin typeface="Liberation Sans"/>
              </a:rPr>
              <a:t>Graph Elements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36B82"/>
                </a:solidFill>
                <a:latin typeface="Liberation Sans"/>
              </a:rPr>
              <a:t>Entities · Actions · Context</a:t>
            </a:r>
          </a:p>
        </p:txBody>
      </p:sp>
      <p:sp>
        <p:nvSpPr>
          <p:cNvPr id="67" name="Graph embedding"/>
          <p:cNvSpPr/>
          <p:nvPr/>
        </p:nvSpPr>
        <p:spPr>
          <a:xfrm>
            <a:off x="9464040" y="941832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9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Graph embedding text"/>
          <p:cNvSpPr txBox="1"/>
          <p:nvPr/>
        </p:nvSpPr>
        <p:spPr>
          <a:xfrm>
            <a:off x="9555480" y="9473184"/>
            <a:ext cx="3200400" cy="107899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00898D"/>
                </a:solidFill>
                <a:latin typeface="Liberation Sans"/>
              </a:rPr>
              <a:t>Scene Features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536B82"/>
                </a:solidFill>
                <a:latin typeface="Liberation Sans"/>
              </a:rPr>
              <a:t>BGE + independent projections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B82"/>
                </a:solidFill>
                <a:latin typeface="Liberation Sans"/>
              </a:rPr>
              <a:t>Role fusion E → A · 384</a:t>
            </a:r>
          </a:p>
        </p:txBody>
      </p:sp>
      <p:sp>
        <p:nvSpPr>
          <p:cNvPr id="69" name="Graph scene MLP"/>
          <p:cNvSpPr/>
          <p:nvPr/>
        </p:nvSpPr>
        <p:spPr>
          <a:xfrm>
            <a:off x="13487400" y="8641080"/>
            <a:ext cx="2331720" cy="822960"/>
          </a:xfrm>
          <a:prstGeom prst="roundRect">
            <a:avLst>
              <a:gd name="adj" fmla="val 12000"/>
            </a:avLst>
          </a:prstGeom>
          <a:solidFill>
            <a:srgbClr val="DFF2F0"/>
          </a:solidFill>
          <a:ln w="15240">
            <a:solidFill>
              <a:srgbClr val="0089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Graph scene MLP text"/>
          <p:cNvSpPr txBox="1"/>
          <p:nvPr/>
        </p:nvSpPr>
        <p:spPr>
          <a:xfrm>
            <a:off x="13578840" y="8695944"/>
            <a:ext cx="2148839" cy="71323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898D"/>
                </a:solidFill>
                <a:latin typeface="Liberation Sans"/>
              </a:rPr>
              <a:t>Scene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B82"/>
                </a:solidFill>
                <a:latin typeface="Liberation Sans"/>
              </a:rPr>
              <a:t>Concat 512</a:t>
            </a:r>
          </a:p>
        </p:txBody>
      </p:sp>
      <p:sp>
        <p:nvSpPr>
          <p:cNvPr id="71" name="Graph aggregation"/>
          <p:cNvSpPr/>
          <p:nvPr/>
        </p:nvSpPr>
        <p:spPr>
          <a:xfrm>
            <a:off x="13487400" y="9738360"/>
            <a:ext cx="2331720" cy="731520"/>
          </a:xfrm>
          <a:prstGeom prst="roundRect">
            <a:avLst>
              <a:gd name="adj" fmla="val 12000"/>
            </a:avLst>
          </a:prstGeom>
          <a:solidFill>
            <a:srgbClr val="DFF2F0"/>
          </a:solidFill>
          <a:ln w="15240">
            <a:solidFill>
              <a:srgbClr val="0089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Graph aggregation text"/>
          <p:cNvSpPr txBox="1"/>
          <p:nvPr/>
        </p:nvSpPr>
        <p:spPr>
          <a:xfrm>
            <a:off x="13578840" y="9793224"/>
            <a:ext cx="2148839" cy="62179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898D"/>
                </a:solidFill>
                <a:latin typeface="Liberation Sans"/>
              </a:rPr>
              <a:t>Aggregation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B82"/>
                </a:solidFill>
                <a:latin typeface="Liberation Sans"/>
              </a:rPr>
              <a:t>Item 512</a:t>
            </a:r>
          </a:p>
        </p:txBody>
      </p:sp>
      <p:cxnSp>
        <p:nvCxnSpPr>
          <p:cNvPr id="73" name="Graphs to graph elements segment 1"/>
          <p:cNvCxnSpPr/>
          <p:nvPr/>
        </p:nvCxnSpPr>
        <p:spPr>
          <a:xfrm>
            <a:off x="5394960" y="8549640"/>
            <a:ext cx="0" cy="146304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raphs to graph elements segment 2"/>
          <p:cNvCxnSpPr/>
          <p:nvPr/>
        </p:nvCxnSpPr>
        <p:spPr>
          <a:xfrm>
            <a:off x="5394960" y="10012680"/>
            <a:ext cx="457200" cy="0"/>
          </a:xfrm>
          <a:prstGeom prst="line">
            <a:avLst/>
          </a:prstGeom>
          <a:ln w="22860">
            <a:solidFill>
              <a:srgbClr val="0089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Graph source fork"/>
          <p:cNvSpPr/>
          <p:nvPr/>
        </p:nvSpPr>
        <p:spPr>
          <a:xfrm>
            <a:off x="5362956" y="8517636"/>
            <a:ext cx="64008" cy="64008"/>
          </a:xfrm>
          <a:prstGeom prst="ellipse">
            <a:avLst/>
          </a:prstGeom>
          <a:solidFill>
            <a:srgbClr val="008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Graph title to embedding segment 1"/>
          <p:cNvCxnSpPr/>
          <p:nvPr/>
        </p:nvCxnSpPr>
        <p:spPr>
          <a:xfrm>
            <a:off x="9144000" y="8641080"/>
            <a:ext cx="320040" cy="0"/>
          </a:xfrm>
          <a:prstGeom prst="line">
            <a:avLst/>
          </a:prstGeom>
          <a:ln w="22860">
            <a:solidFill>
              <a:srgbClr val="0089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raph elements to embedding segment 1"/>
          <p:cNvCxnSpPr/>
          <p:nvPr/>
        </p:nvCxnSpPr>
        <p:spPr>
          <a:xfrm>
            <a:off x="9144000" y="10012680"/>
            <a:ext cx="320040" cy="0"/>
          </a:xfrm>
          <a:prstGeom prst="line">
            <a:avLst/>
          </a:prstGeom>
          <a:ln w="22860">
            <a:solidFill>
              <a:srgbClr val="0089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raph title embedding to merge segment 1"/>
          <p:cNvCxnSpPr/>
          <p:nvPr/>
        </p:nvCxnSpPr>
        <p:spPr>
          <a:xfrm>
            <a:off x="12847320" y="8641080"/>
            <a:ext cx="365760" cy="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raph title embedding to merge segment 2"/>
          <p:cNvCxnSpPr/>
          <p:nvPr/>
        </p:nvCxnSpPr>
        <p:spPr>
          <a:xfrm>
            <a:off x="13213080" y="8641080"/>
            <a:ext cx="0" cy="41148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raph video embedding to merge segment 1"/>
          <p:cNvCxnSpPr/>
          <p:nvPr/>
        </p:nvCxnSpPr>
        <p:spPr>
          <a:xfrm>
            <a:off x="12847320" y="10012680"/>
            <a:ext cx="365760" cy="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raph video embedding to merge segment 2"/>
          <p:cNvCxnSpPr/>
          <p:nvPr/>
        </p:nvCxnSpPr>
        <p:spPr>
          <a:xfrm flipV="1">
            <a:off x="13213080" y="9052560"/>
            <a:ext cx="0" cy="96012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Graph scene input merge"/>
          <p:cNvSpPr/>
          <p:nvPr/>
        </p:nvSpPr>
        <p:spPr>
          <a:xfrm>
            <a:off x="13181076" y="9020556"/>
            <a:ext cx="64008" cy="64008"/>
          </a:xfrm>
          <a:prstGeom prst="ellipse">
            <a:avLst/>
          </a:prstGeom>
          <a:solidFill>
            <a:srgbClr val="008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Graph features to scene MLP segment 1"/>
          <p:cNvCxnSpPr/>
          <p:nvPr/>
        </p:nvCxnSpPr>
        <p:spPr>
          <a:xfrm>
            <a:off x="13213080" y="9052560"/>
            <a:ext cx="274320" cy="0"/>
          </a:xfrm>
          <a:prstGeom prst="line">
            <a:avLst/>
          </a:prstGeom>
          <a:ln w="22860">
            <a:solidFill>
              <a:srgbClr val="0089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cene MLP to aggregation segment 1"/>
          <p:cNvCxnSpPr/>
          <p:nvPr/>
        </p:nvCxnSpPr>
        <p:spPr>
          <a:xfrm>
            <a:off x="14653259" y="9464040"/>
            <a:ext cx="0" cy="274320"/>
          </a:xfrm>
          <a:prstGeom prst="line">
            <a:avLst/>
          </a:prstGeom>
          <a:ln w="22860">
            <a:solidFill>
              <a:srgbClr val="0089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Baseline item vectors segment 1"/>
          <p:cNvCxnSpPr/>
          <p:nvPr/>
        </p:nvCxnSpPr>
        <p:spPr>
          <a:xfrm>
            <a:off x="15819120" y="2651760"/>
            <a:ext cx="457200" cy="0"/>
          </a:xfrm>
          <a:prstGeom prst="line">
            <a:avLst/>
          </a:prstGeom>
          <a:ln w="22860">
            <a:solidFill>
              <a:srgbClr val="6875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Text item vectors segment 1"/>
          <p:cNvCxnSpPr/>
          <p:nvPr/>
        </p:nvCxnSpPr>
        <p:spPr>
          <a:xfrm>
            <a:off x="15819120" y="5852160"/>
            <a:ext cx="457200" cy="0"/>
          </a:xfrm>
          <a:prstGeom prst="line">
            <a:avLst/>
          </a:prstGeom>
          <a:ln w="22860">
            <a:solidFill>
              <a:srgbClr val="2C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raph item vectors segment 1"/>
          <p:cNvCxnSpPr/>
          <p:nvPr/>
        </p:nvCxnSpPr>
        <p:spPr>
          <a:xfrm>
            <a:off x="15819120" y="10104120"/>
            <a:ext cx="457200" cy="0"/>
          </a:xfrm>
          <a:prstGeom prst="line">
            <a:avLst/>
          </a:prstGeom>
          <a:ln w="22860">
            <a:solidFill>
              <a:srgbClr val="008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Alternative item vector bus segment 1"/>
          <p:cNvCxnSpPr/>
          <p:nvPr/>
        </p:nvCxnSpPr>
        <p:spPr>
          <a:xfrm>
            <a:off x="16276320" y="2651760"/>
            <a:ext cx="0" cy="7452360"/>
          </a:xfrm>
          <a:prstGeom prst="line">
            <a:avLst/>
          </a:prstGeom>
          <a:ln w="22860">
            <a:solidFill>
              <a:srgbClr val="183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Item bus junction"/>
          <p:cNvSpPr/>
          <p:nvPr/>
        </p:nvSpPr>
        <p:spPr>
          <a:xfrm>
            <a:off x="16244316" y="2619756"/>
            <a:ext cx="64008" cy="64008"/>
          </a:xfrm>
          <a:prstGeom prst="ellipse">
            <a:avLst/>
          </a:prstGeom>
          <a:solidFill>
            <a:srgbClr val="18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Item bus junction"/>
          <p:cNvSpPr/>
          <p:nvPr/>
        </p:nvSpPr>
        <p:spPr>
          <a:xfrm>
            <a:off x="16244316" y="5820156"/>
            <a:ext cx="64008" cy="64008"/>
          </a:xfrm>
          <a:prstGeom prst="ellipse">
            <a:avLst/>
          </a:prstGeom>
          <a:solidFill>
            <a:srgbClr val="18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Item bus junction"/>
          <p:cNvSpPr/>
          <p:nvPr/>
        </p:nvSpPr>
        <p:spPr>
          <a:xfrm>
            <a:off x="16244316" y="6734556"/>
            <a:ext cx="64008" cy="64008"/>
          </a:xfrm>
          <a:prstGeom prst="ellipse">
            <a:avLst/>
          </a:prstGeom>
          <a:solidFill>
            <a:srgbClr val="18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Item bus junction"/>
          <p:cNvSpPr/>
          <p:nvPr/>
        </p:nvSpPr>
        <p:spPr>
          <a:xfrm>
            <a:off x="16244316" y="10072116"/>
            <a:ext cx="64008" cy="64008"/>
          </a:xfrm>
          <a:prstGeom prst="ellipse">
            <a:avLst/>
          </a:prstGeom>
          <a:solidFill>
            <a:srgbClr val="18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ommendation"/>
          <p:cNvSpPr/>
          <p:nvPr/>
        </p:nvSpPr>
        <p:spPr>
          <a:xfrm>
            <a:off x="16962120" y="3657600"/>
            <a:ext cx="4023360" cy="7132320"/>
          </a:xfrm>
          <a:prstGeom prst="roundRect">
            <a:avLst>
              <a:gd name="adj" fmla="val 12000"/>
            </a:avLst>
          </a:prstGeom>
          <a:solidFill>
            <a:srgbClr val="E7EDF5"/>
          </a:solidFill>
          <a:ln w="15240">
            <a:solidFill>
              <a:srgbClr val="1834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ommendation heading"/>
          <p:cNvSpPr txBox="1"/>
          <p:nvPr/>
        </p:nvSpPr>
        <p:spPr>
          <a:xfrm>
            <a:off x="17145000" y="3931920"/>
            <a:ext cx="3657600" cy="54864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3450"/>
                </a:solidFill>
                <a:latin typeface="Liberation Sans"/>
              </a:rPr>
              <a:t>Recommendation</a:t>
            </a:r>
          </a:p>
        </p:txBody>
      </p:sp>
      <p:sp>
        <p:nvSpPr>
          <p:cNvPr id="95" name="User representation"/>
          <p:cNvSpPr txBox="1"/>
          <p:nvPr/>
        </p:nvSpPr>
        <p:spPr>
          <a:xfrm>
            <a:off x="17236440" y="4709160"/>
            <a:ext cx="3474720" cy="169164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3450"/>
                </a:solidFill>
                <a:latin typeface="Liberation Sans"/>
              </a:rPr>
              <a:t>Viewing history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536B82"/>
                </a:solidFill>
                <a:latin typeface="Liberation Sans"/>
              </a:rPr>
              <a:t>Past item vectors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83450"/>
                </a:solidFill>
                <a:latin typeface="Liberation Sans"/>
              </a:rPr>
              <a:t>SASRec + User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450"/>
                </a:solidFill>
                <a:latin typeface="Liberation Sans"/>
              </a:rPr>
              <a:t>User 512</a:t>
            </a:r>
          </a:p>
        </p:txBody>
      </p:sp>
      <p:sp>
        <p:nvSpPr>
          <p:cNvPr id="96" name="Candidate scoring"/>
          <p:cNvSpPr txBox="1"/>
          <p:nvPr/>
        </p:nvSpPr>
        <p:spPr>
          <a:xfrm>
            <a:off x="17236440" y="6995160"/>
            <a:ext cx="3474720" cy="169164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3450"/>
                </a:solidFill>
                <a:latin typeface="Liberation Sans"/>
              </a:rPr>
              <a:t>Candidate scoring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36B82"/>
                </a:solidFill>
                <a:latin typeface="Liberation Sans"/>
              </a:rPr>
              <a:t>Candidate item vectors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3450"/>
                </a:solidFill>
                <a:latin typeface="Liberation Sans"/>
              </a:rPr>
              <a:t>User · Candidate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B82"/>
                </a:solidFill>
                <a:latin typeface="Liberation Sans"/>
              </a:rPr>
              <a:t>Full-catalog ranking</a:t>
            </a:r>
          </a:p>
        </p:txBody>
      </p:sp>
      <p:sp>
        <p:nvSpPr>
          <p:cNvPr id="97" name="Evaluation"/>
          <p:cNvSpPr txBox="1"/>
          <p:nvPr/>
        </p:nvSpPr>
        <p:spPr>
          <a:xfrm>
            <a:off x="17236440" y="9189720"/>
            <a:ext cx="3474720" cy="114300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3450"/>
                </a:solidFill>
                <a:latin typeface="Liberation Sans"/>
              </a:rPr>
              <a:t>Evaluation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536B82"/>
                </a:solidFill>
                <a:latin typeface="Liberation Sans"/>
              </a:rPr>
              <a:t>Validation: HR@10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B82"/>
                </a:solidFill>
                <a:latin typeface="Liberation Sans"/>
              </a:rPr>
              <a:t>Test: NDCG / HR</a:t>
            </a:r>
          </a:p>
        </p:txBody>
      </p:sp>
      <p:sp>
        <p:nvSpPr>
          <p:cNvPr id="98" name="Aggregation choices"/>
          <p:cNvSpPr txBox="1"/>
          <p:nvPr/>
        </p:nvSpPr>
        <p:spPr>
          <a:xfrm>
            <a:off x="548640" y="11137392"/>
            <a:ext cx="20848320" cy="45720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898D"/>
                </a:solidFill>
                <a:latin typeface="Liberation Sans"/>
              </a:rPr>
              <a:t>Graph aggregation: mean · gnn · attn_pool · gnn_attn · transformer · transformer_pos · transformer_local</a:t>
            </a:r>
          </a:p>
        </p:txBody>
      </p:sp>
      <p:cxnSp>
        <p:nvCxnSpPr>
          <p:cNvPr id="99" name="Item vectors to recommendation segment 1"/>
          <p:cNvCxnSpPr/>
          <p:nvPr/>
        </p:nvCxnSpPr>
        <p:spPr>
          <a:xfrm>
            <a:off x="16276320" y="6766560"/>
            <a:ext cx="685800" cy="0"/>
          </a:xfrm>
          <a:prstGeom prst="line">
            <a:avLst/>
          </a:prstGeom>
          <a:ln w="22860">
            <a:solidFill>
              <a:srgbClr val="18345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