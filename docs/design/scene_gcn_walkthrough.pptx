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8be065b5-004f-2c53-56ca-b4d39fddcf59}">
          <p14:sldIdLst>
            <p14:sldId id="256"/>
            <p14:sldId id="257"/>
          </p14:sldIdLst>
        </p14:section>
        <p14:section name="입력 데이터" id="{2ccdb694-826f-1425-cd40-28f32bdef111}">
          <p14:sldIdLst>
            <p14:sldId id="258"/>
            <p14:sldId id="259"/>
            <p14:sldId id="260"/>
          </p14:sldIdLst>
        </p14:section>
        <p14:section name="모델 단계별" id="{20198408-1b3c-46c1-c35f-5a98c2263e58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실행·학습" id="{0b960a3b-78e6-02ca-f8c9-9c800eee1f7c}">
          <p14:sldIdLst>
            <p14:sldId id="268"/>
            <p14:sldId id="269"/>
            <p14:sldId id="270"/>
            <p14:sldId id="271"/>
            <p14:sldId id="272"/>
          </p14:sldIdLst>
        </p14:section>
        <p14:section name="수정 가이드" id="{3a8a080c-40ab-9878-fd7b-6c67b39b2bbe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Scene GCN 구현 분석 · ViewingContextPipeline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Scene GCN은 어떻게 구현되어 있나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ViewingContextPipeline · --representation-mode graph --scene-aggregation gnn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모델 계약 sasrec-role-graph/v8 · 코드 기준 2026-10-06</a:t>
            </a:r>
            <a:endParaRPr lang="en-US" sz="1800" dirty="0"/>
          </a:p>
        </p:txBody>
      </p:sp>
      <p:sp>
        <p:nvSpPr>
          <p:cNvPr id="4" name="note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F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src/validation/graph_inputs.py · graph_batching.py · graph_model.py · scene_gcn.py · graph_context.py · model.py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전체 흐름: Scene Graph 파일에서 추천 점수까지 5단계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① 입력 변환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Scene JSONL 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노드·간선·문맥 배열</a:t>
            </a:r>
            <a:endParaRPr lang="en-US" sz="1250" dirty="0"/>
          </a:p>
        </p:txBody>
      </p:sp>
      <p:sp>
        <p:nvSpPr>
          <p:cNvPr id="5" name="note"/>
          <p:cNvSpPr txBox="1"/>
          <p:nvPr/>
        </p:nvSpPr>
        <p:spPr>
          <a:xfrm>
            <a:off x="45720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graph_inputs.py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embed-representations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0" y="2377440"/>
            <a:ext cx="237744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798064" y="13716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② 고정 특징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98064" y="18745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노드 텍스트를 BGE로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인코딩 (1024, 동결)</a:t>
            </a:r>
            <a:endParaRPr lang="en-US" sz="1250" dirty="0"/>
          </a:p>
        </p:txBody>
      </p:sp>
      <p:sp>
        <p:nvSpPr>
          <p:cNvPr id="9" name="note"/>
          <p:cNvSpPr txBox="1"/>
          <p:nvPr/>
        </p:nvSpPr>
        <p:spPr>
          <a:xfrm>
            <a:off x="2798064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graph_inputs.py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&lt;arm&gt;_embeddings/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01184" y="2377440"/>
            <a:ext cx="237744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38928" y="13716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③ 장면 encoder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38928" y="18745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projection → 역할 결합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→ 장면 MLP</a:t>
            </a:r>
            <a:endParaRPr lang="en-US" sz="1250" dirty="0"/>
          </a:p>
        </p:txBody>
      </p:sp>
      <p:sp>
        <p:nvSpPr>
          <p:cNvPr id="13" name="note"/>
          <p:cNvSpPr txBox="1"/>
          <p:nvPr/>
        </p:nvSpPr>
        <p:spPr>
          <a:xfrm>
            <a:off x="5138928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graph_model.py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SceneRoleEncoder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42048" y="2377440"/>
            <a:ext cx="237744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79792" y="13716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④ 장면 GCN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79792" y="18745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영상 안 장면 유사도 그래프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→ 1층 GCN → 평균</a:t>
            </a:r>
            <a:endParaRPr lang="en-US" sz="1250" dirty="0"/>
          </a:p>
        </p:txBody>
      </p:sp>
      <p:sp>
        <p:nvSpPr>
          <p:cNvPr id="17" name="note"/>
          <p:cNvSpPr txBox="1"/>
          <p:nvPr/>
        </p:nvSpPr>
        <p:spPr>
          <a:xfrm>
            <a:off x="7479792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scene_gcn.py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SceneGCN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82912" y="2377440"/>
            <a:ext cx="237744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820656" y="13716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⑤ 추천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20656" y="18745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영상 벡터 → SASRec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→ 사용자·후보 내적</a:t>
            </a:r>
            <a:endParaRPr lang="en-US" sz="1250" dirty="0"/>
          </a:p>
        </p:txBody>
      </p:sp>
      <p:sp>
        <p:nvSpPr>
          <p:cNvPr id="21" name="note"/>
          <p:cNvSpPr txBox="1"/>
          <p:nvPr/>
        </p:nvSpPr>
        <p:spPr>
          <a:xfrm>
            <a:off x="9820656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graph_model.py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GraphSASRec · model.py</a:t>
            </a:r>
            <a:endParaRPr lang="en-US" sz="1050" dirty="0"/>
          </a:p>
        </p:txBody>
      </p:sp>
      <p:sp>
        <p:nvSpPr>
          <p:cNvPr id="22" name="note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학습 시 ③④⑤는 하나의 모델(GraphSASRec)이며, 추천 loss의 gradient가 ⑤ → ④ → ③까지 흐릅니다. ①②는 임베딩 단계에서 한 번만 계산해 저장합니다.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8E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note"/>
          <p:cNvSpPr txBox="1"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학습되는 부분 (추천 loss로 갱신)</a:t>
            </a:r>
            <a:endParaRPr lang="en-US" sz="1500" dirty="0"/>
          </a:p>
        </p:txBody>
      </p:sp>
      <p:sp>
        <p:nvSpPr>
          <p:cNvPr id="25" name="note"/>
          <p:cNvSpPr txBox="1"/>
          <p:nvPr/>
        </p:nvSpPr>
        <p:spPr>
          <a:xfrm>
            <a:off x="640080" y="48463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7"/>
                </a:solidFill>
              </a:rPr>
              <a:t>• 4개 projection (Title·Entity·Action·Context, 1024→128)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7"/>
                </a:solidFill>
              </a:rPr>
              <a:t>• 역할 결합 Linear (640→128)과 none/unknown 상태 벡터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7"/>
                </a:solidFill>
              </a:rPr>
              <a:t>• Scene Residual MLP (512), GCN Linear (512→512)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7"/>
                </a:solidFill>
              </a:rPr>
              <a:t>• SASRec Transformer, 위치 임베딩, User MLP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429768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27" name="note"/>
          <p:cNvSpPr txBox="1"/>
          <p:nvPr/>
        </p:nvSpPr>
        <p:spPr>
          <a:xfrm>
            <a:off x="640080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고정된 부분</a:t>
            </a:r>
            <a:endParaRPr lang="en-US" sz="1500" dirty="0"/>
          </a:p>
        </p:txBody>
      </p:sp>
      <p:sp>
        <p:nvSpPr>
          <p:cNvPr id="28" name="note"/>
          <p:cNvSpPr txBox="1"/>
          <p:nvPr/>
        </p:nvSpPr>
        <p:spPr>
          <a:xfrm>
            <a:off x="6400800" y="48463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7"/>
                </a:solidFill>
              </a:rPr>
              <a:t>• BGE large-en-v1.5 (텍스트 → 1024). 학습 중 갱신하지 않음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7"/>
                </a:solidFill>
              </a:rPr>
              <a:t>• 그래프 구조: 어떤 Entity가 어떤 Action의 어느 역할인지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7"/>
                </a:solidFill>
              </a:rPr>
              <a:t>• 장면 묶음 인덱스(scene_groups): 영상별 장면 수로 결정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7"/>
                </a:solidFill>
              </a:rPr>
              <a:t>• 장면 유사도 Â는 고정이 아님 — 매 forward 다시 계산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1. 입력: Scene Graph가 텐서가 되기까지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graph_inputs.py · embed-representations 단계 · 출력 validation/representations/graph/&lt;arm&gt;_embeddings/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장면 1개의 Scene Graph → 노드·간선·문맥 (graph_inputs.py)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846320" cy="2514600"/>
          </a:xfrm>
          <a:prstGeom prst="roundRect">
            <a:avLst>
              <a:gd name="adj" fmla="val 2909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[Context]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medium: live_action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demonstration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topics: food preparation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[Entities]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p1: person; wearing apron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f1: tomato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knife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l1: kitchen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[Actions]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p1 - cutting - f1; t1; l1</a:t>
            </a:r>
            <a:endParaRPr lang="en-US" sz="1150" dirty="0"/>
          </a:p>
        </p:txBody>
      </p:sp>
      <p:sp>
        <p:nvSpPr>
          <p:cNvPr id="4" name="note"/>
          <p:cNvSpPr txBox="1"/>
          <p:nvPr/>
        </p:nvSpPr>
        <p:spPr>
          <a:xfrm>
            <a:off x="45720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v8 Scene Graph 출력 (파싱되어 scene_graph 객체로 저장)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49240" y="2468880"/>
            <a:ext cx="5486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234440"/>
          <a:ext cx="5715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21488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배열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이 장면에서 생기는 값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뜻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nodes / types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p1, f1, t1, l1 → type 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cutting → type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노드 = Entity(0) 또는 Action(1).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값은 BGE에 넣을 텍스트의 ID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edges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(p1→cutting, actor=0)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(f1→cutting, target=1)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(t1→cutting, tool=2)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(l1→cutting, location=4)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역방향 4개 (role+5)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Entity → Action 간선.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역방향은 저장만 하고 모델은 쓰지 않음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missing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[cutting, −1, −1, −1, 0, −1]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역할별 상태. −1 = 연결됨,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0 = none, 1 = unknown.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receiver(4번째)는 항상 0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contexts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"Format: demonstration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Medium: live_action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Topics: food preparation"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장면당 1개의 문맥 텍스트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note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BGE에 들어가는 텍스트 (ID는 넣지 않음)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937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"Name: person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Attributes: wearing apron"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0" y="4937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"cutting"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4937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"Format: …\nMedium: …\nTopics: …"</a:t>
            </a:r>
            <a:endParaRPr lang="en-US" sz="1100" dirty="0"/>
          </a:p>
        </p:txBody>
      </p:sp>
      <p:sp>
        <p:nvSpPr>
          <p:cNvPr id="11" name="note"/>
          <p:cNvSpPr txBox="1"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같은 텍스트는 한 번만 인코딩합니다(text_id로 중복 제거). 제목은 Arm이 제목을 쓰는 경우에만 영상당 1개 text_id로 들어가고, 아니면 0(없음)입니다.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구조 검사(validate_graph_structure)에 실패하거나 warning이 있는 장면은 제외되고 excluded_scenes에 기록됩니다.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저장 형식: 영상 → 장면 → 노드의 들쭉날쭉한 배열을 offsets로 이어 붙임</a:t>
            </a:r>
            <a:endParaRPr lang="en-US" sz="2800" dirty="0"/>
          </a:p>
        </p:txBody>
      </p:sp>
      <p:sp>
        <p:nvSpPr>
          <p:cNvPr id="3" name="note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예: 영상 A는 장면 2개(노드 3+2), 영상 B는 장면 1개(노드 4). 모든 영상의 장면·노드가 한 줄로 이어지고, 경계는 offsets 배열에만 있습니다.</a:t>
            </a:r>
            <a:endParaRPr lang="en-US" sz="1250" dirty="0"/>
          </a:p>
        </p:txBody>
      </p:sp>
      <p:sp>
        <p:nvSpPr>
          <p:cNvPr id="4" name="note"/>
          <p:cNvSpPr txBox="1"/>
          <p:nvPr/>
        </p:nvSpPr>
        <p:spPr>
          <a:xfrm>
            <a:off x="45720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영상 (video_offsets)</a:t>
            </a:r>
            <a:endParaRPr lang="en-US" sz="1200" dirty="0"/>
          </a:p>
        </p:txBody>
      </p:sp>
      <p:sp>
        <p:nvSpPr>
          <p:cNvPr id="5" name="note"/>
          <p:cNvSpPr txBox="1"/>
          <p:nvPr/>
        </p:nvSpPr>
        <p:spPr>
          <a:xfrm>
            <a:off x="45720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장면 (contexts · scene_offsets)</a:t>
            </a:r>
            <a:endParaRPr lang="en-US" sz="1200" dirty="0"/>
          </a:p>
        </p:txBody>
      </p:sp>
      <p:sp>
        <p:nvSpPr>
          <p:cNvPr id="6" name="note"/>
          <p:cNvSpPr txBox="1"/>
          <p:nvPr/>
        </p:nvSpPr>
        <p:spPr>
          <a:xfrm>
            <a:off x="457200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노드 (nodes · types · features)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78308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영상 A  (장면 0–1)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178308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영상 B  (장면 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7432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장면 0  (노드 0–2)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7432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장면 1  (노드 3–4)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2743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장면 2  (노드 5–8)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703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3703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7033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703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37033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370332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41080" y="370332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5440" y="370332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29800" y="370332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8:A</a:t>
            </a:r>
            <a:endParaRPr lang="en-US" sz="1100" dirty="0"/>
          </a:p>
        </p:txBody>
      </p:sp>
      <p:sp>
        <p:nvSpPr>
          <p:cNvPr id="21" name="note"/>
          <p:cNvSpPr txBox="1"/>
          <p:nvPr/>
        </p:nvSpPr>
        <p:spPr>
          <a:xfrm>
            <a:off x="301752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E = Entity (type 0), A = Action (type 1). 노드 번호는 전체 catalog에서 유일합니다.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video_offsets  = [0, 2, 3]        # 영상 i의 장면: [v[i], v[i+1])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scene_offsets  = [0, 3, 5, 9]     # 장면 s의 노드: [o[s], o[s+1])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edge_offsets, missing_offsets     # 같은 방식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titles         = [text_id_A, 0]   # 영상별 제목 text_id (0 = 없음)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      = (고유 텍스트 수 × 1024) float32, 동결 BGE 출력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4754880"/>
            <a:ext cx="5532120" cy="1508760"/>
          </a:xfrm>
          <a:prstGeom prst="roundRect">
            <a:avLst>
              <a:gd name="adj" fmla="val 6061"/>
            </a:avLst>
          </a:prstGeom>
          <a:solidFill>
            <a:srgbClr val="E8E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note"/>
          <p:cNvSpPr txBox="1"/>
          <p:nvPr/>
        </p:nvSpPr>
        <p:spPr>
          <a:xfrm>
            <a:off x="6400800" y="48920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PackedGraphStore (graph_batching.py)</a:t>
            </a:r>
            <a:endParaRPr lang="en-US" sz="1500" dirty="0"/>
          </a:p>
        </p:txBody>
      </p:sp>
      <p:sp>
        <p:nvSpPr>
          <p:cNvPr id="25" name="note"/>
          <p:cNvSpPr txBox="1"/>
          <p:nvPr/>
        </p:nvSpPr>
        <p:spPr>
          <a:xfrm>
            <a:off x="6400800" y="530352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학습 시작 때 video→node, video→edge 경계와 역할별 간선 목록을 미리 계산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배치의 영상 ID를 받아 그 영상들의 장면·노드·간선을 한 번의 벡터 연산으로 모음(ranges)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BGE 특징 전체(features)를 GPU에 올릴 수 있으면 상주시킴 (feature_cache_mb, 기본 2048MB)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2. 모델: SceneRoleEncoder.forward 를 한 단계씩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graph_model.py 62–118행 · scene_gcn.py · 입력은 배치 하나(여러 영상의 장면·노드), 출력은 영상당 512차원 벡터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단계 1 · Projection: 네 종류 입력을 각각 1024 → 128로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Title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BGE [동결]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1024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28800" y="256032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nn.Linear(1024, 128)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title_projection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361188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128</a:t>
            </a:r>
            <a:endParaRPr lang="en-US" sz="1400" dirty="0"/>
          </a:p>
        </p:txBody>
      </p:sp>
      <p:sp>
        <p:nvSpPr>
          <p:cNvPr id="9" name="note"/>
          <p:cNvSpPr txBox="1"/>
          <p:nvPr/>
        </p:nvSpPr>
        <p:spPr>
          <a:xfrm>
            <a:off x="548640" y="4526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영상당 1개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(제목 없는 Arm·영상은 0)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BGE [동결]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1024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383280" y="2880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nn.Linear(1024, 128)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entity_projection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61188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383280" y="393192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128</a:t>
            </a:r>
            <a:endParaRPr lang="en-US" sz="1400" dirty="0"/>
          </a:p>
        </p:txBody>
      </p:sp>
      <p:sp>
        <p:nvSpPr>
          <p:cNvPr id="16" name="note"/>
          <p:cNvSpPr txBox="1"/>
          <p:nvPr/>
        </p:nvSpPr>
        <p:spPr>
          <a:xfrm>
            <a:off x="3383280" y="4526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장면의 Entity 노드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E개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1280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BGE [동결]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1024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0" y="256032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217920" y="2880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nn.Linear(1024, 128)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action_projection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0" y="361188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217920" y="393192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128</a:t>
            </a:r>
            <a:endParaRPr lang="en-US" sz="1400" dirty="0"/>
          </a:p>
        </p:txBody>
      </p:sp>
      <p:sp>
        <p:nvSpPr>
          <p:cNvPr id="23" name="note"/>
          <p:cNvSpPr txBox="1"/>
          <p:nvPr/>
        </p:nvSpPr>
        <p:spPr>
          <a:xfrm>
            <a:off x="6217920" y="4526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장면의 Action 노드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A개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52560" y="1280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Context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0" y="18288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BGE [동결]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1024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332720" y="256032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052560" y="2880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nn.Linear(1024, 128)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context_projection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332720" y="361188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052560" y="393192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128</a:t>
            </a:r>
            <a:endParaRPr lang="en-US" sz="1400" dirty="0"/>
          </a:p>
        </p:txBody>
      </p:sp>
      <p:sp>
        <p:nvSpPr>
          <p:cNvPr id="30" name="note"/>
          <p:cNvSpPr txBox="1"/>
          <p:nvPr/>
        </p:nvSpPr>
        <p:spPr>
          <a:xfrm>
            <a:off x="9052560" y="4526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장면당 1개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(format·medium·topics)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303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32" name="note"/>
          <p:cNvSpPr txBox="1"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코드에서 확인할 점</a:t>
            </a:r>
            <a:endParaRPr lang="en-US" sz="1500" dirty="0"/>
          </a:p>
        </p:txBody>
      </p:sp>
      <p:sp>
        <p:nvSpPr>
          <p:cNvPr id="33" name="note"/>
          <p:cNvSpPr txBox="1"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네 projection은 가중치를 공유하지 않습니다(종류별 별도 Linear). bias 포함 각 131,200개 파라미터.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제목은 title_available 마스크로 0 처리합니다. 즉 '제목 없음'은 Linear를 거친 뒤 0 벡터가 됩니다 (graph_model.py 65–66행).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단계 2 · 역할 결합: Entity 정보를 Action 벡터에 한 번 더함</a:t>
            </a:r>
            <a:endParaRPr lang="en-US" sz="2800" dirty="0"/>
          </a:p>
        </p:txBody>
      </p:sp>
      <p:sp>
        <p:nvSpPr>
          <p:cNvPr id="3" name="node"/>
          <p:cNvSpPr/>
          <p:nvPr/>
        </p:nvSpPr>
        <p:spPr>
          <a:xfrm>
            <a:off x="768096" y="1225296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37"/>
                </a:solidFill>
              </a:rPr>
              <a:t>r_actor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600200" y="1645920"/>
            <a:ext cx="1417320" cy="88696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" name="note"/>
          <p:cNvSpPr txBox="1"/>
          <p:nvPr/>
        </p:nvSpPr>
        <p:spPr>
          <a:xfrm>
            <a:off x="1737360" y="1325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F766E"/>
                </a:solidFill>
              </a:rPr>
              <a:t>actor</a:t>
            </a:r>
            <a:endParaRPr lang="en-US" sz="1050" dirty="0"/>
          </a:p>
        </p:txBody>
      </p:sp>
      <p:sp>
        <p:nvSpPr>
          <p:cNvPr id="6" name="node"/>
          <p:cNvSpPr/>
          <p:nvPr/>
        </p:nvSpPr>
        <p:spPr>
          <a:xfrm>
            <a:off x="768096" y="2139696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37"/>
                </a:solidFill>
              </a:rPr>
              <a:t>r_target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00200" y="2560320"/>
            <a:ext cx="1417320" cy="8229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" name="note"/>
          <p:cNvSpPr txBox="1"/>
          <p:nvPr/>
        </p:nvSpPr>
        <p:spPr>
          <a:xfrm>
            <a:off x="173736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F766E"/>
                </a:solidFill>
              </a:rPr>
              <a:t>target</a:t>
            </a:r>
            <a:endParaRPr lang="en-US" sz="1050" dirty="0"/>
          </a:p>
        </p:txBody>
      </p:sp>
      <p:sp>
        <p:nvSpPr>
          <p:cNvPr id="9" name="node"/>
          <p:cNvSpPr/>
          <p:nvPr/>
        </p:nvSpPr>
        <p:spPr>
          <a:xfrm>
            <a:off x="768096" y="3054096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37"/>
                </a:solidFill>
              </a:rPr>
              <a:t>r_tool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 flipV="1">
            <a:off x="1600200" y="2752344"/>
            <a:ext cx="1417320" cy="72237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1" name="note"/>
          <p:cNvSpPr txBox="1"/>
          <p:nvPr/>
        </p:nvSpPr>
        <p:spPr>
          <a:xfrm>
            <a:off x="173736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F766E"/>
                </a:solidFill>
              </a:rPr>
              <a:t>tool</a:t>
            </a:r>
            <a:endParaRPr lang="en-US" sz="1050" dirty="0"/>
          </a:p>
        </p:txBody>
      </p:sp>
      <p:sp>
        <p:nvSpPr>
          <p:cNvPr id="12" name="node"/>
          <p:cNvSpPr/>
          <p:nvPr/>
        </p:nvSpPr>
        <p:spPr>
          <a:xfrm>
            <a:off x="768096" y="3968496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37"/>
                </a:solidFill>
              </a:rPr>
              <a:t>r_location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V="1">
            <a:off x="1600200" y="2862072"/>
            <a:ext cx="1417320" cy="15270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4" name="note"/>
          <p:cNvSpPr txBox="1"/>
          <p:nvPr/>
        </p:nvSpPr>
        <p:spPr>
          <a:xfrm>
            <a:off x="1737360" y="4069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F766E"/>
                </a:solidFill>
              </a:rPr>
              <a:t>location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2331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Action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128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303520" y="201168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concat → 640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nn.Linear(640, 128) → ReLU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(role_fusion)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0" y="2697480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961120" y="23317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a′ = a + ReLU(…)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128</a:t>
            </a:r>
            <a:endParaRPr lang="en-US" sz="1300" dirty="0"/>
          </a:p>
        </p:txBody>
      </p:sp>
      <p:sp>
        <p:nvSpPr>
          <p:cNvPr id="20" name="note"/>
          <p:cNvSpPr txBox="1"/>
          <p:nvPr/>
        </p:nvSpPr>
        <p:spPr>
          <a:xfrm>
            <a:off x="548640" y="5029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r_역할 = 연결된 Entity의 128차원 벡터 (단계 1 출력)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연결이 없으면 → 학습 가능한 상태 벡터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role_states: nn.Parameter(4, 2, 128)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[역할 4] × [none=0, unknown=1] × 128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4114800"/>
            <a:ext cx="5760720" cy="2148840"/>
          </a:xfrm>
          <a:prstGeom prst="roundRect">
            <a:avLst>
              <a:gd name="adj" fmla="val 4255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23" name="note"/>
          <p:cNvSpPr txBox="1"/>
          <p:nvPr/>
        </p:nvSpPr>
        <p:spPr>
          <a:xfrm>
            <a:off x="6126480" y="4251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구조상 특징 (바꿀 때 참고)</a:t>
            </a:r>
            <a:endParaRPr lang="en-US" sz="1500" dirty="0"/>
          </a:p>
        </p:txBody>
      </p:sp>
      <p:sp>
        <p:nvSpPr>
          <p:cNvPr id="24" name="note"/>
          <p:cNvSpPr txBox="1"/>
          <p:nvPr/>
        </p:nvSpPr>
        <p:spPr>
          <a:xfrm>
            <a:off x="6126480" y="46634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방향이 한쪽입니다: Entity → Action. Entity 벡터는 갱신되지 않고 그대로 평균에 들어갑니다.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1-hop 1회입니다. 층을 쌓거나 반복하지 않습니다.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receiver 역할은 입력에서 항상 '없음'으로 들어오고 모델도 읽지 않습니다 (ROLE_INDICES = 0,1,2,4).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역할마다 Entity가 최대 1개입니다 (v8 형식: actor - action - target; tool; location).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단계 3 · 장면 벡터: 네 성분 concat(512) → Residual MLP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128</a:t>
            </a:r>
            <a:endParaRPr lang="en-US" sz="1300" dirty="0"/>
          </a:p>
        </p:txBody>
      </p:sp>
      <p:sp>
        <p:nvSpPr>
          <p:cNvPr id="4" name="note"/>
          <p:cNvSpPr txBox="1"/>
          <p:nvPr/>
        </p:nvSpPr>
        <p:spPr>
          <a:xfrm>
            <a:off x="5486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제목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280160" y="2514600"/>
            <a:ext cx="2331720" cy="45720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48840" y="13258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mean(e)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128</a:t>
            </a:r>
            <a:endParaRPr lang="en-US" sz="1300" dirty="0"/>
          </a:p>
        </p:txBody>
      </p:sp>
      <p:sp>
        <p:nvSpPr>
          <p:cNvPr id="7" name="note"/>
          <p:cNvSpPr txBox="1"/>
          <p:nvPr/>
        </p:nvSpPr>
        <p:spPr>
          <a:xfrm>
            <a:off x="21488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Entity 평균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0360" y="2514600"/>
            <a:ext cx="731520" cy="45720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749040" y="13258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mean(a′)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128</a:t>
            </a:r>
            <a:endParaRPr lang="en-US" sz="1300" dirty="0"/>
          </a:p>
        </p:txBody>
      </p:sp>
      <p:sp>
        <p:nvSpPr>
          <p:cNvPr id="10" name="note"/>
          <p:cNvSpPr txBox="1"/>
          <p:nvPr/>
        </p:nvSpPr>
        <p:spPr>
          <a:xfrm>
            <a:off x="37490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보정 Action 평균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flipH="1">
            <a:off x="3611880" y="2514600"/>
            <a:ext cx="868680" cy="45720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49240" y="13258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128</a:t>
            </a:r>
            <a:endParaRPr lang="en-US" sz="1300" dirty="0"/>
          </a:p>
        </p:txBody>
      </p:sp>
      <p:sp>
        <p:nvSpPr>
          <p:cNvPr id="13" name="note"/>
          <p:cNvSpPr txBox="1"/>
          <p:nvPr/>
        </p:nvSpPr>
        <p:spPr>
          <a:xfrm>
            <a:off x="53492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Context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flipH="1">
            <a:off x="3611880" y="2514600"/>
            <a:ext cx="2468880" cy="45720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828800" y="29718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x_s = [t ; mean(e) ; mean(a′) ; c]  → 512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11880" y="3611880"/>
            <a:ext cx="0" cy="36576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188720" y="397764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Scene Residual MLP (scene_mlp)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h_s = x_s + W₂ · ReLU(W₁ x_s)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512 → 512 → 512 · LayerNorm 없음 (normalize=False)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11880" y="4983480"/>
            <a:ext cx="0" cy="36576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011680" y="534924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  (S × 512)   S = 배치의 유효 장면 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94960" y="1737360"/>
            <a:ext cx="20116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406640" y="13258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</a:rPr>
              <a:t>z_s = [mean(e) ; mean(a′) ; c]  → 384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</a:rPr>
              <a:t>(제목 제외 · Scene MLP 이전 값)</a:t>
            </a:r>
            <a:endParaRPr lang="en-US" sz="1250" dirty="0"/>
          </a:p>
        </p:txBody>
      </p:sp>
      <p:sp>
        <p:nvSpPr>
          <p:cNvPr id="22" name="note"/>
          <p:cNvSpPr txBox="1"/>
          <p:nvPr/>
        </p:nvSpPr>
        <p:spPr>
          <a:xfrm>
            <a:off x="740664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766E"/>
                </a:solidFill>
              </a:rPr>
              <a:t>→ 다음 단계의 장면 유사도 계산에만 사용 (gnn일 때만 만듦)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3017520"/>
            <a:ext cx="5029200" cy="3017520"/>
          </a:xfrm>
          <a:prstGeom prst="roundRect">
            <a:avLst>
              <a:gd name="adj" fmla="val 3030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24" name="note"/>
          <p:cNvSpPr txBox="1"/>
          <p:nvPr/>
        </p:nvSpPr>
        <p:spPr>
          <a:xfrm>
            <a:off x="685800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평균(segment_mean)의 뜻</a:t>
            </a:r>
            <a:endParaRPr lang="en-US" sz="1500" dirty="0"/>
          </a:p>
        </p:txBody>
      </p:sp>
      <p:sp>
        <p:nvSpPr>
          <p:cNvPr id="25" name="note"/>
          <p:cNvSpPr txBox="1"/>
          <p:nvPr/>
        </p:nvSpPr>
        <p:spPr>
          <a:xfrm>
            <a:off x="6858000" y="356616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mean(e): 이 장면에 속한 Entity 벡터의 산술 평균. Action에 연결되지 않은 Entity도 포함.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mean(a′): 역할 보정된 Action 벡터의 평균. Action이 없는 장면은 0.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노드→장면 소속은 node_scenes 인덱스로 index_add_ 하여 계산.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제목 t는 영상당 1개를 모든 장면에 복사해 붙입니다 (title[scene_videos]).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따라서 장면 벡터는 '이 장면에 무엇이 있고, 무엇을 하며, 어떤 형식인가'의 평균 묘사이며, 노드 수나 순서는 남지 않습니다.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단계 4a · 영상 안 장면 유사도 그래프 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H="1">
            <a:off x="822960" y="1828800"/>
            <a:ext cx="1188720" cy="2011680"/>
          </a:xfrm>
          <a:prstGeom prst="line">
            <a:avLst/>
          </a:prstGeom>
          <a:noFill/>
          <a:ln w="635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828800"/>
            <a:ext cx="1188720" cy="201168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</a:ln>
        </p:spPr>
      </p:sp>
      <p:sp>
        <p:nvSpPr>
          <p:cNvPr id="5" name="node"/>
          <p:cNvSpPr/>
          <p:nvPr/>
        </p:nvSpPr>
        <p:spPr>
          <a:xfrm>
            <a:off x="1627632" y="144475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s0</a:t>
            </a:r>
            <a:endParaRPr lang="en-US" sz="1300" dirty="0"/>
          </a:p>
        </p:txBody>
      </p:sp>
      <p:sp>
        <p:nvSpPr>
          <p:cNvPr id="6" name="node"/>
          <p:cNvSpPr/>
          <p:nvPr/>
        </p:nvSpPr>
        <p:spPr>
          <a:xfrm>
            <a:off x="438912" y="345643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s1</a:t>
            </a:r>
            <a:endParaRPr lang="en-US" sz="1300" dirty="0"/>
          </a:p>
        </p:txBody>
      </p:sp>
      <p:sp>
        <p:nvSpPr>
          <p:cNvPr id="7" name="node"/>
          <p:cNvSpPr/>
          <p:nvPr/>
        </p:nvSpPr>
        <p:spPr>
          <a:xfrm>
            <a:off x="2816352" y="345643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s2</a:t>
            </a:r>
            <a:endParaRPr lang="en-US" sz="1300" dirty="0"/>
          </a:p>
        </p:txBody>
      </p:sp>
      <p:sp>
        <p:nvSpPr>
          <p:cNvPr id="8" name="note"/>
          <p:cNvSpPr txBox="1"/>
          <p:nvPr/>
        </p:nvSpPr>
        <p:spPr>
          <a:xfrm>
            <a:off x="251460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0.8</a:t>
            </a:r>
            <a:endParaRPr lang="en-US" sz="1200" dirty="0"/>
          </a:p>
        </p:txBody>
      </p:sp>
      <p:sp>
        <p:nvSpPr>
          <p:cNvPr id="9" name="note"/>
          <p:cNvSpPr txBox="1"/>
          <p:nvPr/>
        </p:nvSpPr>
        <p:spPr>
          <a:xfrm>
            <a:off x="100584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0.5</a:t>
            </a:r>
            <a:endParaRPr lang="en-US" sz="1200" dirty="0"/>
          </a:p>
        </p:txBody>
      </p:sp>
      <p:sp>
        <p:nvSpPr>
          <p:cNvPr id="10" name="note"/>
          <p:cNvSpPr txBox="1"/>
          <p:nvPr/>
        </p:nvSpPr>
        <p:spPr>
          <a:xfrm>
            <a:off x="173736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0 (음수→0)</a:t>
            </a:r>
            <a:endParaRPr lang="en-US" sz="1050" dirty="0"/>
          </a:p>
        </p:txBody>
      </p:sp>
      <p:sp>
        <p:nvSpPr>
          <p:cNvPr id="11" name="note"/>
          <p:cNvSpPr txBox="1"/>
          <p:nvPr/>
        </p:nvSpPr>
        <p:spPr>
          <a:xfrm>
            <a:off x="457200" y="4572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cos(z₁,z₂)가 0 이하면 간선이 사라집니다.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self-loop(A_ii = 1)는 그림에서 생략.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모든 장면 쌍을 보므로 장면 S개면 S² 항.</a:t>
            </a:r>
            <a:endParaRPr lang="en-US" sz="1150" dirty="0"/>
          </a:p>
        </p:txBody>
      </p:sp>
      <p:sp>
        <p:nvSpPr>
          <p:cNvPr id="12" name="note"/>
          <p:cNvSpPr txBox="1"/>
          <p:nvPr/>
        </p:nvSpPr>
        <p:spPr>
          <a:xfrm>
            <a:off x="44805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A = max(cos, 0), 대각 1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600200"/>
          <a:ext cx="2377440" cy="914400"/>
        </p:xfrm>
        <a:graphic>
          <a:graphicData uri="http://schemas.openxmlformats.org/drawingml/2006/table">
            <a:tbl>
              <a:tblPr/>
              <a:tblGrid>
                <a:gridCol w="792785"/>
                <a:gridCol w="792785"/>
                <a:gridCol w="79187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note"/>
          <p:cNvSpPr txBox="1"/>
          <p:nvPr/>
        </p:nvSpPr>
        <p:spPr>
          <a:xfrm>
            <a:off x="713232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D = 행합 (대각 행렬)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600200"/>
          <a:ext cx="2377440" cy="914400"/>
        </p:xfrm>
        <a:graphic>
          <a:graphicData uri="http://schemas.openxmlformats.org/drawingml/2006/table">
            <a:tbl>
              <a:tblPr/>
              <a:tblGrid>
                <a:gridCol w="792785"/>
                <a:gridCol w="792785"/>
                <a:gridCol w="79187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note"/>
          <p:cNvSpPr txBox="1"/>
          <p:nvPr/>
        </p:nvSpPr>
        <p:spPr>
          <a:xfrm>
            <a:off x="93268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Â = D^-½ A D^-½</a:t>
            </a:r>
            <a:endParaRPr lang="en-US" sz="13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26880" y="1600200"/>
          <a:ext cx="2377440" cy="914400"/>
        </p:xfrm>
        <a:graphic>
          <a:graphicData uri="http://schemas.openxmlformats.org/drawingml/2006/table">
            <a:tbl>
              <a:tblPr/>
              <a:tblGrid>
                <a:gridCol w="792785"/>
                <a:gridCol w="792785"/>
                <a:gridCol w="79187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.435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.393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.269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.393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.556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.269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.667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400" marR="25400" marT="25400" marB="254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F"/>
                    </a:solidFill>
                  </a:tcPr>
                </a:tc>
              </a:tr>
            </a:tbl>
          </a:graphicData>
        </a:graphic>
      </p:graphicFrame>
      <p:sp>
        <p:nvSpPr>
          <p:cNvPr id="18" name="note"/>
          <p:cNvSpPr txBox="1"/>
          <p:nvPr/>
        </p:nvSpPr>
        <p:spPr>
          <a:xfrm>
            <a:off x="4480560" y="2880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Â_ij = A_ij / √(D_i · D_j)      예: Â_01 = 0.80 / √(2.30 × 1.80) = 0.393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480560" y="3520440"/>
            <a:ext cx="72237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   = F.normalize(z, dim=-1, eps=1e-8)          # 영벡터 보호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(unit @ unit.T).clamp_min(0)              # 음수 cosine → 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where(eye, 1, weights)                    # self-loop = 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  = weights.sum(-1).rsqrt()                   # D^-1/2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Â       = weights * scale[:, None] * scale[None, :]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480560" y="5166360"/>
            <a:ext cx="7223760" cy="1143000"/>
          </a:xfrm>
          <a:prstGeom prst="roundRect">
            <a:avLst>
              <a:gd name="adj" fmla="val 8000"/>
            </a:avLst>
          </a:prstGeom>
          <a:solidFill>
            <a:srgbClr val="E8E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note"/>
          <p:cNvSpPr txBox="1"/>
          <p:nvPr/>
        </p:nvSpPr>
        <p:spPr>
          <a:xfrm>
            <a:off x="4663440" y="5303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핵심 성질</a:t>
            </a:r>
            <a:endParaRPr lang="en-US" sz="1500" dirty="0"/>
          </a:p>
        </p:txBody>
      </p:sp>
      <p:sp>
        <p:nvSpPr>
          <p:cNvPr id="22" name="note"/>
          <p:cNvSpPr txBox="1"/>
          <p:nvPr/>
        </p:nvSpPr>
        <p:spPr>
          <a:xfrm>
            <a:off x="4663440" y="5715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Â는 학습 파라미터가 아니라 현재 z에서 매 forward 계산됩니다. z는 projection·역할 결합을 거치므로 gradient가 Â를 통해서도 흐릅니다(detach 없음).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temperature·top-k·threshold가 없어 cosine이 모두 높으면 Â의 모든 항이 비슷해집니다.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단계 4b · GCN 1층과 영상 벡터: H′ = H + ReLU(ÂHW + b)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S × 512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S × 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737360"/>
            <a:ext cx="640080" cy="36576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2743200" y="2560320"/>
            <a:ext cx="640080" cy="36576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383280" y="173736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Â @ 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(이웃 장면 가중 평균)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S × 512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2331720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nn.Linear(512, 512)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+ ReLU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(gcn.projection, bias 포함)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2331720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35440" y="17373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H′ = H + ReLU(·)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residual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 × 512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469880" y="2926080"/>
            <a:ext cx="0" cy="41148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863840" y="333756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v = 유효 장면 평균 (segment_mean)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영상당 512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1645920" y="1143000"/>
            <a:ext cx="0" cy="18288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1143000"/>
            <a:ext cx="88239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69880" y="1143000"/>
            <a:ext cx="0" cy="59436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7" name="note"/>
          <p:cNvSpPr txBox="1"/>
          <p:nvPr/>
        </p:nvSpPr>
        <p:spPr>
          <a:xfrm>
            <a:off x="4572000" y="1170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residual (H를 그대로 더함)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SceneGCN(nn.Module):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dimension):           # dimension = 512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self.projection = nn.Linear(dimension, dimension)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scenes, similarity_features, groups):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 = torch.zeros_like(scenes)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indices in groups:                  # 장면 수가 같은 영상 묶음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adjacency = normalized_similarity(similarity_features[indices])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 = scenes[indices]            # (영상 수, S, 512)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updated = values + relu(self.projection(adjacency @ values))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output = output.index_copy(0, indices.reshape(-1), updated.flatten(0, 1))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output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63840" y="434340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20" name="note"/>
          <p:cNvSpPr txBox="1"/>
          <p:nvPr/>
        </p:nvSpPr>
        <p:spPr>
          <a:xfrm>
            <a:off x="8046720" y="4480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이것이 GCN의 전부입니다</a:t>
            </a:r>
            <a:endParaRPr lang="en-US" sz="1500" dirty="0"/>
          </a:p>
        </p:txBody>
      </p:sp>
      <p:sp>
        <p:nvSpPr>
          <p:cNvPr id="21" name="note"/>
          <p:cNvSpPr txBox="1"/>
          <p:nvPr/>
        </p:nvSpPr>
        <p:spPr>
          <a:xfrm>
            <a:off x="8046720" y="48920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층 1개, 가중치 행렬 1개(512×512 + bias = 262,656개)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활성 ReLU, residual 있음, LayerNorm·dropout·gate 없음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전파 후 평균이므로 장면 순서 정보 없음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• 장면 1개 영상: Â=[1] → h + ReLU(hW + b)</a:t>
            </a:r>
            <a:endParaRPr lang="en-US" sz="1150" dirty="0"/>
          </a:p>
        </p:txBody>
      </p:sp>
      <p:sp>
        <p:nvSpPr>
          <p:cNvPr id="22" name="note"/>
          <p:cNvSpPr txBox="1"/>
          <p:nvPr/>
        </p:nvSpPr>
        <p:spPr>
          <a:xfrm>
            <a:off x="548640" y="56235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유사도는 Scene MLP 이전의 z(384)로 계산하지만, 전파되는 값 H는 Scene MLP 이후의 512차원입니다. 즉 '누가 이웃인가'와 '무엇을 전달하는가'의 입력이 다릅니다.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예외 경로: 장면이 없거나 제목이 없는 영상은 어떻게 처리되나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유효 장면 ≥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</a:rPr>
              <a:t>일반 경로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역할 결합 → Scene MLP → GCN → 평균.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장면 1개도 self-loop GCN을 거칩니다.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91840" y="13258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장면 0 + 제목 있음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8745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</a:rPr>
              <a:t>fallback (GCN 건너뜀)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23317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[t ; 0 ; 0 ; 0] (512)을 같은 scene_mlp에 통과.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GCN을 거치지 않으므로 출력 분포가 다를 수 있음.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(graph_model.py 112–117행)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13258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C7CDD4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장면 0 + 제목 없음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8745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</a:rPr>
              <a:t>0 벡터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23317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available 마스크로 최종 출력 0.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추천 점수는 항상 0 → 사실상 추천 불가.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결측 때문에 catalog에서 빼지는 않음.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0" y="13258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C7CDD4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Arm = meta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0" y="18745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</a:rPr>
              <a:t>GCN 없음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61120" y="23317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GraphSASRec이 아니라 일반 SASRec(제목 1024 → 512 → MLP).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같은 graph 모드로 실행해도 장면을 전혀 읽지 않음.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1247120" cy="1783080"/>
          </a:xfrm>
          <a:prstGeom prst="roundRect">
            <a:avLst>
              <a:gd name="adj" fmla="val 5128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16" name="note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어떤 장면이 '유효'한가 (graph_inputs.py 134–155행)</a:t>
            </a:r>
            <a:endParaRPr lang="en-US" sz="1500" dirty="0"/>
          </a:p>
        </p:txBody>
      </p:sp>
      <p:sp>
        <p:nvSpPr>
          <p:cNvPr id="17" name="note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scene_graph가 dict가 아니면(파싱 실패 원문) → raw 로 제외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warning 필드가 있으면 → warning 으로 제외 (내용과 무관하게 제외)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actions 키가 없으면 unsupported_format, validate_graph_structure 실패면 invalid_structure 로 제외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통과한 장면은 Action이 0개여도 유효 장면입니다(actionless 통계만 기록). 제외 사유는 &lt;arm&gt;_embeddings/의 statistics에 남습니다.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3. 실행과 학습: 배치는 어떻게 만들고 무엇으로 학습하나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graph_batching.py · graph_model.py GraphSASRec · model.py in_batch_loss · rolling_recommendation.py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배치 처리: 장면 수별 묶음과 S² 기준 chunk 분할</a:t>
            </a:r>
            <a:endParaRPr lang="en-US" sz="2800" dirty="0"/>
          </a:p>
        </p:txBody>
      </p:sp>
      <p:sp>
        <p:nvSpPr>
          <p:cNvPr id="3" name="note"/>
          <p:cNvSpPr txBox="1"/>
          <p:nvPr/>
        </p:nvSpPr>
        <p:spPr>
          <a:xfrm>
            <a:off x="457200" y="1188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scene_groups(offsets) — 배치 안 영상을 장면 수별로 묶음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영상 A</a:t>
            </a:r>
            <a:endParaRPr lang="en-US" sz="1200" dirty="0"/>
          </a:p>
        </p:txBody>
      </p:sp>
      <p:sp>
        <p:nvSpPr>
          <p:cNvPr id="5" name="note"/>
          <p:cNvSpPr txBox="1"/>
          <p:nvPr/>
        </p:nvSpPr>
        <p:spPr>
          <a:xfrm>
            <a:off x="4572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S =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6459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영상 B</a:t>
            </a:r>
            <a:endParaRPr lang="en-US" sz="1200" dirty="0"/>
          </a:p>
        </p:txBody>
      </p:sp>
      <p:sp>
        <p:nvSpPr>
          <p:cNvPr id="7" name="note"/>
          <p:cNvSpPr txBox="1"/>
          <p:nvPr/>
        </p:nvSpPr>
        <p:spPr>
          <a:xfrm>
            <a:off x="16002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S =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6459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영상 C</a:t>
            </a:r>
            <a:endParaRPr lang="en-US" sz="1200" dirty="0"/>
          </a:p>
        </p:txBody>
      </p:sp>
      <p:sp>
        <p:nvSpPr>
          <p:cNvPr id="9" name="note"/>
          <p:cNvSpPr txBox="1"/>
          <p:nvPr/>
        </p:nvSpPr>
        <p:spPr>
          <a:xfrm>
            <a:off x="27432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S =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16459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영상 D</a:t>
            </a:r>
            <a:endParaRPr lang="en-US" sz="1200" dirty="0"/>
          </a:p>
        </p:txBody>
      </p:sp>
      <p:sp>
        <p:nvSpPr>
          <p:cNvPr id="11" name="note"/>
          <p:cNvSpPr txBox="1"/>
          <p:nvPr/>
        </p:nvSpPr>
        <p:spPr>
          <a:xfrm>
            <a:off x="38862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S =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영상 E</a:t>
            </a:r>
            <a:endParaRPr lang="en-US" sz="1200" dirty="0"/>
          </a:p>
        </p:txBody>
      </p:sp>
      <p:sp>
        <p:nvSpPr>
          <p:cNvPr id="13" name="note"/>
          <p:cNvSpPr txBox="1"/>
          <p:nvPr/>
        </p:nvSpPr>
        <p:spPr>
          <a:xfrm>
            <a:off x="50292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S =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468880"/>
            <a:ext cx="0" cy="36576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scene_group_2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[A, E] → (2, 2)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7440" y="2834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scene_group_3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[B, C] → (2, 3)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0" y="2834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scene_group_5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[D] → (1, 5)</a:t>
            </a:r>
            <a:endParaRPr lang="en-US" sz="1150" dirty="0"/>
          </a:p>
        </p:txBody>
      </p:sp>
      <p:sp>
        <p:nvSpPr>
          <p:cNvPr id="18" name="note"/>
          <p:cNvSpPr txBox="1"/>
          <p:nvPr/>
        </p:nvSpPr>
        <p:spPr>
          <a:xfrm>
            <a:off x="457200" y="37490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각 묶음은 (영상 수, S) 장면 인덱스 행렬입니다. 묶음마다 Â를 (영상 수, S, S)로 한 번에 계산하고 배치 행렬곱으로 전파합니다. 영상 사이에는 간선이 생기지 않습니다(묶음 안에서도 영상별로 독립된 Â).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인덱스는 CPU에서 만들어 배치에 넣습니다(group_scenes=True).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34440"/>
          <a:ext cx="5349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chunk 기준 (config validation.graph_execution)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chunk_items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256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chunk당 최대 영상 수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chunk_nodes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32,768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chunk당 최대 노드 수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chunk_scene_pairs (gnn만)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1,048,576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chunk당 Σ S² 상한. 한 영상이 넘으면 단독 처리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checkpoint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auto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활성 메모리 추정이 크면 gradient checkpoint 사용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feature_cache_mb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2,048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BGE 특징을 GPU에 상주시킬 상한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400800" y="39776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8E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note"/>
          <p:cNvSpPr txBox="1"/>
          <p:nvPr/>
        </p:nvSpPr>
        <p:spPr>
          <a:xfrm>
            <a:off x="6583680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학습 1 step에서 일어나는 일 (GraphSASRec)</a:t>
            </a:r>
            <a:endParaRPr lang="en-US" sz="1500" dirty="0"/>
          </a:p>
        </p:txBody>
      </p:sp>
      <p:sp>
        <p:nvSpPr>
          <p:cNvPr id="22" name="note"/>
          <p:cNvSpPr txBox="1"/>
          <p:nvPr/>
        </p:nvSpPr>
        <p:spPr>
          <a:xfrm>
            <a:off x="6583680" y="45262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1. 배치의 시청 이력·정답에 나오는 영상 ID를 모아 unique 처리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2. chunk로 나눠 SceneRoleEncoder 실행 → 영상 벡터 캐시(_vectors)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3. SASRec이 이력 위치마다 캐시에서 벡터를 찾아 사용자 벡터 계산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4. loss → backward: gradient가 encoder까지 전달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5. optimizer step 후 캐시 폐기(train() 호출 시 clear_item_cache)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평가 때는 catalog 전체(19,738개)를 한 번 인코딩해 catalog_vectors로 둡니다.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추천 모델과 손실: 영상 벡터 → SASRec 사용자 벡터 → 내적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시청 이력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최대 10개 × 512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148840" y="1828800"/>
            <a:ext cx="210312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359152" y="13258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+ 위치 임베딩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(10 × 512)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50792" y="1828800"/>
            <a:ext cx="210312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261104" y="13258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Transformer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2 blocks · 2 heads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norm_first · causal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52744" y="1828800"/>
            <a:ext cx="210312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163056" y="13258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CDD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LayerNorm 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마지막 유효 위치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54696" y="1828800"/>
            <a:ext cx="210312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065008" y="13258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E8EFFF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User Residual MLP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(GELU · LayerNorm)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756648" y="1828800"/>
            <a:ext cx="210312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966960" y="13258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 · v_cand</a:t>
            </a:r>
            <a:endParaRPr lang="en-US" sz="1150" dirty="0"/>
          </a:p>
        </p:txBody>
      </p:sp>
      <p:sp>
        <p:nvSpPr>
          <p:cNvPr id="14" name="note"/>
          <p:cNvSpPr txBox="1"/>
          <p:nvPr/>
        </p:nvSpPr>
        <p:spPr>
          <a:xfrm>
            <a:off x="457200" y="2423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후보 영상 벡터 v_cand는 같은 SceneRoleEncoder 출력이며 Transformer를 거치지 않습니다. 사용자와 영상이 같은 512차원 공간에서 내적으로 비교됩니다.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16" name="note"/>
          <p:cNvSpPr txBox="1"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학습 손실 in_batch_loss (model.py 253행~)</a:t>
            </a:r>
            <a:endParaRPr lang="en-US" sz="1500" dirty="0"/>
          </a:p>
        </p:txBody>
      </p:sp>
      <p:sp>
        <p:nvSpPr>
          <p:cNvPr id="17" name="note"/>
          <p:cNvSpPr txBox="1"/>
          <p:nvPr/>
        </p:nvSpPr>
        <p:spPr>
          <a:xfrm>
            <a:off x="640080" y="3520440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이력의 모든 위치에서 다음 영상을 맞히는 next-item 예측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후보 = 같은 배치의 정답 영상들 (in-batch negatives)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logits = u · v_cand − log p(인기도)   ← logQ 보정 (popularity_power 1.0)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사용자가 이미 본 영상과 자기 정답 외 중복은 −1e4로 마스킹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• cross-entropy (softmax over batch candidates)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</a:rPr>
              <a:t>최적화: AdamW lr 1e-4 · weight decay 0.1 · batch 128 · gradient clipping · deterministic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971800"/>
          <a:ext cx="5532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2423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데이터 구간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Selection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D−1일 이전 학습, [D−1, D) 검증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검증 NDCG@10으로 epoch 수 선택 (patience 5, max 50)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Refit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D 이전 전체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모델·optimizer 초기화 후 선택한 epoch만큼 다시 학습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[D, D+1)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이벤트별 순위·HR·NDCG@K (K = 4, 8, 10, 20, 30)</a:t>
                      </a:r>
                      <a:endParaRPr lang="en-US" sz="110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note"/>
          <p:cNvSpPr txBox="1"/>
          <p:nvPr/>
        </p:nvSpPr>
        <p:spPr>
          <a:xfrm>
            <a:off x="6217920" y="534924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평가일 7일 × seed 3개(42, 43, 44) × Arm마다 독립 학습. 각 조합은 recommendations/graph/gnn/&lt;date&gt;/seed_&lt;seed&gt;/&lt;arm&gt;/에 sasrec.pt · training.json · per_event_metrics.jsonl · catalog_vectors.npy로 저장됩니다.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mean과 gnn의 차이는 GCN 한 층뿐입니다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6634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--scene-aggregation mean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--scene-aggregation gnn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모델 계약 (graph_context.py)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sasrec-role-graph/v7 · GRAPH_MODEL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sasrec-role-graph/v8 · GNN_MODEL (gcn 설정 포함)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장면 encoder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projection → 역할 결합 → Scene MLP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동일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장면 → 영상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유효 장면 평균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유사도 Â 계산 → 1층 residual GCN → 유효 장면 평균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추가 파라미터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없음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gcn.projection 512×512 + 512 = 262,656개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추가 입력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없음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z_s (384) · scene_group_* 인덱스 (CPU에서 생성)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chunk 기준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items · nodes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items · nodes · Σ S² (chunk_scene_pairs)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결과 경로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recommendations/graph/mean/ · graph_mean_diagnosis.json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recommendations/graph/gnn/ · graph_gnn_diagnosis.json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고정 Graph 입력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representations/graph/&lt;arm&gt;_embeddings/ 공유 (role-graph-inputs/v3)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동일 — 재임베딩 불필요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비용 참고 (docs/graph_training.md, 합성 입력 · 영상 64개 · 장면 315개 · L4 GPU): mean 21.1 ms/batch, gnn 44.6 ms/batch (약 2.1배). 실제 데이터의 장면 수 분포(평균 약 6개)에 따라 달라지며, 추천 품질 차이는 아직 측정되지 않았습니다.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학습 파라미터 수 (코드로 모델을 만들어 센 값)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</a:rPr>
              <a:t>1,395,840</a:t>
            </a:r>
            <a:endParaRPr lang="en-US" sz="2600" dirty="0"/>
          </a:p>
        </p:txBody>
      </p:sp>
      <p:sp>
        <p:nvSpPr>
          <p:cNvPr id="4" name="note"/>
          <p:cNvSpPr txBox="1"/>
          <p:nvPr/>
        </p:nvSpPr>
        <p:spPr>
          <a:xfrm>
            <a:off x="45720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SceneRoleEncoder (gnn)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1234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262,656</a:t>
            </a:r>
            <a:endParaRPr lang="en-US" sz="2600" dirty="0"/>
          </a:p>
        </p:txBody>
      </p:sp>
      <p:sp>
        <p:nvSpPr>
          <p:cNvPr id="6" name="note"/>
          <p:cNvSpPr txBox="1"/>
          <p:nvPr/>
        </p:nvSpPr>
        <p:spPr>
          <a:xfrm>
            <a:off x="329184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그중 GCN 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234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</a:rPr>
              <a:t>6,837,248</a:t>
            </a:r>
            <a:endParaRPr lang="en-US" sz="2600" dirty="0"/>
          </a:p>
        </p:txBody>
      </p:sp>
      <p:sp>
        <p:nvSpPr>
          <p:cNvPr id="8" name="note"/>
          <p:cNvSpPr txBox="1"/>
          <p:nvPr/>
        </p:nvSpPr>
        <p:spPr>
          <a:xfrm>
            <a:off x="612648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GraphSASRec 추천부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0" y="1234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12700">
            <a:solidFill>
              <a:srgbClr val="0F76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</a:rPr>
              <a:t>8,233,088</a:t>
            </a:r>
            <a:endParaRPr lang="en-US" sz="2600" dirty="0"/>
          </a:p>
        </p:txBody>
      </p:sp>
      <p:sp>
        <p:nvSpPr>
          <p:cNvPr id="10" name="note"/>
          <p:cNvSpPr txBox="1"/>
          <p:nvPr/>
        </p:nvSpPr>
        <p:spPr>
          <a:xfrm>
            <a:off x="896112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gnn 모델 합계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1463040"/>
                <a:gridCol w="3566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모듈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모양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파라미터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title/entity/action/context_projection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4 × Linear(1024, 128)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524,800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종류별 별도 가중치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role_fusion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Linear(640, 128)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82,048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Entity→Action 결합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role_states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Parameter(4, 2, 128)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1,024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none/unknown 상태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scene_mlp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2 × Linear(512, 512)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525,312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residual, LayerNorm 없음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gcn.projection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Linear(512, 512)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262,656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gnn에서만 존재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position_embedding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Embedding(10, 512)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5,120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시청 순서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encoder (Transformer)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2 × EncoderLayer(512, ff 2048)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6,304,768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SASRec 본체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norm + user_mlp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LayerNorm + 2 × Linear(512, 512)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527,360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사용자 벡터</a:t>
                      </a:r>
                      <a:endParaRPr lang="en-US" sz="1150" dirty="0"/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note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mean 모델 합계는 7,970,432개입니다. BGE(약 3.35억)는 동결이며 포함하지 않았습니다. 추천부의 item_projection·item_mlp는 GraphSASRec에서 삭제됩니다.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4. GNN 구조를 바꾸려면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고칠 파일 · 캐시가 재사용되지 않게 하는 방법 · 현재 구조에서 보이는 특성과 미검증 가설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바꿀 파일과 반드시 함께 바꿀 것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108960"/>
                <a:gridCol w="5120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파일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무엇이 있나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바꿀 때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validation/scene_gcn.py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normalized_similarity, SceneGCN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인접 행렬 정의(temperature·top-k·시간 간선), 층 수, attention 등 GCN 본체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validation/graph_model.py 84–111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z_s 구성, GCN 호출 위치, 평균 풀링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유사도 입력 바꾸기, GCN을 Scene MLP 앞으로, attention 풀링 등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validation/graph_context.py 23–43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GNN_ARCHITECTURE, GNN_MODEL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필수: 새 버전 문자열과 gcn 설정 기록. 캐시 키·checkpoint metadata에 들어감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validation/recommendation_contracts.py 6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DIAGNOSIS_ARCHITECTURE_VERSIONS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필수: 새 버전 추가. 없으면 run-diagnosis가 결과를 거부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validation/cli.py 37 · graph_context.py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--scene-aggregation choices, validate_mode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새 이름(예: gnn_v2)을 추가할 때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tests/validation/test_scene_gcn.py 등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GCN 수치·gradient·격리 검사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기존 수치 기대값은 바뀜. 새 구조에 맞춰 갱신</a:t>
                      </a:r>
                      <a:endParaRPr lang="en-US" sz="1150" dirty="0"/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8463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DF3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note"/>
          <p:cNvSpPr txBox="1"/>
          <p:nvPr/>
        </p:nvSpPr>
        <p:spPr>
          <a:xfrm>
            <a:off x="64008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왜 버전 문자열을 꼭 바꿔야 하나</a:t>
            </a:r>
            <a:endParaRPr lang="en-US" sz="1500" dirty="0"/>
          </a:p>
        </p:txBody>
      </p:sp>
      <p:sp>
        <p:nvSpPr>
          <p:cNvPr id="6" name="note"/>
          <p:cNvSpPr txBox="1"/>
          <p:nvPr/>
        </p:nvSpPr>
        <p:spPr>
          <a:xfrm>
            <a:off x="640080" y="5394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추천 결과는 identity(encoder·item_model·graph_model·graph_architecture 등)의 해시로 shared_cache에 저장됩니다. 구조만 바꾸고 GNN_MODEL을 그대로 두면 해시가 같아 이전 GNN 결과가 학습 없이 복원될 수 있습니다 (recommendation_cache.py 28–35행).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0" y="4846320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E8E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note"/>
          <p:cNvSpPr txBox="1"/>
          <p:nvPr/>
        </p:nvSpPr>
        <p:spPr>
          <a:xfrm>
            <a:off x="6400800" y="4983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권장: 새 aggregation 이름으로 추가</a:t>
            </a:r>
            <a:endParaRPr lang="en-US" sz="1500" dirty="0"/>
          </a:p>
        </p:txBody>
      </p:sp>
      <p:sp>
        <p:nvSpPr>
          <p:cNvPr id="9" name="note"/>
          <p:cNvSpPr txBox="1"/>
          <p:nvPr/>
        </p:nvSpPr>
        <p:spPr>
          <a:xfrm>
            <a:off x="6400800" y="5394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결과 폴더가 recommendations/graph/&lt;aggregation&gt;/ 이므로, 기존 gnn을 직접 고치면 같은 Run 안에서 이전 결과를 덮어씁니다. gnn_v2 같은 이름을 추가하면 mean · gnn · gnn_v2를 한 Run에서 나란히 비교할 수 있고 고정 Graph 입력은 공유합니다.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현재 구조에서 보이는 특성 (코드로 확인) 과 개선 가설 (미검증)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4" name="note"/>
          <p:cNvSpPr txBox="1"/>
          <p:nvPr/>
        </p:nvSpPr>
        <p:spPr>
          <a:xfrm>
            <a:off x="640080" y="13716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유사도가 고르면 GCN은 MLP 한 층과 같음</a:t>
            </a:r>
            <a:endParaRPr lang="en-US" sz="1400" dirty="0"/>
          </a:p>
        </p:txBody>
      </p:sp>
      <p:sp>
        <p:nvSpPr>
          <p:cNvPr id="5" name="note"/>
          <p:cNvSpPr txBox="1"/>
          <p:nvPr/>
        </p:nvSpPr>
        <p:spPr>
          <a:xfrm>
            <a:off x="640080" y="17830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Â의 모든 항이 1/S에 가까우면 Â·H ≈ 평균이 되어 v ≈ mean(H) + ReLU(W·mean(H) + b). 그래프 구조가 결과에 기여하지 않음. 같은 영상의 장면은 Context가 비슷해 이럴 가능성이 있으나 실제 Â 분포는 측정하지 않음.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7" name="note"/>
          <p:cNvSpPr txBox="1"/>
          <p:nvPr/>
        </p:nvSpPr>
        <p:spPr>
          <a:xfrm>
            <a:off x="6355080" y="13716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시간 정보 없음</a:t>
            </a:r>
            <a:endParaRPr lang="en-US" sz="1400" dirty="0"/>
          </a:p>
        </p:txBody>
      </p:sp>
      <p:sp>
        <p:nvSpPr>
          <p:cNvPr id="8" name="note"/>
          <p:cNvSpPr txBox="1"/>
          <p:nvPr/>
        </p:nvSpPr>
        <p:spPr>
          <a:xfrm>
            <a:off x="6355080" y="17830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장면 순서를 잇는 간선도, 위치 인코딩도 없음. 장면 순서를 섞어도 영상 벡터가 같음.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10" name="note"/>
          <p:cNvSpPr txBox="1"/>
          <p:nvPr/>
        </p:nvSpPr>
        <p:spPr>
          <a:xfrm>
            <a:off x="640080" y="2971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음수 유사도는 0으로 잘림</a:t>
            </a:r>
            <a:endParaRPr lang="en-US" sz="1400" dirty="0"/>
          </a:p>
        </p:txBody>
      </p:sp>
      <p:sp>
        <p:nvSpPr>
          <p:cNvPr id="11" name="note"/>
          <p:cNvSpPr txBox="1"/>
          <p:nvPr/>
        </p:nvSpPr>
        <p:spPr>
          <a:xfrm>
            <a:off x="640080" y="33832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대비되는 장면 사이 정보는 쓰지 않음. 날카롭게 만드는 temperature·top-k도 없음.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834640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13" name="note"/>
          <p:cNvSpPr txBox="1"/>
          <p:nvPr/>
        </p:nvSpPr>
        <p:spPr>
          <a:xfrm>
            <a:off x="6355080" y="2971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역할 그래프는 한 방향 1-hop</a:t>
            </a:r>
            <a:endParaRPr lang="en-US" sz="1400" dirty="0"/>
          </a:p>
        </p:txBody>
      </p:sp>
      <p:sp>
        <p:nvSpPr>
          <p:cNvPr id="14" name="note"/>
          <p:cNvSpPr txBox="1"/>
          <p:nvPr/>
        </p:nvSpPr>
        <p:spPr>
          <a:xfrm>
            <a:off x="6355080" y="33832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</a:rPr>
              <a:t>Entity는 Action에서 정보를 받지 않음. 역방향 간선은 저장만 됨.</a:t>
            </a:r>
            <a:endParaRPr lang="en-US" sz="1150" dirty="0"/>
          </a:p>
        </p:txBody>
      </p:sp>
      <p:sp>
        <p:nvSpPr>
          <p:cNvPr id="15" name="note"/>
          <p:cNvSpPr txBox="1"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개선 가설 — 효과는 아직 실험하지 않았습니다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9377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Â에 temperature softmax 또는 top-k 적용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51960" y="49377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학습 가능한 attention 간선 (GAT 방식)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0" y="49377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시간상 인접 장면 간선 추가 또는 위치 인코딩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56235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GCN 2층 이상 · 평균 대신 attention 풀링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51960" y="56235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Entity도 갱신하는 양방향 역할 메시지 전달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56235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DF3E1"/>
          </a:solidFill>
          <a:ln w="12700">
            <a:solidFill>
              <a:srgbClr val="B4530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</a:rPr>
              <a:t>구조 변경 전에 실제 Â의 비대각 가중치·행 entropy 측정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요약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GNN = 장면 안 '역할 결합 1-hop' + 영상 안 '유사도 GCN 1층' + 평균 풀링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Â는 제목을 뺀 384차원 cosine, 매 forward 재계산, 파라미터 없음 · 학습 파라미터는 GCN Linear 512×512 하나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구조를 바꾸면 graph_context.py의 버전·설정과 DIAGNOSIS_ARCHITECTURE_VERSIONS를 함께 바꿔야 캐시 재사용을 피함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eneGCN">
  <a:themeElements>
    <a:clrScheme name="SceneGCN">
      <a:dk1>
        <a:srgbClr val="1F2A37"/>
      </a:dk1>
      <a:lt1>
        <a:srgbClr val="FFFFFF"/>
      </a:lt1>
      <a:dk2>
        <a:srgbClr val="0F766E"/>
      </a:dk2>
      <a:lt2>
        <a:srgbClr val="E6F4F2"/>
      </a:lt2>
      <a:accent1>
        <a:srgbClr val="0F766E"/>
      </a:accent1>
      <a:accent2>
        <a:srgbClr val="1D4ED8"/>
      </a:accent2>
      <a:accent3>
        <a:srgbClr val="B45309"/>
      </a:accent3>
      <a:accent4>
        <a:srgbClr val="5B6675"/>
      </a:accent4>
      <a:accent5>
        <a:srgbClr val="C7CDD4"/>
      </a:accent5>
      <a:accent6>
        <a:srgbClr val="F3F4F6"/>
      </a:accent6>
      <a:hlink>
        <a:srgbClr val="1D4ED8"/>
      </a:hlink>
      <a:folHlink>
        <a:srgbClr val="6D2E46"/>
      </a:folHlink>
    </a:clrScheme>
    <a:fontScheme name="SceneGC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Scene GCN 구현 분석</dc:title>
  <dc:subject>PptxGenJS Presentation</dc:subject>
  <dc:creator>PptxGenJS</dc:creator>
  <cp:lastModifiedBy>PptxGenJS</cp:lastModifiedBy>
  <cp:revision>1</cp:revision>
  <dcterms:created xsi:type="dcterms:W3CDTF">2026-10-06T09:26:38Z</dcterms:created>
  <dcterms:modified xsi:type="dcterms:W3CDTF">2026-10-06T09:26:38Z</dcterms:modified>
</cp:coreProperties>
</file>