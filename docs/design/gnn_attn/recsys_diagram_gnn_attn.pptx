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659600" cy="12070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experiment: sasrec-role-graph/v12; aggregation=gnn_attn. X concatenates entity means, role-enriched action means and projected Context, before the Scene MLP and without Title. Single-head scaled dot-product attention over all scenes of a video (self included): Q and K are 384 -&gt; 128 without bias, initialized N(0, 1/(2 fan_in)), and read û(X) = sqrt(384) X / max(||X||, 1e-8). A is a row softmax recomputed each forward with gradients enabled. The residual GCN H' = H + ReLU(A H W + b) uses the 512-dimensional Scene Residual MLP output, then valid scenes are mean pooled. BGE stays fixed; projections, role fusion, Scene MLP, attention, GCN and SASRec train jointly. Text uses sasrec-content-v8; SASRec and its User MLP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562320" cy="50292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B43"/>
                </a:solidFill>
                <a:latin typeface="Liberation Sans"/>
              </a:rPr>
              <a:t>Recommendation Architecture | Baseline vs. Text vs.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1298448"/>
            <a:ext cx="4572000" cy="7973568"/>
          </a:xfrm>
          <a:prstGeom prst="roundRect">
            <a:avLst>
              <a:gd name="adj" fmla="val 3000"/>
            </a:avLst>
          </a:prstGeom>
          <a:solidFill>
            <a:srgbClr val="F7FAFF"/>
          </a:solidFill>
          <a:ln w="13335">
            <a:solidFill>
              <a:srgbClr val="CAD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35324" y="1312163"/>
            <a:ext cx="4507992" cy="77815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8549640" y="1298448"/>
            <a:ext cx="10607040" cy="7973568"/>
          </a:xfrm>
          <a:prstGeom prst="roundRect">
            <a:avLst>
              <a:gd name="adj" fmla="val 1720"/>
            </a:avLst>
          </a:prstGeom>
          <a:solidFill>
            <a:srgbClr val="F5FBFA"/>
          </a:solidFill>
          <a:ln w="13335">
            <a:solidFill>
              <a:srgbClr val="BD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81644" y="1312163"/>
            <a:ext cx="10543032" cy="77815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931920" y="1444752"/>
            <a:ext cx="4114800" cy="36576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2864B7"/>
                </a:solidFill>
                <a:latin typeface="Liberation Sans"/>
              </a:rPr>
              <a:t>TEXT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444752"/>
            <a:ext cx="9966960" cy="36576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87E83"/>
                </a:solidFill>
                <a:latin typeface="Liberation Sans"/>
              </a:rPr>
              <a:t>GRAPH PATH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2920" y="9482328"/>
            <a:ext cx="18653758" cy="1865376"/>
          </a:xfrm>
          <a:prstGeom prst="roundRect">
            <a:avLst>
              <a:gd name="adj" fmla="val 7352"/>
            </a:avLst>
          </a:prstGeom>
          <a:solidFill>
            <a:srgbClr val="F6F8FB"/>
          </a:solidFill>
          <a:ln w="13335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1552" y="9496044"/>
            <a:ext cx="18576494" cy="18379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834051" y="9601200"/>
            <a:ext cx="17881119" cy="31089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2B43"/>
                </a:solidFill>
                <a:latin typeface="Liberation Sans"/>
              </a:rPr>
              <a:t>SAME RECOMMENDER ARCHITECTURE  •  Trained independently for each path / arm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44429" y="10113264"/>
            <a:ext cx="3642450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3061" y="10126980"/>
            <a:ext cx="3565186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Video vectors: 512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History: up to 10 × 512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71218" y="10113264"/>
            <a:ext cx="3532072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09850" y="10126980"/>
            <a:ext cx="3454808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SASRec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2 blocks · 2 heads · 512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498666" y="10113264"/>
            <a:ext cx="3476884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37299" y="10126980"/>
            <a:ext cx="3399620" cy="676656"/>
          </a:xfrm>
          <a:prstGeom prst="rect">
            <a:avLst/>
          </a:prstGeom>
          <a:noFill/>
          <a:effectLst/>
        </p:spPr>
        <p:txBody>
          <a:bodyPr wrap="none" lIns="54864" rIns="54864" t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Last valid 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User Residual MLP · GELU + LN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3858570" y="10113264"/>
            <a:ext cx="4525467" cy="704088"/>
          </a:xfrm>
          <a:prstGeom prst="roundRect">
            <a:avLst>
              <a:gd name="adj" fmla="val 7142"/>
            </a:avLst>
          </a:prstGeom>
          <a:solidFill>
            <a:srgbClr val="E5EBF2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897202" y="10126980"/>
            <a:ext cx="4448203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2B43"/>
                </a:solidFill>
                <a:latin typeface="Liberation Sans"/>
              </a:rPr>
              <a:t>Dot product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2B43"/>
                </a:solidFill>
                <a:latin typeface="Liberation Sans"/>
              </a:rPr>
              <a:t>User 512 · Candidate 512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586879" y="10465308"/>
            <a:ext cx="684339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03291" y="10465308"/>
            <a:ext cx="695375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2975552" y="10465308"/>
            <a:ext cx="883018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765654" y="10817352"/>
            <a:ext cx="0" cy="384048"/>
          </a:xfrm>
          <a:prstGeom prst="line">
            <a:avLst/>
          </a:prstGeom>
          <a:ln w="17780">
            <a:solidFill>
              <a:srgbClr val="617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765654" y="11201400"/>
            <a:ext cx="13355650" cy="0"/>
          </a:xfrm>
          <a:prstGeom prst="line">
            <a:avLst/>
          </a:prstGeom>
          <a:ln w="17780">
            <a:solidFill>
              <a:srgbClr val="617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6121304" y="10817352"/>
            <a:ext cx="0" cy="384048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525086" y="10908792"/>
            <a:ext cx="7284900" cy="22860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86"/>
                </a:solidFill>
                <a:latin typeface="Liberation Sans"/>
              </a:rPr>
              <a:t>Candidate video vectors bypass the sequence encoder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087368" y="2057400"/>
            <a:ext cx="178308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Title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087368" y="32918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EFF3F7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087368" y="461772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1,024 → 128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978907" y="2743200"/>
            <a:ext cx="0" cy="54864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978907" y="4023360"/>
            <a:ext cx="0" cy="59436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6053328" y="2057400"/>
            <a:ext cx="178308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Video Summary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053328" y="32918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EFF3F7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053328" y="461772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1,024 → 384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6944868" y="2743200"/>
            <a:ext cx="0" cy="54864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944868" y="4023360"/>
            <a:ext cx="0" cy="59436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087368" y="7406640"/>
            <a:ext cx="3794760" cy="621792"/>
          </a:xfrm>
          <a:prstGeom prst="roundRect">
            <a:avLst>
              <a:gd name="adj" fmla="val 7857"/>
            </a:avLst>
          </a:prstGeom>
          <a:solidFill>
            <a:srgbClr val="E7F0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Concat: [Title 128; Summary 384]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512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087368" y="8183879"/>
            <a:ext cx="3794760" cy="786384"/>
          </a:xfrm>
          <a:prstGeom prst="roundRect">
            <a:avLst>
              <a:gd name="adj" fmla="val 11000"/>
            </a:avLst>
          </a:prstGeom>
          <a:solidFill>
            <a:srgbClr val="E7F0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27432" bIns="27432" wrap="non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1-layer Item Residual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512 →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ReLU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02920" y="1298448"/>
            <a:ext cx="2926080" cy="7973568"/>
          </a:xfrm>
          <a:prstGeom prst="roundRect">
            <a:avLst>
              <a:gd name="adj" fmla="val 4687"/>
            </a:avLst>
          </a:prstGeom>
          <a:solidFill>
            <a:srgbClr val="F5F6F7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/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1520" y="1444752"/>
            <a:ext cx="2560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626C78"/>
                </a:solidFill>
                <a:latin typeface="Aptos"/>
              </a:rPr>
              <a:t>Baseline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22960" y="2057400"/>
            <a:ext cx="228600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Title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22960" y="3291840"/>
            <a:ext cx="2286000" cy="731520"/>
          </a:xfrm>
          <a:prstGeom prst="roundRect">
            <a:avLst>
              <a:gd name="adj" fmla="val 6874"/>
            </a:avLst>
          </a:prstGeom>
          <a:solidFill>
            <a:srgbClr val="EEF0F2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22960" y="4617720"/>
            <a:ext cx="2286000" cy="731520"/>
          </a:xfrm>
          <a:prstGeom prst="roundRect">
            <a:avLst>
              <a:gd name="adj" fmla="val 6874"/>
            </a:avLst>
          </a:prstGeom>
          <a:solidFill>
            <a:srgbClr val="FFFFF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1,024 → 512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22960" y="8183879"/>
            <a:ext cx="2286000" cy="786384"/>
          </a:xfrm>
          <a:prstGeom prst="roundRect">
            <a:avLst>
              <a:gd name="adj" fmla="val 11000"/>
            </a:avLst>
          </a:prstGeom>
          <a:solidFill>
            <a:srgbClr val="E9ECE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1-layer Item Residual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512 →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ReLU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1965960" y="2743200"/>
            <a:ext cx="0" cy="548640"/>
          </a:xfrm>
          <a:prstGeom prst="line">
            <a:avLst/>
          </a:prstGeom>
          <a:ln w="15875">
            <a:solidFill>
              <a:srgbClr val="7F899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965960" y="4023360"/>
            <a:ext cx="0" cy="594360"/>
          </a:xfrm>
          <a:prstGeom prst="line">
            <a:avLst/>
          </a:prstGeom>
          <a:ln w="15875">
            <a:solidFill>
              <a:srgbClr val="7F899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Baseline projection to MLP segment 1"/>
          <p:cNvCxnSpPr/>
          <p:nvPr/>
        </p:nvCxnSpPr>
        <p:spPr>
          <a:xfrm>
            <a:off x="1965960" y="5349240"/>
            <a:ext cx="0" cy="2834639"/>
          </a:xfrm>
          <a:prstGeom prst="line">
            <a:avLst/>
          </a:prstGeom>
          <a:ln w="22860">
            <a:solidFill>
              <a:srgbClr val="AAB1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Baseline item output segment 1"/>
          <p:cNvCxnSpPr/>
          <p:nvPr/>
        </p:nvCxnSpPr>
        <p:spPr>
          <a:xfrm>
            <a:off x="1965960" y="8970264"/>
            <a:ext cx="0" cy="512064"/>
          </a:xfrm>
          <a:prstGeom prst="line">
            <a:avLst/>
          </a:prstGeom>
          <a:ln w="22860">
            <a:solidFill>
              <a:srgbClr val="AAB1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Text component to concat segment 1"/>
          <p:cNvCxnSpPr/>
          <p:nvPr/>
        </p:nvCxnSpPr>
        <p:spPr>
          <a:xfrm>
            <a:off x="4978908" y="5349240"/>
            <a:ext cx="0" cy="164592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Text component to concat segment 2"/>
          <p:cNvCxnSpPr/>
          <p:nvPr/>
        </p:nvCxnSpPr>
        <p:spPr>
          <a:xfrm>
            <a:off x="4978908" y="6995160"/>
            <a:ext cx="1005840" cy="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Text component to concat segment 1"/>
          <p:cNvCxnSpPr/>
          <p:nvPr/>
        </p:nvCxnSpPr>
        <p:spPr>
          <a:xfrm>
            <a:off x="6944868" y="5349240"/>
            <a:ext cx="0" cy="164592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Text component to concat segment 2"/>
          <p:cNvCxnSpPr/>
          <p:nvPr/>
        </p:nvCxnSpPr>
        <p:spPr>
          <a:xfrm flipH="1">
            <a:off x="5984748" y="6995160"/>
            <a:ext cx="960120" cy="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Text concat input segment 1"/>
          <p:cNvCxnSpPr/>
          <p:nvPr/>
        </p:nvCxnSpPr>
        <p:spPr>
          <a:xfrm>
            <a:off x="5984748" y="6995160"/>
            <a:ext cx="0" cy="411480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Text concat to MLP segment 1"/>
          <p:cNvCxnSpPr/>
          <p:nvPr/>
        </p:nvCxnSpPr>
        <p:spPr>
          <a:xfrm>
            <a:off x="5984748" y="8028431"/>
            <a:ext cx="0" cy="155448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Text item output segment 1"/>
          <p:cNvCxnSpPr/>
          <p:nvPr/>
        </p:nvCxnSpPr>
        <p:spPr>
          <a:xfrm>
            <a:off x="5984748" y="8970264"/>
            <a:ext cx="0" cy="512064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Graph Title"/>
          <p:cNvSpPr/>
          <p:nvPr/>
        </p:nvSpPr>
        <p:spPr>
          <a:xfrm>
            <a:off x="886968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Graph Title text"/>
          <p:cNvSpPr txBox="1"/>
          <p:nvPr/>
        </p:nvSpPr>
        <p:spPr>
          <a:xfrm>
            <a:off x="893368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Title</a:t>
            </a:r>
          </a:p>
        </p:txBody>
      </p:sp>
      <p:sp>
        <p:nvSpPr>
          <p:cNvPr id="186" name="Graph Title BGE"/>
          <p:cNvSpPr/>
          <p:nvPr/>
        </p:nvSpPr>
        <p:spPr>
          <a:xfrm>
            <a:off x="8869680" y="2688336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Graph Title BGE text"/>
          <p:cNvSpPr txBox="1"/>
          <p:nvPr/>
        </p:nvSpPr>
        <p:spPr>
          <a:xfrm>
            <a:off x="8933688" y="2715768"/>
            <a:ext cx="2157984" cy="49377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1,024</a:t>
            </a:r>
          </a:p>
        </p:txBody>
      </p:sp>
      <p:sp>
        <p:nvSpPr>
          <p:cNvPr id="188" name="Graph Title projection"/>
          <p:cNvSpPr/>
          <p:nvPr/>
        </p:nvSpPr>
        <p:spPr>
          <a:xfrm>
            <a:off x="8869680" y="3429000"/>
            <a:ext cx="22860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Graph Title projection text"/>
          <p:cNvSpPr txBox="1"/>
          <p:nvPr/>
        </p:nvSpPr>
        <p:spPr>
          <a:xfrm>
            <a:off x="8933688" y="3456432"/>
            <a:ext cx="215798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190" name="Title to BGE segment 1"/>
          <p:cNvCxnSpPr/>
          <p:nvPr/>
        </p:nvCxnSpPr>
        <p:spPr>
          <a:xfrm>
            <a:off x="10012680" y="2514600"/>
            <a:ext cx="0" cy="173736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Title to projection segment 1"/>
          <p:cNvCxnSpPr/>
          <p:nvPr/>
        </p:nvCxnSpPr>
        <p:spPr>
          <a:xfrm>
            <a:off x="10012680" y="3236976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Graph Entities"/>
          <p:cNvSpPr/>
          <p:nvPr/>
        </p:nvSpPr>
        <p:spPr>
          <a:xfrm>
            <a:off x="1143000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Graph Entities text"/>
          <p:cNvSpPr txBox="1"/>
          <p:nvPr/>
        </p:nvSpPr>
        <p:spPr>
          <a:xfrm>
            <a:off x="1149400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Entities</a:t>
            </a:r>
          </a:p>
        </p:txBody>
      </p:sp>
      <p:sp>
        <p:nvSpPr>
          <p:cNvPr id="194" name="Graph Entities BGE"/>
          <p:cNvSpPr/>
          <p:nvPr/>
        </p:nvSpPr>
        <p:spPr>
          <a:xfrm>
            <a:off x="11430000" y="2688336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Graph Entities BGE text"/>
          <p:cNvSpPr txBox="1"/>
          <p:nvPr/>
        </p:nvSpPr>
        <p:spPr>
          <a:xfrm>
            <a:off x="11494008" y="2715768"/>
            <a:ext cx="2157984" cy="49377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E × 1,024</a:t>
            </a:r>
          </a:p>
        </p:txBody>
      </p:sp>
      <p:sp>
        <p:nvSpPr>
          <p:cNvPr id="196" name="Graph Entities projection"/>
          <p:cNvSpPr/>
          <p:nvPr/>
        </p:nvSpPr>
        <p:spPr>
          <a:xfrm>
            <a:off x="11430000" y="3429000"/>
            <a:ext cx="22860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Graph Entities projection text"/>
          <p:cNvSpPr txBox="1"/>
          <p:nvPr/>
        </p:nvSpPr>
        <p:spPr>
          <a:xfrm>
            <a:off x="11494008" y="3456432"/>
            <a:ext cx="215798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198" name="Entities to BGE segment 1"/>
          <p:cNvCxnSpPr/>
          <p:nvPr/>
        </p:nvCxnSpPr>
        <p:spPr>
          <a:xfrm>
            <a:off x="12573000" y="2514600"/>
            <a:ext cx="0" cy="173736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Entities to projection segment 1"/>
          <p:cNvCxnSpPr/>
          <p:nvPr/>
        </p:nvCxnSpPr>
        <p:spPr>
          <a:xfrm>
            <a:off x="12573000" y="3236976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Graph Actions"/>
          <p:cNvSpPr/>
          <p:nvPr/>
        </p:nvSpPr>
        <p:spPr>
          <a:xfrm>
            <a:off x="1399032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Graph Actions text"/>
          <p:cNvSpPr txBox="1"/>
          <p:nvPr/>
        </p:nvSpPr>
        <p:spPr>
          <a:xfrm>
            <a:off x="1405432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Actions</a:t>
            </a:r>
          </a:p>
        </p:txBody>
      </p:sp>
      <p:sp>
        <p:nvSpPr>
          <p:cNvPr id="202" name="Graph Actions BGE"/>
          <p:cNvSpPr/>
          <p:nvPr/>
        </p:nvSpPr>
        <p:spPr>
          <a:xfrm>
            <a:off x="13990320" y="2688336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Graph Actions BGE text"/>
          <p:cNvSpPr txBox="1"/>
          <p:nvPr/>
        </p:nvSpPr>
        <p:spPr>
          <a:xfrm>
            <a:off x="14054328" y="2715768"/>
            <a:ext cx="2157984" cy="49377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A × 1,024</a:t>
            </a:r>
          </a:p>
        </p:txBody>
      </p:sp>
      <p:sp>
        <p:nvSpPr>
          <p:cNvPr id="204" name="Graph Actions projection"/>
          <p:cNvSpPr/>
          <p:nvPr/>
        </p:nvSpPr>
        <p:spPr>
          <a:xfrm>
            <a:off x="13990320" y="3429000"/>
            <a:ext cx="22860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Graph Actions projection text"/>
          <p:cNvSpPr txBox="1"/>
          <p:nvPr/>
        </p:nvSpPr>
        <p:spPr>
          <a:xfrm>
            <a:off x="14054328" y="3456432"/>
            <a:ext cx="215798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206" name="Actions to BGE segment 1"/>
          <p:cNvCxnSpPr/>
          <p:nvPr/>
        </p:nvCxnSpPr>
        <p:spPr>
          <a:xfrm>
            <a:off x="15133320" y="2514600"/>
            <a:ext cx="0" cy="173736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Actions to projection segment 1"/>
          <p:cNvCxnSpPr/>
          <p:nvPr/>
        </p:nvCxnSpPr>
        <p:spPr>
          <a:xfrm>
            <a:off x="15133320" y="3236976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Graph Context"/>
          <p:cNvSpPr/>
          <p:nvPr/>
        </p:nvSpPr>
        <p:spPr>
          <a:xfrm>
            <a:off x="1655064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Graph Context text"/>
          <p:cNvSpPr txBox="1"/>
          <p:nvPr/>
        </p:nvSpPr>
        <p:spPr>
          <a:xfrm>
            <a:off x="1661464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Context</a:t>
            </a:r>
          </a:p>
        </p:txBody>
      </p:sp>
      <p:sp>
        <p:nvSpPr>
          <p:cNvPr id="210" name="Graph Context BGE"/>
          <p:cNvSpPr/>
          <p:nvPr/>
        </p:nvSpPr>
        <p:spPr>
          <a:xfrm>
            <a:off x="16550640" y="2688336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Graph Context BGE text"/>
          <p:cNvSpPr txBox="1"/>
          <p:nvPr/>
        </p:nvSpPr>
        <p:spPr>
          <a:xfrm>
            <a:off x="16614648" y="2715768"/>
            <a:ext cx="2157984" cy="49377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1,024</a:t>
            </a:r>
          </a:p>
        </p:txBody>
      </p:sp>
      <p:sp>
        <p:nvSpPr>
          <p:cNvPr id="212" name="Graph Context projection"/>
          <p:cNvSpPr/>
          <p:nvPr/>
        </p:nvSpPr>
        <p:spPr>
          <a:xfrm>
            <a:off x="16550640" y="3429000"/>
            <a:ext cx="22860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Graph Context projection text"/>
          <p:cNvSpPr txBox="1"/>
          <p:nvPr/>
        </p:nvSpPr>
        <p:spPr>
          <a:xfrm>
            <a:off x="16614648" y="3456432"/>
            <a:ext cx="215798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214" name="Context to BGE segment 1"/>
          <p:cNvCxnSpPr/>
          <p:nvPr/>
        </p:nvCxnSpPr>
        <p:spPr>
          <a:xfrm>
            <a:off x="17693640" y="2514600"/>
            <a:ext cx="0" cy="173736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text to projection segment 1"/>
          <p:cNvCxnSpPr/>
          <p:nvPr/>
        </p:nvCxnSpPr>
        <p:spPr>
          <a:xfrm>
            <a:off x="17693640" y="3236976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Graph Action role fusion"/>
          <p:cNvSpPr/>
          <p:nvPr/>
        </p:nvSpPr>
        <p:spPr>
          <a:xfrm>
            <a:off x="11430000" y="4261104"/>
            <a:ext cx="48463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Graph Action role fusion text"/>
          <p:cNvSpPr txBox="1"/>
          <p:nvPr/>
        </p:nvSpPr>
        <p:spPr>
          <a:xfrm>
            <a:off x="11503152" y="4297680"/>
            <a:ext cx="4700016" cy="658368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Entity → Action role fusion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actor · target · tool · location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Action + ReLU(Linear 640 → 128)</a:t>
            </a:r>
          </a:p>
        </p:txBody>
      </p:sp>
      <p:cxnSp>
        <p:nvCxnSpPr>
          <p:cNvPr id="218" name="Entity projection to role fusion segment 1"/>
          <p:cNvCxnSpPr/>
          <p:nvPr/>
        </p:nvCxnSpPr>
        <p:spPr>
          <a:xfrm>
            <a:off x="12573000" y="4023360"/>
            <a:ext cx="0" cy="23774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Action projection to role fusion segment 1"/>
          <p:cNvCxnSpPr/>
          <p:nvPr/>
        </p:nvCxnSpPr>
        <p:spPr>
          <a:xfrm>
            <a:off x="15133320" y="4023360"/>
            <a:ext cx="0" cy="23774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Entity projection to mean segment 1"/>
          <p:cNvCxnSpPr/>
          <p:nvPr/>
        </p:nvCxnSpPr>
        <p:spPr>
          <a:xfrm flipH="1">
            <a:off x="11228832" y="4142232"/>
            <a:ext cx="1344168" cy="0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Entity projection to mean segment 2"/>
          <p:cNvCxnSpPr/>
          <p:nvPr/>
        </p:nvCxnSpPr>
        <p:spPr>
          <a:xfrm>
            <a:off x="11228832" y="4142232"/>
            <a:ext cx="0" cy="1252728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Entity projection to mean segment 3"/>
          <p:cNvCxnSpPr/>
          <p:nvPr/>
        </p:nvCxnSpPr>
        <p:spPr>
          <a:xfrm>
            <a:off x="11228832" y="5394960"/>
            <a:ext cx="201168" cy="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Entity forward fork"/>
          <p:cNvSpPr/>
          <p:nvPr/>
        </p:nvSpPr>
        <p:spPr>
          <a:xfrm>
            <a:off x="12540996" y="4110228"/>
            <a:ext cx="64008" cy="64008"/>
          </a:xfrm>
          <a:prstGeom prst="ellips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aph Entity mean"/>
          <p:cNvSpPr/>
          <p:nvPr/>
        </p:nvSpPr>
        <p:spPr>
          <a:xfrm>
            <a:off x="11430000" y="5184648"/>
            <a:ext cx="228600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Graph Entity mean text"/>
          <p:cNvSpPr txBox="1"/>
          <p:nvPr/>
        </p:nvSpPr>
        <p:spPr>
          <a:xfrm>
            <a:off x="11494008" y="5212080"/>
            <a:ext cx="2157984" cy="36576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Entity mean: 128</a:t>
            </a:r>
          </a:p>
        </p:txBody>
      </p:sp>
      <p:sp>
        <p:nvSpPr>
          <p:cNvPr id="226" name="Graph Action mean"/>
          <p:cNvSpPr/>
          <p:nvPr/>
        </p:nvSpPr>
        <p:spPr>
          <a:xfrm>
            <a:off x="13990320" y="5184648"/>
            <a:ext cx="228600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Graph Action mean text"/>
          <p:cNvSpPr txBox="1"/>
          <p:nvPr/>
        </p:nvSpPr>
        <p:spPr>
          <a:xfrm>
            <a:off x="14054328" y="5212080"/>
            <a:ext cx="2157984" cy="36576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Action mean: 128</a:t>
            </a:r>
          </a:p>
        </p:txBody>
      </p:sp>
      <p:cxnSp>
        <p:nvCxnSpPr>
          <p:cNvPr id="228" name="Enriched Actions to mean segment 1"/>
          <p:cNvCxnSpPr/>
          <p:nvPr/>
        </p:nvCxnSpPr>
        <p:spPr>
          <a:xfrm>
            <a:off x="15133320" y="4992624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Graph Content concat"/>
          <p:cNvSpPr/>
          <p:nvPr/>
        </p:nvSpPr>
        <p:spPr>
          <a:xfrm>
            <a:off x="11430000" y="5833872"/>
            <a:ext cx="7406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Graph Content concat text"/>
          <p:cNvSpPr txBox="1"/>
          <p:nvPr/>
        </p:nvSpPr>
        <p:spPr>
          <a:xfrm>
            <a:off x="11494008" y="5861304"/>
            <a:ext cx="7278624" cy="40233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Content X: [Entity mean 128; Action mean 128; Context 128] = 384</a:t>
            </a:r>
          </a:p>
        </p:txBody>
      </p:sp>
      <p:cxnSp>
        <p:nvCxnSpPr>
          <p:cNvPr id="231" name="Entities to Content concat segment 1"/>
          <p:cNvCxnSpPr/>
          <p:nvPr/>
        </p:nvCxnSpPr>
        <p:spPr>
          <a:xfrm>
            <a:off x="12573000" y="5605272"/>
            <a:ext cx="0" cy="22860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Actions to Content concat segment 1"/>
          <p:cNvCxnSpPr/>
          <p:nvPr/>
        </p:nvCxnSpPr>
        <p:spPr>
          <a:xfrm>
            <a:off x="15133320" y="5605272"/>
            <a:ext cx="0" cy="22860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text to Content concat segment 1"/>
          <p:cNvCxnSpPr/>
          <p:nvPr/>
        </p:nvCxnSpPr>
        <p:spPr>
          <a:xfrm>
            <a:off x="17693640" y="4023360"/>
            <a:ext cx="0" cy="1810512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Graph Scene concat"/>
          <p:cNvSpPr/>
          <p:nvPr/>
        </p:nvSpPr>
        <p:spPr>
          <a:xfrm>
            <a:off x="8869680" y="649224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Graph Scene concat text"/>
          <p:cNvSpPr txBox="1"/>
          <p:nvPr/>
        </p:nvSpPr>
        <p:spPr>
          <a:xfrm>
            <a:off x="8933688" y="6519672"/>
            <a:ext cx="4626864" cy="40233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24F"/>
                </a:solidFill>
                <a:latin typeface="Liberation Sans"/>
              </a:rPr>
              <a:t>Scene concat: [Title 128; Content 384] = 512</a:t>
            </a:r>
          </a:p>
        </p:txBody>
      </p:sp>
      <p:cxnSp>
        <p:nvCxnSpPr>
          <p:cNvPr id="236" name="Title to Scene concat segment 1"/>
          <p:cNvCxnSpPr/>
          <p:nvPr/>
        </p:nvCxnSpPr>
        <p:spPr>
          <a:xfrm>
            <a:off x="10012680" y="4023360"/>
            <a:ext cx="0" cy="246888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tent to Scene concat segment 1"/>
          <p:cNvCxnSpPr/>
          <p:nvPr/>
        </p:nvCxnSpPr>
        <p:spPr>
          <a:xfrm>
            <a:off x="15133320" y="6291072"/>
            <a:ext cx="0" cy="109728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tent to Scene concat segment 2"/>
          <p:cNvCxnSpPr/>
          <p:nvPr/>
        </p:nvCxnSpPr>
        <p:spPr>
          <a:xfrm flipH="1">
            <a:off x="12984480" y="6400800"/>
            <a:ext cx="2148840" cy="0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tent to Scene concat segment 3"/>
          <p:cNvCxnSpPr/>
          <p:nvPr/>
        </p:nvCxnSpPr>
        <p:spPr>
          <a:xfrm>
            <a:off x="12984480" y="6400800"/>
            <a:ext cx="0" cy="9144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tent to Similarity segment 1"/>
          <p:cNvCxnSpPr/>
          <p:nvPr/>
        </p:nvCxnSpPr>
        <p:spPr>
          <a:xfrm>
            <a:off x="15133320" y="6400800"/>
            <a:ext cx="1280160" cy="0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tent to Similarity segment 2"/>
          <p:cNvCxnSpPr/>
          <p:nvPr/>
        </p:nvCxnSpPr>
        <p:spPr>
          <a:xfrm>
            <a:off x="16413480" y="6400800"/>
            <a:ext cx="0" cy="9144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Content forward fork"/>
          <p:cNvSpPr/>
          <p:nvPr/>
        </p:nvSpPr>
        <p:spPr>
          <a:xfrm>
            <a:off x="15101316" y="6368796"/>
            <a:ext cx="64008" cy="64008"/>
          </a:xfrm>
          <a:prstGeom prst="ellips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aph Scene Residual MLP"/>
          <p:cNvSpPr/>
          <p:nvPr/>
        </p:nvSpPr>
        <p:spPr>
          <a:xfrm>
            <a:off x="8869680" y="7141464"/>
            <a:ext cx="4754880" cy="566928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Graph Scene Residual MLP text"/>
          <p:cNvSpPr txBox="1"/>
          <p:nvPr/>
        </p:nvSpPr>
        <p:spPr>
          <a:xfrm>
            <a:off x="8933688" y="7168896"/>
            <a:ext cx="4626864" cy="512064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1-layer Scene Residual MLP → H: S ×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512 → 512 · ReLU</a:t>
            </a:r>
          </a:p>
        </p:txBody>
      </p:sp>
      <p:cxnSp>
        <p:nvCxnSpPr>
          <p:cNvPr id="245" name="Concat to Scene MLP segment 1"/>
          <p:cNvCxnSpPr/>
          <p:nvPr/>
        </p:nvCxnSpPr>
        <p:spPr>
          <a:xfrm>
            <a:off x="11247120" y="6949440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cene MLP messages to GCN segment 1"/>
          <p:cNvCxnSpPr/>
          <p:nvPr/>
        </p:nvCxnSpPr>
        <p:spPr>
          <a:xfrm>
            <a:off x="11247120" y="7708392"/>
            <a:ext cx="0" cy="173735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imilarity adjacency to GCN segment 1"/>
          <p:cNvCxnSpPr/>
          <p:nvPr/>
        </p:nvCxnSpPr>
        <p:spPr>
          <a:xfrm>
            <a:off x="16413480" y="7708392"/>
            <a:ext cx="0" cy="173735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Graph Mean Pooling"/>
          <p:cNvSpPr/>
          <p:nvPr/>
        </p:nvSpPr>
        <p:spPr>
          <a:xfrm>
            <a:off x="8869680" y="8659368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Graph Mean Pooling text"/>
          <p:cNvSpPr txBox="1"/>
          <p:nvPr/>
        </p:nvSpPr>
        <p:spPr>
          <a:xfrm>
            <a:off x="8933688" y="8686800"/>
            <a:ext cx="9838944" cy="40233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Mean Pooling over valid Scenes: S × 512 → Item 512</a:t>
            </a:r>
          </a:p>
        </p:txBody>
      </p:sp>
      <p:cxnSp>
        <p:nvCxnSpPr>
          <p:cNvPr id="254" name="Scene GCN to Mean segment 1"/>
          <p:cNvCxnSpPr/>
          <p:nvPr/>
        </p:nvCxnSpPr>
        <p:spPr>
          <a:xfrm>
            <a:off x="13853160" y="8476488"/>
            <a:ext cx="0" cy="18288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Graph item output segment 1"/>
          <p:cNvCxnSpPr/>
          <p:nvPr/>
        </p:nvCxnSpPr>
        <p:spPr>
          <a:xfrm>
            <a:off x="13853160" y="9116568"/>
            <a:ext cx="0" cy="36576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gnn_attn model subtitle"/>
          <p:cNvSpPr txBox="1"/>
          <p:nvPr/>
        </p:nvSpPr>
        <p:spPr>
          <a:xfrm>
            <a:off x="594360" y="850392"/>
            <a:ext cx="18379440" cy="27432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2768D"/>
                </a:solidFill>
                <a:latin typeface="Liberation Sans"/>
              </a:rPr>
              <a:t>Attention scene GCN (gnn_attn)  |  Scene attention excludes Title  |  Frozen BGE Large: 1,024</a:t>
            </a:r>
          </a:p>
        </p:txBody>
      </p:sp>
      <p:sp>
        <p:nvSpPr>
          <p:cNvPr id="257" name="Graph Scene attention"/>
          <p:cNvSpPr/>
          <p:nvPr/>
        </p:nvSpPr>
        <p:spPr>
          <a:xfrm>
            <a:off x="13990320" y="6492240"/>
            <a:ext cx="4846320" cy="1216152"/>
          </a:xfrm>
          <a:prstGeom prst="roundRect">
            <a:avLst>
              <a:gd name="adj" fmla="val 12000"/>
            </a:avLst>
          </a:prstGeom>
          <a:solidFill>
            <a:srgbClr val="F1EBFF"/>
          </a:solidFill>
          <a:ln w="15240">
            <a:solidFill>
              <a:srgbClr val="6D28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Graph Scene attention text"/>
          <p:cNvSpPr txBox="1"/>
          <p:nvPr/>
        </p:nvSpPr>
        <p:spPr>
          <a:xfrm>
            <a:off x="14063472" y="6528816"/>
            <a:ext cx="4700016" cy="114300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Scene attention → A: S × 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384-d X · all pairs within each video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9324F"/>
                </a:solidFill>
                <a:latin typeface="Liberation Sans"/>
              </a:rPr>
              <a:t>Q = W</a:t>
            </a:r>
            <a:r>
              <a:rPr sz="1400" b="0" baseline="-25000">
                <a:solidFill>
                  <a:srgbClr val="19324F"/>
                </a:solidFill>
                <a:latin typeface="Liberation Sans"/>
              </a:rPr>
              <a:t>q</a:t>
            </a:r>
            <a:r>
              <a:rPr sz="1400" b="0">
                <a:solidFill>
                  <a:srgbClr val="19324F"/>
                </a:solidFill>
                <a:latin typeface="Liberation Sans"/>
              </a:rPr>
              <a:t> û(X),  K = W</a:t>
            </a:r>
            <a:r>
              <a:rPr sz="1400" b="0" baseline="-25000">
                <a:solidFill>
                  <a:srgbClr val="19324F"/>
                </a:solidFill>
                <a:latin typeface="Liberation Sans"/>
              </a:rPr>
              <a:t>k</a:t>
            </a:r>
            <a:r>
              <a:rPr sz="1400" b="0">
                <a:solidFill>
                  <a:srgbClr val="19324F"/>
                </a:solidFill>
                <a:latin typeface="Liberation Sans"/>
              </a:rPr>
              <a:t> û(X)   384 → 128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A = softmax(Q K</a:t>
            </a:r>
            <a:r>
              <a:rPr sz="1600" b="0" baseline="30000">
                <a:solidFill>
                  <a:srgbClr val="19324F"/>
                </a:solidFill>
                <a:latin typeface="Liberation Sans"/>
              </a:rPr>
              <a:t>T</a:t>
            </a:r>
            <a:r>
              <a:rPr sz="1600" b="0">
                <a:solidFill>
                  <a:srgbClr val="19324F"/>
                </a:solidFill>
                <a:latin typeface="Liberation Sans"/>
              </a:rPr>
              <a:t> / √128)</a:t>
            </a:r>
          </a:p>
        </p:txBody>
      </p:sp>
      <p:sp>
        <p:nvSpPr>
          <p:cNvPr id="259" name="Graph Scene GCN"/>
          <p:cNvSpPr/>
          <p:nvPr/>
        </p:nvSpPr>
        <p:spPr>
          <a:xfrm>
            <a:off x="8869680" y="7882127"/>
            <a:ext cx="9966960" cy="59436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5240">
            <a:solidFill>
              <a:srgbClr val="6D28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Graph Scene GCN text"/>
          <p:cNvSpPr txBox="1"/>
          <p:nvPr/>
        </p:nvSpPr>
        <p:spPr>
          <a:xfrm>
            <a:off x="8933688" y="7909560"/>
            <a:ext cx="983894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Attention Scene GCN · 1 layer · 512 → 512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H′ = H + ReLU(A H W + b)</a:t>
            </a:r>
          </a:p>
        </p:txBody>
      </p:sp>
      <p:sp>
        <p:nvSpPr>
          <p:cNvPr id="261" name="gnn_attn diagram footnotes"/>
          <p:cNvSpPr txBox="1"/>
          <p:nvPr/>
        </p:nvSpPr>
        <p:spPr>
          <a:xfrm>
            <a:off x="594360" y="11503152"/>
            <a:ext cx="18379440" cy="475488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E / A = entities / actions per scene; S = valid scenes  |  No scene-order encoding  |  û(x) = √384 · x / max(‖x‖, 1e-8): attention inputs only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Title-only: existing fallback (attention GCN skipped)  |  Single scene: A = [1]  |  Meta: Baseline  |  Fully missing / padding: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