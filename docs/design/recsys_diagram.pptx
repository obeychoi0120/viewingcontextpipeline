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9659600" cy="1207008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Implemented Graph architecture: sasrec-role-graph/v3. Role Graph Encoder depth is 1 layer. Entity and action texts are embedded separately using the same frozen BGE weights. Node features are independently projected using shared weights, with a learned type embedding added; they are not averaged before message passing. Role edges are actor, target, tool and location, in both directions. Context bypasses the Graph encoder and joins scene readout only. BGE features are frozen; downstream modules train jointly on recommendation loss. Mean pooling has no trainable parameters. Scene concat is [entity mean 128; action mean 128; projected Context 128]. Final fusion is [title 128; video 384]. No scene 384-to-512 projection and no 1536-to-512 fusion projection. Context and node projection share weights as in the current encoder. Text _meta concatenates title and summary strings before BGE. Without title, Text uses summary only. Both paths use positional embeddings, causal attention, and the existing SASRec output normalization before selecting the last valid position. Title-only meta uses the existing BGE 1024-to-512 model. Text and Graph do not share trained SASRec weights.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8562320" cy="502920"/>
          </a:xfrm>
          <a:prstGeom prst="rect">
            <a:avLst/>
          </a:prstGeom>
          <a:noFill/>
          <a:effectLst/>
        </p:spPr>
        <p:txBody>
          <a:bodyPr wrap="square" lIns="54864" rIns="54864" tIns="18288" bIns="18288" anchor="ctr">
            <a:spAutoFit/>
          </a:bodyPr>
          <a:lstStyle/>
          <a:p>
            <a:pPr algn="l">
              <a:spcAft>
                <a:spcPts val="200"/>
              </a:spcAft>
            </a:pPr>
            <a:r>
              <a:rPr sz="3000" b="1">
                <a:solidFill>
                  <a:srgbClr val="142B43"/>
                </a:solidFill>
                <a:latin typeface="Liberation Sans"/>
              </a:rPr>
              <a:t>Recommendation Architecture | Baseline vs. Text vs. Graph</a:t>
            </a:r>
          </a:p>
        </p:txBody>
      </p:sp>
      <p:sp>
        <p:nvSpPr>
          <p:cNvPr id="4" name="Rounded Rectangle 3"/>
          <p:cNvSpPr/>
          <p:nvPr/>
        </p:nvSpPr>
        <p:spPr>
          <a:xfrm>
            <a:off x="3703320" y="1298448"/>
            <a:ext cx="4572000" cy="7973568"/>
          </a:xfrm>
          <a:prstGeom prst="roundRect">
            <a:avLst>
              <a:gd name="adj" fmla="val 3000"/>
            </a:avLst>
          </a:prstGeom>
          <a:solidFill>
            <a:srgbClr val="F7FAFF"/>
          </a:solidFill>
          <a:ln w="13335">
            <a:solidFill>
              <a:srgbClr val="CADAF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3735324" y="1312163"/>
            <a:ext cx="4507992" cy="7781544"/>
          </a:xfrm>
          <a:prstGeom prst="rect">
            <a:avLst/>
          </a:prstGeom>
          <a:noFill/>
          <a:effectLst/>
        </p:spPr>
        <p:txBody>
          <a:bodyPr wrap="square" lIns="54864" rIns="54864" tIns="18288" bIns="18288" anchor="ctr">
            <a:spAutoFit/>
          </a:bodyPr>
          <a:lstStyle/>
          <a:p>
            <a:pPr algn="ctr">
              <a:spcAft>
                <a:spcPts val="200"/>
              </a:spcAft>
            </a:pPr>
          </a:p>
        </p:txBody>
      </p:sp>
      <p:sp>
        <p:nvSpPr>
          <p:cNvPr id="6" name="Rounded Rectangle 5"/>
          <p:cNvSpPr/>
          <p:nvPr/>
        </p:nvSpPr>
        <p:spPr>
          <a:xfrm>
            <a:off x="8549640" y="1298448"/>
            <a:ext cx="10607040" cy="7973568"/>
          </a:xfrm>
          <a:prstGeom prst="roundRect">
            <a:avLst>
              <a:gd name="adj" fmla="val 1720"/>
            </a:avLst>
          </a:prstGeom>
          <a:solidFill>
            <a:srgbClr val="F5FBFA"/>
          </a:solidFill>
          <a:ln w="13335">
            <a:solidFill>
              <a:srgbClr val="BDDFDC"/>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8581644" y="1312163"/>
            <a:ext cx="10543032" cy="7781544"/>
          </a:xfrm>
          <a:prstGeom prst="rect">
            <a:avLst/>
          </a:prstGeom>
          <a:noFill/>
          <a:effectLst/>
        </p:spPr>
        <p:txBody>
          <a:bodyPr wrap="square" lIns="54864" rIns="54864" tIns="18288" bIns="18288" anchor="ctr">
            <a:spAutoFit/>
          </a:bodyPr>
          <a:lstStyle/>
          <a:p>
            <a:pPr algn="ctr">
              <a:spcAft>
                <a:spcPts val="200"/>
              </a:spcAft>
            </a:pPr>
          </a:p>
        </p:txBody>
      </p:sp>
      <p:sp>
        <p:nvSpPr>
          <p:cNvPr id="8" name="TextBox 7"/>
          <p:cNvSpPr txBox="1"/>
          <p:nvPr/>
        </p:nvSpPr>
        <p:spPr>
          <a:xfrm>
            <a:off x="3931920" y="1444752"/>
            <a:ext cx="4114800" cy="365760"/>
          </a:xfrm>
          <a:prstGeom prst="rect">
            <a:avLst/>
          </a:prstGeom>
          <a:noFill/>
          <a:effectLst/>
        </p:spPr>
        <p:txBody>
          <a:bodyPr wrap="square" lIns="54864" rIns="54864" tIns="18288" bIns="18288" anchor="ctr">
            <a:spAutoFit/>
          </a:bodyPr>
          <a:lstStyle/>
          <a:p>
            <a:pPr algn="l">
              <a:spcAft>
                <a:spcPts val="200"/>
              </a:spcAft>
            </a:pPr>
            <a:r>
              <a:rPr sz="2300" b="1">
                <a:solidFill>
                  <a:srgbClr val="2864B7"/>
                </a:solidFill>
                <a:latin typeface="Liberation Sans"/>
              </a:rPr>
              <a:t>TEXT PATH</a:t>
            </a:r>
          </a:p>
        </p:txBody>
      </p:sp>
      <p:sp>
        <p:nvSpPr>
          <p:cNvPr id="9" name="TextBox 8"/>
          <p:cNvSpPr txBox="1"/>
          <p:nvPr/>
        </p:nvSpPr>
        <p:spPr>
          <a:xfrm>
            <a:off x="8778240" y="1444752"/>
            <a:ext cx="9966960" cy="365760"/>
          </a:xfrm>
          <a:prstGeom prst="rect">
            <a:avLst/>
          </a:prstGeom>
          <a:noFill/>
          <a:effectLst/>
        </p:spPr>
        <p:txBody>
          <a:bodyPr wrap="square" lIns="54864" rIns="54864" tIns="18288" bIns="18288" anchor="ctr">
            <a:spAutoFit/>
          </a:bodyPr>
          <a:lstStyle/>
          <a:p>
            <a:pPr algn="l">
              <a:spcAft>
                <a:spcPts val="200"/>
              </a:spcAft>
            </a:pPr>
            <a:r>
              <a:rPr sz="2300" b="1">
                <a:solidFill>
                  <a:srgbClr val="087E83"/>
                </a:solidFill>
                <a:latin typeface="Liberation Sans"/>
              </a:rPr>
              <a:t>GRAPH PATH</a:t>
            </a:r>
          </a:p>
        </p:txBody>
      </p:sp>
      <p:sp>
        <p:nvSpPr>
          <p:cNvPr id="83" name="Rounded Rectangle 82"/>
          <p:cNvSpPr/>
          <p:nvPr/>
        </p:nvSpPr>
        <p:spPr>
          <a:xfrm>
            <a:off x="502920" y="9482328"/>
            <a:ext cx="18653758" cy="1865376"/>
          </a:xfrm>
          <a:prstGeom prst="roundRect">
            <a:avLst>
              <a:gd name="adj" fmla="val 7352"/>
            </a:avLst>
          </a:prstGeom>
          <a:solidFill>
            <a:srgbClr val="F6F8FB"/>
          </a:solidFill>
          <a:ln w="13335">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TextBox 83"/>
          <p:cNvSpPr txBox="1"/>
          <p:nvPr/>
        </p:nvSpPr>
        <p:spPr>
          <a:xfrm>
            <a:off x="541552" y="9496044"/>
            <a:ext cx="18576494" cy="1837944"/>
          </a:xfrm>
          <a:prstGeom prst="rect">
            <a:avLst/>
          </a:prstGeom>
          <a:noFill/>
          <a:effectLst/>
        </p:spPr>
        <p:txBody>
          <a:bodyPr wrap="square" lIns="54864" rIns="54864" tIns="18288" bIns="18288" anchor="ctr">
            <a:spAutoFit/>
          </a:bodyPr>
          <a:lstStyle/>
          <a:p>
            <a:pPr algn="ctr">
              <a:spcAft>
                <a:spcPts val="200"/>
              </a:spcAft>
            </a:pPr>
          </a:p>
        </p:txBody>
      </p:sp>
      <p:sp>
        <p:nvSpPr>
          <p:cNvPr id="85" name="TextBox 84"/>
          <p:cNvSpPr txBox="1"/>
          <p:nvPr/>
        </p:nvSpPr>
        <p:spPr>
          <a:xfrm>
            <a:off x="834051" y="9601200"/>
            <a:ext cx="17881119" cy="310896"/>
          </a:xfrm>
          <a:prstGeom prst="rect">
            <a:avLst/>
          </a:prstGeom>
          <a:noFill/>
          <a:effectLst/>
        </p:spPr>
        <p:txBody>
          <a:bodyPr wrap="square" lIns="54864" rIns="54864" tIns="18288" bIns="18288" anchor="ctr">
            <a:spAutoFit/>
          </a:bodyPr>
          <a:lstStyle/>
          <a:p>
            <a:pPr algn="l">
              <a:spcAft>
                <a:spcPts val="200"/>
              </a:spcAft>
            </a:pPr>
            <a:r>
              <a:rPr sz="1600" b="1">
                <a:solidFill>
                  <a:srgbClr val="142B43"/>
                </a:solidFill>
                <a:latin typeface="Liberation Sans"/>
              </a:rPr>
              <a:t>SAME RECOMMENDER ARCHITECTURE  •  Trained independently for each path / arm</a:t>
            </a:r>
          </a:p>
        </p:txBody>
      </p:sp>
      <p:sp>
        <p:nvSpPr>
          <p:cNvPr id="86" name="Rounded Rectangle 85"/>
          <p:cNvSpPr/>
          <p:nvPr/>
        </p:nvSpPr>
        <p:spPr>
          <a:xfrm>
            <a:off x="944429" y="10113264"/>
            <a:ext cx="3642450" cy="704088"/>
          </a:xfrm>
          <a:prstGeom prst="roundRect">
            <a:avLst>
              <a:gd name="adj" fmla="val 7142"/>
            </a:avLst>
          </a:prstGeom>
          <a:solidFill>
            <a:srgbClr val="FFFFFF"/>
          </a:solidFill>
          <a:ln w="14604">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TextBox 86"/>
          <p:cNvSpPr txBox="1"/>
          <p:nvPr/>
        </p:nvSpPr>
        <p:spPr>
          <a:xfrm>
            <a:off x="983061" y="10126980"/>
            <a:ext cx="3565186" cy="676656"/>
          </a:xfrm>
          <a:prstGeom prst="rect">
            <a:avLst/>
          </a:prstGeom>
          <a:noFill/>
          <a:effectLst/>
        </p:spPr>
        <p:txBody>
          <a:bodyPr wrap="square" lIns="54864" rIns="54864" tIns="18288" bIns="18288" anchor="ctr">
            <a:spAutoFit/>
          </a:bodyPr>
          <a:lstStyle/>
          <a:p>
            <a:pPr algn="ctr">
              <a:spcAft>
                <a:spcPts val="200"/>
              </a:spcAft>
            </a:pPr>
            <a:r>
              <a:rPr sz="1800" b="0">
                <a:solidFill>
                  <a:srgbClr val="142B43"/>
                </a:solidFill>
                <a:latin typeface="Liberation Sans"/>
              </a:rPr>
              <a:t>Video vectors: 512</a:t>
            </a:r>
          </a:p>
          <a:p>
            <a:pPr algn="ctr">
              <a:spcAft>
                <a:spcPts val="200"/>
              </a:spcAft>
            </a:pPr>
            <a:r>
              <a:rPr sz="1800" b="0">
                <a:solidFill>
                  <a:srgbClr val="142B43"/>
                </a:solidFill>
                <a:latin typeface="Liberation Sans"/>
              </a:rPr>
              <a:t>History: up to 10 × 512</a:t>
            </a:r>
          </a:p>
        </p:txBody>
      </p:sp>
      <p:sp>
        <p:nvSpPr>
          <p:cNvPr id="88" name="Rounded Rectangle 87"/>
          <p:cNvSpPr/>
          <p:nvPr/>
        </p:nvSpPr>
        <p:spPr>
          <a:xfrm>
            <a:off x="5271218" y="10113264"/>
            <a:ext cx="3532072" cy="704088"/>
          </a:xfrm>
          <a:prstGeom prst="roundRect">
            <a:avLst>
              <a:gd name="adj" fmla="val 7142"/>
            </a:avLst>
          </a:prstGeom>
          <a:solidFill>
            <a:srgbClr val="FFFFFF"/>
          </a:solidFill>
          <a:ln w="14604">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TextBox 88"/>
          <p:cNvSpPr txBox="1"/>
          <p:nvPr/>
        </p:nvSpPr>
        <p:spPr>
          <a:xfrm>
            <a:off x="5309850" y="10126980"/>
            <a:ext cx="3454808" cy="676656"/>
          </a:xfrm>
          <a:prstGeom prst="rect">
            <a:avLst/>
          </a:prstGeom>
          <a:noFill/>
          <a:effectLst/>
        </p:spPr>
        <p:txBody>
          <a:bodyPr wrap="square" lIns="54864" rIns="54864" tIns="18288" bIns="18288" anchor="ctr">
            <a:spAutoFit/>
          </a:bodyPr>
          <a:lstStyle/>
          <a:p>
            <a:pPr algn="ctr">
              <a:spcAft>
                <a:spcPts val="200"/>
              </a:spcAft>
            </a:pPr>
            <a:r>
              <a:rPr sz="1800" b="0">
                <a:solidFill>
                  <a:srgbClr val="142B43"/>
                </a:solidFill>
                <a:latin typeface="Liberation Sans"/>
              </a:rPr>
              <a:t>SASRec</a:t>
            </a:r>
          </a:p>
          <a:p>
            <a:pPr algn="ctr">
              <a:spcAft>
                <a:spcPts val="200"/>
              </a:spcAft>
            </a:pPr>
            <a:r>
              <a:rPr sz="1800" b="0">
                <a:solidFill>
                  <a:srgbClr val="142B43"/>
                </a:solidFill>
                <a:latin typeface="Liberation Sans"/>
              </a:rPr>
              <a:t>2 blocks · 2 heads · 512</a:t>
            </a:r>
          </a:p>
        </p:txBody>
      </p:sp>
      <p:sp>
        <p:nvSpPr>
          <p:cNvPr id="90" name="Rounded Rectangle 89"/>
          <p:cNvSpPr/>
          <p:nvPr/>
        </p:nvSpPr>
        <p:spPr>
          <a:xfrm>
            <a:off x="9498666" y="10113264"/>
            <a:ext cx="3476884" cy="704088"/>
          </a:xfrm>
          <a:prstGeom prst="roundRect">
            <a:avLst>
              <a:gd name="adj" fmla="val 7142"/>
            </a:avLst>
          </a:prstGeom>
          <a:solidFill>
            <a:srgbClr val="FFFFFF"/>
          </a:solidFill>
          <a:ln w="14604">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1" name="TextBox 90"/>
          <p:cNvSpPr txBox="1"/>
          <p:nvPr/>
        </p:nvSpPr>
        <p:spPr>
          <a:xfrm>
            <a:off x="9537299" y="10126980"/>
            <a:ext cx="3399620" cy="676656"/>
          </a:xfrm>
          <a:prstGeom prst="rect">
            <a:avLst/>
          </a:prstGeom>
          <a:noFill/>
          <a:effectLst/>
        </p:spPr>
        <p:txBody>
          <a:bodyPr wrap="none" lIns="54864" rIns="54864" tIns="18288" bIns="18288" anchor="ctr">
            <a:noAutofit/>
          </a:bodyPr>
          <a:lstStyle/>
          <a:p>
            <a:pPr algn="ctr">
              <a:spcBef>
                <a:spcPts val="0"/>
              </a:spcBef>
              <a:spcAft>
                <a:spcPts val="0"/>
              </a:spcAft>
            </a:pPr>
            <a:r>
              <a:rPr sz="1600">
                <a:solidFill>
                  <a:srgbClr val="19324F"/>
                </a:solidFill>
                <a:latin typeface="Liberation Sans"/>
              </a:rPr>
              <a:t>Last valid position</a:t>
            </a:r>
          </a:p>
          <a:p>
            <a:pPr algn="ctr">
              <a:spcBef>
                <a:spcPts val="0"/>
              </a:spcBef>
              <a:spcAft>
                <a:spcPts val="0"/>
              </a:spcAft>
            </a:pPr>
            <a:r>
              <a:rPr sz="1600">
                <a:solidFill>
                  <a:srgbClr val="19324F"/>
                </a:solidFill>
                <a:latin typeface="Liberation Sans"/>
              </a:rPr>
              <a:t>User Residual MLP · GELU + LN</a:t>
            </a:r>
          </a:p>
        </p:txBody>
      </p:sp>
      <p:sp>
        <p:nvSpPr>
          <p:cNvPr id="92" name="Rounded Rectangle 91"/>
          <p:cNvSpPr/>
          <p:nvPr/>
        </p:nvSpPr>
        <p:spPr>
          <a:xfrm>
            <a:off x="13858570" y="10113264"/>
            <a:ext cx="4525467" cy="704088"/>
          </a:xfrm>
          <a:prstGeom prst="roundRect">
            <a:avLst>
              <a:gd name="adj" fmla="val 7142"/>
            </a:avLst>
          </a:prstGeom>
          <a:solidFill>
            <a:srgbClr val="E5EBF2"/>
          </a:solidFill>
          <a:ln w="14604">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3" name="TextBox 92"/>
          <p:cNvSpPr txBox="1"/>
          <p:nvPr/>
        </p:nvSpPr>
        <p:spPr>
          <a:xfrm>
            <a:off x="13897202" y="10126980"/>
            <a:ext cx="4448203" cy="676656"/>
          </a:xfrm>
          <a:prstGeom prst="rect">
            <a:avLst/>
          </a:prstGeom>
          <a:noFill/>
          <a:effectLst/>
        </p:spPr>
        <p:txBody>
          <a:bodyPr wrap="square" lIns="54864" rIns="54864" tIns="18288" bIns="18288" anchor="ctr">
            <a:spAutoFit/>
          </a:bodyPr>
          <a:lstStyle/>
          <a:p>
            <a:pPr algn="ctr">
              <a:spcAft>
                <a:spcPts val="200"/>
              </a:spcAft>
            </a:pPr>
            <a:r>
              <a:rPr sz="1800" b="1">
                <a:solidFill>
                  <a:srgbClr val="142B43"/>
                </a:solidFill>
                <a:latin typeface="Liberation Sans"/>
              </a:rPr>
              <a:t>Dot product</a:t>
            </a:r>
          </a:p>
          <a:p>
            <a:pPr algn="ctr">
              <a:spcAft>
                <a:spcPts val="200"/>
              </a:spcAft>
            </a:pPr>
            <a:r>
              <a:rPr sz="1800" b="1">
                <a:solidFill>
                  <a:srgbClr val="142B43"/>
                </a:solidFill>
                <a:latin typeface="Liberation Sans"/>
              </a:rPr>
              <a:t>User 512 · Candidate 512</a:t>
            </a:r>
          </a:p>
        </p:txBody>
      </p:sp>
      <p:cxnSp>
        <p:nvCxnSpPr>
          <p:cNvPr id="94" name="Connector 93"/>
          <p:cNvCxnSpPr/>
          <p:nvPr/>
        </p:nvCxnSpPr>
        <p:spPr>
          <a:xfrm>
            <a:off x="4586879" y="10465308"/>
            <a:ext cx="684339" cy="0"/>
          </a:xfrm>
          <a:prstGeom prst="line">
            <a:avLst/>
          </a:prstGeom>
          <a:ln w="17780">
            <a:solidFill>
              <a:srgbClr val="617286"/>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95" name="Connector 94"/>
          <p:cNvCxnSpPr/>
          <p:nvPr/>
        </p:nvCxnSpPr>
        <p:spPr>
          <a:xfrm>
            <a:off x="8803291" y="10465308"/>
            <a:ext cx="695375" cy="0"/>
          </a:xfrm>
          <a:prstGeom prst="line">
            <a:avLst/>
          </a:prstGeom>
          <a:ln w="17780">
            <a:solidFill>
              <a:srgbClr val="617286"/>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96" name="Connector 95"/>
          <p:cNvCxnSpPr/>
          <p:nvPr/>
        </p:nvCxnSpPr>
        <p:spPr>
          <a:xfrm>
            <a:off x="12975552" y="10465308"/>
            <a:ext cx="883018" cy="0"/>
          </a:xfrm>
          <a:prstGeom prst="line">
            <a:avLst/>
          </a:prstGeom>
          <a:ln w="17780">
            <a:solidFill>
              <a:srgbClr val="617286"/>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97" name="Connector 96"/>
          <p:cNvCxnSpPr/>
          <p:nvPr/>
        </p:nvCxnSpPr>
        <p:spPr>
          <a:xfrm>
            <a:off x="2765654" y="10817352"/>
            <a:ext cx="0" cy="384048"/>
          </a:xfrm>
          <a:prstGeom prst="line">
            <a:avLst/>
          </a:prstGeom>
          <a:ln w="17780">
            <a:solidFill>
              <a:srgbClr val="617286"/>
            </a:solidFill>
          </a:ln>
          <a:effectLst/>
        </p:spPr>
        <p:style>
          <a:lnRef idx="2">
            <a:schemeClr val="accent1"/>
          </a:lnRef>
          <a:fillRef idx="0">
            <a:schemeClr val="accent1"/>
          </a:fillRef>
          <a:effectRef idx="0">
            <a:schemeClr val="accent1"/>
          </a:effectRef>
          <a:fontRef idx="minor">
            <a:schemeClr val="tx1"/>
          </a:fontRef>
        </p:style>
      </p:cxnSp>
      <p:cxnSp>
        <p:nvCxnSpPr>
          <p:cNvPr id="98" name="Connector 97"/>
          <p:cNvCxnSpPr/>
          <p:nvPr/>
        </p:nvCxnSpPr>
        <p:spPr>
          <a:xfrm>
            <a:off x="2765654" y="11201400"/>
            <a:ext cx="13355650" cy="0"/>
          </a:xfrm>
          <a:prstGeom prst="line">
            <a:avLst/>
          </a:prstGeom>
          <a:ln w="17780">
            <a:solidFill>
              <a:srgbClr val="617286"/>
            </a:solidFill>
          </a:ln>
          <a:effectLst/>
        </p:spPr>
        <p:style>
          <a:lnRef idx="2">
            <a:schemeClr val="accent1"/>
          </a:lnRef>
          <a:fillRef idx="0">
            <a:schemeClr val="accent1"/>
          </a:fillRef>
          <a:effectRef idx="0">
            <a:schemeClr val="accent1"/>
          </a:effectRef>
          <a:fontRef idx="minor">
            <a:schemeClr val="tx1"/>
          </a:fontRef>
        </p:style>
      </p:cxnSp>
      <p:cxnSp>
        <p:nvCxnSpPr>
          <p:cNvPr id="99" name="Connector 98"/>
          <p:cNvCxnSpPr/>
          <p:nvPr/>
        </p:nvCxnSpPr>
        <p:spPr>
          <a:xfrm flipV="1">
            <a:off x="16121304" y="10817352"/>
            <a:ext cx="0" cy="384048"/>
          </a:xfrm>
          <a:prstGeom prst="line">
            <a:avLst/>
          </a:prstGeom>
          <a:ln w="17780">
            <a:solidFill>
              <a:srgbClr val="617286"/>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00" name="TextBox 99"/>
          <p:cNvSpPr txBox="1"/>
          <p:nvPr/>
        </p:nvSpPr>
        <p:spPr>
          <a:xfrm>
            <a:off x="5525086" y="10908792"/>
            <a:ext cx="7284900" cy="228600"/>
          </a:xfrm>
          <a:prstGeom prst="rect">
            <a:avLst/>
          </a:prstGeom>
          <a:noFill/>
          <a:effectLst/>
        </p:spPr>
        <p:txBody>
          <a:bodyPr wrap="square" lIns="54864" rIns="54864" tIns="18288" bIns="18288" anchor="ctr">
            <a:spAutoFit/>
          </a:bodyPr>
          <a:lstStyle/>
          <a:p>
            <a:pPr algn="ctr">
              <a:spcAft>
                <a:spcPts val="200"/>
              </a:spcAft>
            </a:pPr>
            <a:r>
              <a:rPr sz="1200" b="0">
                <a:solidFill>
                  <a:srgbClr val="617286"/>
                </a:solidFill>
                <a:latin typeface="Liberation Sans"/>
              </a:rPr>
              <a:t>Candidate video vectors bypass the sequence encoder</a:t>
            </a:r>
          </a:p>
        </p:txBody>
      </p:sp>
      <p:sp>
        <p:nvSpPr>
          <p:cNvPr id="102" name="Rounded Rectangle 101"/>
          <p:cNvSpPr/>
          <p:nvPr/>
        </p:nvSpPr>
        <p:spPr>
          <a:xfrm>
            <a:off x="4087368" y="2057400"/>
            <a:ext cx="1783080" cy="685800"/>
          </a:xfrm>
          <a:prstGeom prst="roundRect">
            <a:avLst>
              <a:gd name="adj" fmla="val 7333"/>
            </a:avLst>
          </a:prstGeom>
          <a:solidFill>
            <a:srgbClr val="FFFF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Title</a:t>
            </a:r>
          </a:p>
        </p:txBody>
      </p:sp>
      <p:sp>
        <p:nvSpPr>
          <p:cNvPr id="103" name="Rounded Rectangle 102"/>
          <p:cNvSpPr/>
          <p:nvPr/>
        </p:nvSpPr>
        <p:spPr>
          <a:xfrm>
            <a:off x="4087368" y="3291840"/>
            <a:ext cx="1783080" cy="731520"/>
          </a:xfrm>
          <a:prstGeom prst="roundRect">
            <a:avLst>
              <a:gd name="adj" fmla="val 6875"/>
            </a:avLst>
          </a:prstGeom>
          <a:solidFill>
            <a:srgbClr val="EFF3F7"/>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BGE [frozen]</a:t>
            </a:r>
          </a:p>
          <a:p>
            <a:pPr algn="ctr"/>
            <a:r>
              <a:rPr sz="1700">
                <a:solidFill>
                  <a:srgbClr val="19324F"/>
                </a:solidFill>
                <a:latin typeface="Aptos"/>
              </a:rPr>
              <a:t>1,024</a:t>
            </a:r>
          </a:p>
        </p:txBody>
      </p:sp>
      <p:sp>
        <p:nvSpPr>
          <p:cNvPr id="104" name="Rounded Rectangle 103"/>
          <p:cNvSpPr/>
          <p:nvPr/>
        </p:nvSpPr>
        <p:spPr>
          <a:xfrm>
            <a:off x="4087368" y="4617720"/>
            <a:ext cx="1783080" cy="731520"/>
          </a:xfrm>
          <a:prstGeom prst="roundRect">
            <a:avLst>
              <a:gd name="adj" fmla="val 6875"/>
            </a:avLst>
          </a:prstGeom>
          <a:solidFill>
            <a:srgbClr val="FFFF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600">
                <a:solidFill>
                  <a:srgbClr val="19324F"/>
                </a:solidFill>
                <a:latin typeface="Aptos"/>
              </a:rPr>
              <a:t>Linear projection</a:t>
            </a:r>
          </a:p>
          <a:p>
            <a:pPr algn="ctr"/>
            <a:r>
              <a:rPr sz="1600">
                <a:solidFill>
                  <a:srgbClr val="19324F"/>
                </a:solidFill>
                <a:latin typeface="Aptos"/>
              </a:rPr>
              <a:t>1,024 → 128</a:t>
            </a:r>
          </a:p>
        </p:txBody>
      </p:sp>
      <p:cxnSp>
        <p:nvCxnSpPr>
          <p:cNvPr id="105" name="Connector 104"/>
          <p:cNvCxnSpPr/>
          <p:nvPr/>
        </p:nvCxnSpPr>
        <p:spPr>
          <a:xfrm>
            <a:off x="4978907" y="2743200"/>
            <a:ext cx="0" cy="548640"/>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06" name="Connector 105"/>
          <p:cNvCxnSpPr/>
          <p:nvPr/>
        </p:nvCxnSpPr>
        <p:spPr>
          <a:xfrm>
            <a:off x="4978907" y="4023360"/>
            <a:ext cx="0" cy="594360"/>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09" name="Rounded Rectangle 108"/>
          <p:cNvSpPr/>
          <p:nvPr/>
        </p:nvSpPr>
        <p:spPr>
          <a:xfrm>
            <a:off x="6053328" y="2057400"/>
            <a:ext cx="1783080" cy="685800"/>
          </a:xfrm>
          <a:prstGeom prst="roundRect">
            <a:avLst>
              <a:gd name="adj" fmla="val 7333"/>
            </a:avLst>
          </a:prstGeom>
          <a:solidFill>
            <a:srgbClr val="FFFF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Video Summary</a:t>
            </a:r>
          </a:p>
        </p:txBody>
      </p:sp>
      <p:sp>
        <p:nvSpPr>
          <p:cNvPr id="110" name="Rounded Rectangle 109"/>
          <p:cNvSpPr/>
          <p:nvPr/>
        </p:nvSpPr>
        <p:spPr>
          <a:xfrm>
            <a:off x="6053328" y="3291840"/>
            <a:ext cx="1783080" cy="731520"/>
          </a:xfrm>
          <a:prstGeom prst="roundRect">
            <a:avLst>
              <a:gd name="adj" fmla="val 6875"/>
            </a:avLst>
          </a:prstGeom>
          <a:solidFill>
            <a:srgbClr val="EFF3F7"/>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BGE [frozen]</a:t>
            </a:r>
          </a:p>
          <a:p>
            <a:pPr algn="ctr"/>
            <a:r>
              <a:rPr sz="1700">
                <a:solidFill>
                  <a:srgbClr val="19324F"/>
                </a:solidFill>
                <a:latin typeface="Aptos"/>
              </a:rPr>
              <a:t>1,024</a:t>
            </a:r>
          </a:p>
        </p:txBody>
      </p:sp>
      <p:sp>
        <p:nvSpPr>
          <p:cNvPr id="111" name="Rounded Rectangle 110"/>
          <p:cNvSpPr/>
          <p:nvPr/>
        </p:nvSpPr>
        <p:spPr>
          <a:xfrm>
            <a:off x="6053328" y="4617720"/>
            <a:ext cx="1783080" cy="731520"/>
          </a:xfrm>
          <a:prstGeom prst="roundRect">
            <a:avLst>
              <a:gd name="adj" fmla="val 6875"/>
            </a:avLst>
          </a:prstGeom>
          <a:solidFill>
            <a:srgbClr val="FFFF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600">
                <a:solidFill>
                  <a:srgbClr val="19324F"/>
                </a:solidFill>
                <a:latin typeface="Aptos"/>
              </a:rPr>
              <a:t>Linear projection</a:t>
            </a:r>
          </a:p>
          <a:p>
            <a:pPr algn="ctr"/>
            <a:r>
              <a:rPr sz="1600">
                <a:solidFill>
                  <a:srgbClr val="19324F"/>
                </a:solidFill>
                <a:latin typeface="Aptos"/>
              </a:rPr>
              <a:t>1,024 → 384</a:t>
            </a:r>
          </a:p>
        </p:txBody>
      </p:sp>
      <p:cxnSp>
        <p:nvCxnSpPr>
          <p:cNvPr id="112" name="Connector 111"/>
          <p:cNvCxnSpPr/>
          <p:nvPr/>
        </p:nvCxnSpPr>
        <p:spPr>
          <a:xfrm>
            <a:off x="6944868" y="2743200"/>
            <a:ext cx="0" cy="548640"/>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13" name="Connector 112"/>
          <p:cNvCxnSpPr/>
          <p:nvPr/>
        </p:nvCxnSpPr>
        <p:spPr>
          <a:xfrm>
            <a:off x="6944868" y="4023360"/>
            <a:ext cx="0" cy="594360"/>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17" name="Rounded Rectangle 116"/>
          <p:cNvSpPr/>
          <p:nvPr/>
        </p:nvSpPr>
        <p:spPr>
          <a:xfrm>
            <a:off x="4087368" y="7406640"/>
            <a:ext cx="3794760" cy="621792"/>
          </a:xfrm>
          <a:prstGeom prst="roundRect">
            <a:avLst>
              <a:gd name="adj" fmla="val 7857"/>
            </a:avLst>
          </a:prstGeom>
          <a:solidFill>
            <a:srgbClr val="E7F0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none" lIns="54864" rIns="54864" tIns="27432" bIns="27432">
            <a:noAutofit/>
          </a:bodyPr>
          <a:lstStyle/>
          <a:p>
            <a:pPr algn="ctr">
              <a:spcBef>
                <a:spcPts val="0"/>
              </a:spcBef>
              <a:spcAft>
                <a:spcPts val="0"/>
              </a:spcAft>
            </a:pPr>
            <a:r>
              <a:rPr sz="1600">
                <a:solidFill>
                  <a:srgbClr val="19324F"/>
                </a:solidFill>
                <a:latin typeface="Liberation Sans"/>
              </a:rPr>
              <a:t>Concat: [Title 128; Summary 384]</a:t>
            </a:r>
          </a:p>
          <a:p>
            <a:pPr algn="ctr">
              <a:spcBef>
                <a:spcPts val="0"/>
              </a:spcBef>
              <a:spcAft>
                <a:spcPts val="0"/>
              </a:spcAft>
            </a:pPr>
            <a:r>
              <a:rPr sz="1600">
                <a:solidFill>
                  <a:srgbClr val="19324F"/>
                </a:solidFill>
                <a:latin typeface="Liberation Sans"/>
              </a:rPr>
              <a:t>512</a:t>
            </a:r>
          </a:p>
        </p:txBody>
      </p:sp>
      <p:sp>
        <p:nvSpPr>
          <p:cNvPr id="161" name="Rounded Rectangle 160"/>
          <p:cNvSpPr/>
          <p:nvPr/>
        </p:nvSpPr>
        <p:spPr>
          <a:xfrm>
            <a:off x="4087368" y="8183879"/>
            <a:ext cx="3794760" cy="786384"/>
          </a:xfrm>
          <a:prstGeom prst="roundRect">
            <a:avLst>
              <a:gd name="adj" fmla="val 11000"/>
            </a:avLst>
          </a:prstGeom>
          <a:solidFill>
            <a:srgbClr val="E7F0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tIns="27432" bIns="27432" wrap="none">
            <a:noAutofit/>
          </a:bodyPr>
          <a:lstStyle/>
          <a:p>
            <a:pPr algn="ctr">
              <a:spcBef>
                <a:spcPts val="0"/>
              </a:spcBef>
              <a:spcAft>
                <a:spcPts val="0"/>
              </a:spcAft>
            </a:pPr>
            <a:r>
              <a:rPr sz="1500">
                <a:solidFill>
                  <a:srgbClr val="19324F"/>
                </a:solidFill>
                <a:latin typeface="Liberation Sans"/>
              </a:rPr>
              <a:t>Item Residual MLP</a:t>
            </a:r>
          </a:p>
          <a:p>
            <a:pPr algn="ctr">
              <a:spcBef>
                <a:spcPts val="0"/>
              </a:spcBef>
              <a:spcAft>
                <a:spcPts val="0"/>
              </a:spcAft>
            </a:pPr>
            <a:r>
              <a:rPr sz="1500">
                <a:solidFill>
                  <a:srgbClr val="19324F"/>
                </a:solidFill>
                <a:latin typeface="Liberation Sans"/>
              </a:rPr>
              <a:t>512 → 512 → 512</a:t>
            </a:r>
          </a:p>
          <a:p>
            <a:pPr algn="ctr">
              <a:spcBef>
                <a:spcPts val="0"/>
              </a:spcBef>
              <a:spcAft>
                <a:spcPts val="0"/>
              </a:spcAft>
            </a:pPr>
            <a:r>
              <a:rPr sz="1500">
                <a:solidFill>
                  <a:srgbClr val="19324F"/>
                </a:solidFill>
                <a:latin typeface="Liberation Sans"/>
              </a:rPr>
              <a:t>ReLU · no LayerNorm</a:t>
            </a:r>
          </a:p>
        </p:txBody>
      </p:sp>
      <p:sp>
        <p:nvSpPr>
          <p:cNvPr id="166" name="Rounded Rectangle 165"/>
          <p:cNvSpPr/>
          <p:nvPr/>
        </p:nvSpPr>
        <p:spPr>
          <a:xfrm>
            <a:off x="502920" y="1298448"/>
            <a:ext cx="2926080" cy="7973568"/>
          </a:xfrm>
          <a:prstGeom prst="roundRect">
            <a:avLst>
              <a:gd name="adj" fmla="val 4687"/>
            </a:avLst>
          </a:prstGeom>
          <a:solidFill>
            <a:srgbClr val="F5F6F7"/>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
            </a:r>
          </a:p>
        </p:txBody>
      </p:sp>
      <p:sp>
        <p:nvSpPr>
          <p:cNvPr id="167" name="TextBox 166"/>
          <p:cNvSpPr txBox="1"/>
          <p:nvPr/>
        </p:nvSpPr>
        <p:spPr>
          <a:xfrm>
            <a:off x="731520" y="1444752"/>
            <a:ext cx="2560320" cy="365760"/>
          </a:xfrm>
          <a:prstGeom prst="rect">
            <a:avLst/>
          </a:prstGeom>
          <a:noFill/>
        </p:spPr>
        <p:txBody>
          <a:bodyPr wrap="none" lIns="0" tIns="0">
            <a:spAutoFit/>
          </a:bodyPr>
          <a:lstStyle/>
          <a:p>
            <a:r>
              <a:rPr sz="2400" b="1">
                <a:solidFill>
                  <a:srgbClr val="626C78"/>
                </a:solidFill>
                <a:latin typeface="Aptos"/>
              </a:rPr>
              <a:t>Baseline</a:t>
            </a:r>
          </a:p>
        </p:txBody>
      </p:sp>
      <p:sp>
        <p:nvSpPr>
          <p:cNvPr id="168" name="Rounded Rectangle 167"/>
          <p:cNvSpPr/>
          <p:nvPr/>
        </p:nvSpPr>
        <p:spPr>
          <a:xfrm>
            <a:off x="822960" y="2057400"/>
            <a:ext cx="2286000" cy="685800"/>
          </a:xfrm>
          <a:prstGeom prst="roundRect">
            <a:avLst>
              <a:gd name="adj" fmla="val 7333"/>
            </a:avLst>
          </a:prstGeom>
          <a:solidFill>
            <a:srgbClr val="FFFFFF"/>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Title</a:t>
            </a:r>
          </a:p>
        </p:txBody>
      </p:sp>
      <p:sp>
        <p:nvSpPr>
          <p:cNvPr id="169" name="Rounded Rectangle 168"/>
          <p:cNvSpPr/>
          <p:nvPr/>
        </p:nvSpPr>
        <p:spPr>
          <a:xfrm>
            <a:off x="822960" y="3291840"/>
            <a:ext cx="2286000" cy="731520"/>
          </a:xfrm>
          <a:prstGeom prst="roundRect">
            <a:avLst>
              <a:gd name="adj" fmla="val 6874"/>
            </a:avLst>
          </a:prstGeom>
          <a:solidFill>
            <a:srgbClr val="EEF0F2"/>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BGE [frozen]</a:t>
            </a:r>
          </a:p>
          <a:p>
            <a:pPr algn="ctr"/>
            <a:r>
              <a:rPr sz="1800">
                <a:solidFill>
                  <a:srgbClr val="19324F"/>
                </a:solidFill>
                <a:latin typeface="Aptos"/>
              </a:rPr>
              <a:t>1,024</a:t>
            </a:r>
          </a:p>
        </p:txBody>
      </p:sp>
      <p:sp>
        <p:nvSpPr>
          <p:cNvPr id="170" name="Rounded Rectangle 169"/>
          <p:cNvSpPr/>
          <p:nvPr/>
        </p:nvSpPr>
        <p:spPr>
          <a:xfrm>
            <a:off x="822960" y="4617720"/>
            <a:ext cx="2286000" cy="731520"/>
          </a:xfrm>
          <a:prstGeom prst="roundRect">
            <a:avLst>
              <a:gd name="adj" fmla="val 6874"/>
            </a:avLst>
          </a:prstGeom>
          <a:solidFill>
            <a:srgbClr val="FFFFFF"/>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Linear projection</a:t>
            </a:r>
          </a:p>
          <a:p>
            <a:pPr algn="ctr"/>
            <a:r>
              <a:rPr sz="1800">
                <a:solidFill>
                  <a:srgbClr val="19324F"/>
                </a:solidFill>
                <a:latin typeface="Aptos"/>
              </a:rPr>
              <a:t>1,024 → 512</a:t>
            </a:r>
          </a:p>
        </p:txBody>
      </p:sp>
      <p:sp>
        <p:nvSpPr>
          <p:cNvPr id="171" name="Rounded Rectangle 170"/>
          <p:cNvSpPr/>
          <p:nvPr/>
        </p:nvSpPr>
        <p:spPr>
          <a:xfrm>
            <a:off x="822960" y="8183879"/>
            <a:ext cx="2286000" cy="786384"/>
          </a:xfrm>
          <a:prstGeom prst="roundRect">
            <a:avLst>
              <a:gd name="adj" fmla="val 11000"/>
            </a:avLst>
          </a:prstGeom>
          <a:solidFill>
            <a:srgbClr val="E9ECEF"/>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none" tIns="27432" bIns="27432">
            <a:noAutofit/>
          </a:bodyPr>
          <a:lstStyle/>
          <a:p>
            <a:pPr algn="ctr">
              <a:spcBef>
                <a:spcPts val="0"/>
              </a:spcBef>
              <a:spcAft>
                <a:spcPts val="0"/>
              </a:spcAft>
            </a:pPr>
            <a:r>
              <a:rPr sz="1500">
                <a:solidFill>
                  <a:srgbClr val="19324F"/>
                </a:solidFill>
                <a:latin typeface="Liberation Sans"/>
              </a:rPr>
              <a:t>Item Residual MLP</a:t>
            </a:r>
          </a:p>
          <a:p>
            <a:pPr algn="ctr">
              <a:spcBef>
                <a:spcPts val="0"/>
              </a:spcBef>
              <a:spcAft>
                <a:spcPts val="0"/>
              </a:spcAft>
            </a:pPr>
            <a:r>
              <a:rPr sz="1500">
                <a:solidFill>
                  <a:srgbClr val="19324F"/>
                </a:solidFill>
                <a:latin typeface="Liberation Sans"/>
              </a:rPr>
              <a:t>512 → 512 → 512</a:t>
            </a:r>
          </a:p>
          <a:p>
            <a:pPr algn="ctr">
              <a:spcBef>
                <a:spcPts val="0"/>
              </a:spcBef>
              <a:spcAft>
                <a:spcPts val="0"/>
              </a:spcAft>
            </a:pPr>
            <a:r>
              <a:rPr sz="1500">
                <a:solidFill>
                  <a:srgbClr val="19324F"/>
                </a:solidFill>
                <a:latin typeface="Liberation Sans"/>
              </a:rPr>
              <a:t>ReLU · no LayerNorm</a:t>
            </a:r>
          </a:p>
        </p:txBody>
      </p:sp>
      <p:cxnSp>
        <p:nvCxnSpPr>
          <p:cNvPr id="172" name="Connector 171"/>
          <p:cNvCxnSpPr/>
          <p:nvPr/>
        </p:nvCxnSpPr>
        <p:spPr>
          <a:xfrm>
            <a:off x="1965960" y="2743200"/>
            <a:ext cx="0" cy="548640"/>
          </a:xfrm>
          <a:prstGeom prst="line">
            <a:avLst/>
          </a:prstGeom>
          <a:ln w="15875">
            <a:solidFill>
              <a:srgbClr val="7F8995"/>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73" name="Connector 172"/>
          <p:cNvCxnSpPr/>
          <p:nvPr/>
        </p:nvCxnSpPr>
        <p:spPr>
          <a:xfrm>
            <a:off x="1965960" y="4023360"/>
            <a:ext cx="0" cy="594360"/>
          </a:xfrm>
          <a:prstGeom prst="line">
            <a:avLst/>
          </a:prstGeom>
          <a:ln w="15875">
            <a:solidFill>
              <a:srgbClr val="7F8995"/>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74" name="Baseline projection to MLP segment 1"/>
          <p:cNvCxnSpPr/>
          <p:nvPr/>
        </p:nvCxnSpPr>
        <p:spPr>
          <a:xfrm>
            <a:off x="1965960" y="5349240"/>
            <a:ext cx="0" cy="2834639"/>
          </a:xfrm>
          <a:prstGeom prst="line">
            <a:avLst/>
          </a:prstGeom>
          <a:ln w="22860">
            <a:solidFill>
              <a:srgbClr val="AAB1B9"/>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75" name="Baseline item output segment 1"/>
          <p:cNvCxnSpPr/>
          <p:nvPr/>
        </p:nvCxnSpPr>
        <p:spPr>
          <a:xfrm>
            <a:off x="1965960" y="8970264"/>
            <a:ext cx="0" cy="512064"/>
          </a:xfrm>
          <a:prstGeom prst="line">
            <a:avLst/>
          </a:prstGeom>
          <a:ln w="22860">
            <a:solidFill>
              <a:srgbClr val="AAB1B9"/>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76" name="Text component to concat segment 1"/>
          <p:cNvCxnSpPr/>
          <p:nvPr/>
        </p:nvCxnSpPr>
        <p:spPr>
          <a:xfrm>
            <a:off x="4978908" y="5349240"/>
            <a:ext cx="0" cy="1645920"/>
          </a:xfrm>
          <a:prstGeom prst="line">
            <a:avLst/>
          </a:prstGeom>
          <a:ln w="22860">
            <a:solidFill>
              <a:srgbClr val="2465C4"/>
            </a:solidFill>
          </a:ln>
        </p:spPr>
        <p:style>
          <a:lnRef idx="2">
            <a:schemeClr val="accent1"/>
          </a:lnRef>
          <a:fillRef idx="0">
            <a:schemeClr val="accent1"/>
          </a:fillRef>
          <a:effectRef idx="1">
            <a:schemeClr val="accent1"/>
          </a:effectRef>
          <a:fontRef idx="minor">
            <a:schemeClr val="tx1"/>
          </a:fontRef>
        </p:style>
      </p:cxnSp>
      <p:cxnSp>
        <p:nvCxnSpPr>
          <p:cNvPr id="177" name="Text component to concat segment 2"/>
          <p:cNvCxnSpPr/>
          <p:nvPr/>
        </p:nvCxnSpPr>
        <p:spPr>
          <a:xfrm>
            <a:off x="4978908" y="6995160"/>
            <a:ext cx="1005840" cy="0"/>
          </a:xfrm>
          <a:prstGeom prst="line">
            <a:avLst/>
          </a:prstGeom>
          <a:ln w="22860">
            <a:solidFill>
              <a:srgbClr val="2465C4"/>
            </a:solidFill>
          </a:ln>
        </p:spPr>
        <p:style>
          <a:lnRef idx="2">
            <a:schemeClr val="accent1"/>
          </a:lnRef>
          <a:fillRef idx="0">
            <a:schemeClr val="accent1"/>
          </a:fillRef>
          <a:effectRef idx="1">
            <a:schemeClr val="accent1"/>
          </a:effectRef>
          <a:fontRef idx="minor">
            <a:schemeClr val="tx1"/>
          </a:fontRef>
        </p:style>
      </p:cxnSp>
      <p:cxnSp>
        <p:nvCxnSpPr>
          <p:cNvPr id="178" name="Text component to concat segment 1"/>
          <p:cNvCxnSpPr/>
          <p:nvPr/>
        </p:nvCxnSpPr>
        <p:spPr>
          <a:xfrm>
            <a:off x="6944868" y="5349240"/>
            <a:ext cx="0" cy="1645920"/>
          </a:xfrm>
          <a:prstGeom prst="line">
            <a:avLst/>
          </a:prstGeom>
          <a:ln w="22860">
            <a:solidFill>
              <a:srgbClr val="2465C4"/>
            </a:solidFill>
          </a:ln>
        </p:spPr>
        <p:style>
          <a:lnRef idx="2">
            <a:schemeClr val="accent1"/>
          </a:lnRef>
          <a:fillRef idx="0">
            <a:schemeClr val="accent1"/>
          </a:fillRef>
          <a:effectRef idx="1">
            <a:schemeClr val="accent1"/>
          </a:effectRef>
          <a:fontRef idx="minor">
            <a:schemeClr val="tx1"/>
          </a:fontRef>
        </p:style>
      </p:cxnSp>
      <p:cxnSp>
        <p:nvCxnSpPr>
          <p:cNvPr id="179" name="Text component to concat segment 2"/>
          <p:cNvCxnSpPr/>
          <p:nvPr/>
        </p:nvCxnSpPr>
        <p:spPr>
          <a:xfrm flipH="1">
            <a:off x="5984748" y="6995160"/>
            <a:ext cx="960120" cy="0"/>
          </a:xfrm>
          <a:prstGeom prst="line">
            <a:avLst/>
          </a:prstGeom>
          <a:ln w="22860">
            <a:solidFill>
              <a:srgbClr val="2465C4"/>
            </a:solidFill>
          </a:ln>
        </p:spPr>
        <p:style>
          <a:lnRef idx="2">
            <a:schemeClr val="accent1"/>
          </a:lnRef>
          <a:fillRef idx="0">
            <a:schemeClr val="accent1"/>
          </a:fillRef>
          <a:effectRef idx="1">
            <a:schemeClr val="accent1"/>
          </a:effectRef>
          <a:fontRef idx="minor">
            <a:schemeClr val="tx1"/>
          </a:fontRef>
        </p:style>
      </p:cxnSp>
      <p:cxnSp>
        <p:nvCxnSpPr>
          <p:cNvPr id="180" name="Text concat input segment 1"/>
          <p:cNvCxnSpPr/>
          <p:nvPr/>
        </p:nvCxnSpPr>
        <p:spPr>
          <a:xfrm>
            <a:off x="5984748" y="6995160"/>
            <a:ext cx="0" cy="411480"/>
          </a:xfrm>
          <a:prstGeom prst="line">
            <a:avLst/>
          </a:prstGeom>
          <a:ln w="22860">
            <a:solidFill>
              <a:srgbClr val="2465C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81" name="Text concat to MLP segment 1"/>
          <p:cNvCxnSpPr/>
          <p:nvPr/>
        </p:nvCxnSpPr>
        <p:spPr>
          <a:xfrm>
            <a:off x="5984748" y="8028431"/>
            <a:ext cx="0" cy="155448"/>
          </a:xfrm>
          <a:prstGeom prst="line">
            <a:avLst/>
          </a:prstGeom>
          <a:ln w="22860">
            <a:solidFill>
              <a:srgbClr val="2465C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82" name="Text item output segment 1"/>
          <p:cNvCxnSpPr/>
          <p:nvPr/>
        </p:nvCxnSpPr>
        <p:spPr>
          <a:xfrm>
            <a:off x="5984748" y="8970264"/>
            <a:ext cx="0" cy="512064"/>
          </a:xfrm>
          <a:prstGeom prst="line">
            <a:avLst/>
          </a:prstGeom>
          <a:ln w="22860">
            <a:solidFill>
              <a:srgbClr val="2465C4"/>
            </a:solidFill>
            <a:tailEnd type="triangle" w="sm" len="sm"/>
          </a:ln>
        </p:spPr>
        <p:style>
          <a:lnRef idx="2">
            <a:schemeClr val="accent1"/>
          </a:lnRef>
          <a:fillRef idx="0">
            <a:schemeClr val="accent1"/>
          </a:fillRef>
          <a:effectRef idx="1">
            <a:schemeClr val="accent1"/>
          </a:effectRef>
          <a:fontRef idx="minor">
            <a:schemeClr val="tx1"/>
          </a:fontRef>
        </p:style>
      </p:cxnSp>
      <p:sp>
        <p:nvSpPr>
          <p:cNvPr id="183" name="Graph Title"/>
          <p:cNvSpPr/>
          <p:nvPr/>
        </p:nvSpPr>
        <p:spPr>
          <a:xfrm>
            <a:off x="8869680" y="2011680"/>
            <a:ext cx="2286000" cy="502920"/>
          </a:xfrm>
          <a:prstGeom prst="roundRect">
            <a:avLst>
              <a:gd name="adj" fmla="val 12000"/>
            </a:avLst>
          </a:prstGeom>
          <a:solidFill>
            <a:srgbClr val="FFFFFF"/>
          </a:solidFill>
          <a:ln w="15240">
            <a:solidFill>
              <a:srgbClr val="008B91"/>
            </a:solidFill>
          </a:ln>
        </p:spPr>
        <p:txBody>
          <a:bodyPr rtlCol="0" anchor="ctr"/>
          <a:lstStyle/>
          <a:p>
            <a:pPr algn="ctr"/>
          </a:p>
        </p:txBody>
      </p:sp>
      <p:sp>
        <p:nvSpPr>
          <p:cNvPr id="184" name="Graph Title text"/>
          <p:cNvSpPr txBox="1"/>
          <p:nvPr/>
        </p:nvSpPr>
        <p:spPr>
          <a:xfrm>
            <a:off x="8933688" y="2039112"/>
            <a:ext cx="2157984" cy="448056"/>
          </a:xfrm>
          <a:prstGeom prst="rect">
            <a:avLst/>
          </a:prstGeom>
          <a:noFill/>
        </p:spPr>
        <p:txBody>
          <a:bodyPr wrap="none" lIns="22860" rIns="22860" tIns="0" bIns="0" anchor="ctr">
            <a:noAutofit/>
          </a:bodyPr>
          <a:lstStyle/>
          <a:p>
            <a:pPr algn="ctr">
              <a:spcBef>
                <a:spcPts val="0"/>
              </a:spcBef>
              <a:spcAft>
                <a:spcPts val="0"/>
              </a:spcAft>
            </a:pPr>
            <a:r>
              <a:rPr sz="1800" b="0">
                <a:solidFill>
                  <a:srgbClr val="19324F"/>
                </a:solidFill>
                <a:latin typeface="Liberation Sans"/>
              </a:rPr>
              <a:t>Title</a:t>
            </a:r>
          </a:p>
        </p:txBody>
      </p:sp>
      <p:sp>
        <p:nvSpPr>
          <p:cNvPr id="185" name="Graph Title BGE"/>
          <p:cNvSpPr/>
          <p:nvPr/>
        </p:nvSpPr>
        <p:spPr>
          <a:xfrm>
            <a:off x="8869680" y="2724912"/>
            <a:ext cx="2286000" cy="585216"/>
          </a:xfrm>
          <a:prstGeom prst="roundRect">
            <a:avLst>
              <a:gd name="adj" fmla="val 12000"/>
            </a:avLst>
          </a:prstGeom>
          <a:solidFill>
            <a:srgbClr val="EFF3F7"/>
          </a:solidFill>
          <a:ln w="15240">
            <a:solidFill>
              <a:srgbClr val="008B91"/>
            </a:solidFill>
          </a:ln>
        </p:spPr>
        <p:txBody>
          <a:bodyPr rtlCol="0" anchor="ctr"/>
          <a:lstStyle/>
          <a:p>
            <a:pPr algn="ctr"/>
          </a:p>
        </p:txBody>
      </p:sp>
      <p:sp>
        <p:nvSpPr>
          <p:cNvPr id="186" name="Graph Title BGE text"/>
          <p:cNvSpPr txBox="1"/>
          <p:nvPr/>
        </p:nvSpPr>
        <p:spPr>
          <a:xfrm>
            <a:off x="8933688" y="2752344"/>
            <a:ext cx="2157984" cy="530352"/>
          </a:xfrm>
          <a:prstGeom prst="rect">
            <a:avLst/>
          </a:prstGeom>
          <a:noFill/>
        </p:spPr>
        <p:txBody>
          <a:bodyPr wrap="none" lIns="22860" rIns="22860" tIns="0" bIns="0" anchor="ctr">
            <a:noAutofit/>
          </a:bodyPr>
          <a:lstStyle/>
          <a:p>
            <a:pPr algn="ctr">
              <a:spcBef>
                <a:spcPts val="0"/>
              </a:spcBef>
              <a:spcAft>
                <a:spcPts val="400"/>
              </a:spcAft>
            </a:pPr>
            <a:r>
              <a:rPr sz="1800" b="0">
                <a:solidFill>
                  <a:srgbClr val="19324F"/>
                </a:solidFill>
                <a:latin typeface="Liberation Sans"/>
              </a:rPr>
              <a:t>BGE [frozen]</a:t>
            </a:r>
          </a:p>
          <a:p>
            <a:pPr algn="ctr">
              <a:spcBef>
                <a:spcPts val="0"/>
              </a:spcBef>
              <a:spcAft>
                <a:spcPts val="0"/>
              </a:spcAft>
            </a:pPr>
            <a:r>
              <a:rPr sz="1800" b="0">
                <a:solidFill>
                  <a:srgbClr val="19324F"/>
                </a:solidFill>
                <a:latin typeface="Liberation Sans"/>
              </a:rPr>
              <a:t>1,024</a:t>
            </a:r>
          </a:p>
        </p:txBody>
      </p:sp>
      <p:sp>
        <p:nvSpPr>
          <p:cNvPr id="187" name="Graph Title projection"/>
          <p:cNvSpPr/>
          <p:nvPr/>
        </p:nvSpPr>
        <p:spPr>
          <a:xfrm>
            <a:off x="8869680" y="3538728"/>
            <a:ext cx="2286000" cy="667512"/>
          </a:xfrm>
          <a:prstGeom prst="roundRect">
            <a:avLst>
              <a:gd name="adj" fmla="val 12000"/>
            </a:avLst>
          </a:prstGeom>
          <a:solidFill>
            <a:srgbClr val="FFFFFF"/>
          </a:solidFill>
          <a:ln w="15240">
            <a:solidFill>
              <a:srgbClr val="008B91"/>
            </a:solidFill>
          </a:ln>
        </p:spPr>
        <p:txBody>
          <a:bodyPr rtlCol="0" anchor="ctr"/>
          <a:lstStyle/>
          <a:p>
            <a:pPr algn="ctr"/>
          </a:p>
        </p:txBody>
      </p:sp>
      <p:sp>
        <p:nvSpPr>
          <p:cNvPr id="188" name="Graph Title projection text"/>
          <p:cNvSpPr txBox="1"/>
          <p:nvPr/>
        </p:nvSpPr>
        <p:spPr>
          <a:xfrm>
            <a:off x="8933688" y="3566160"/>
            <a:ext cx="2157984" cy="612647"/>
          </a:xfrm>
          <a:prstGeom prst="rect">
            <a:avLst/>
          </a:prstGeom>
          <a:noFill/>
        </p:spPr>
        <p:txBody>
          <a:bodyPr wrap="none" lIns="22860" rIns="22860" tIns="0" bIns="0" anchor="ctr">
            <a:noAutofit/>
          </a:bodyPr>
          <a:lstStyle/>
          <a:p>
            <a:pPr algn="ctr">
              <a:spcBef>
                <a:spcPts val="0"/>
              </a:spcBef>
              <a:spcAft>
                <a:spcPts val="400"/>
              </a:spcAft>
            </a:pPr>
            <a:r>
              <a:rPr sz="1800" b="0">
                <a:solidFill>
                  <a:srgbClr val="19324F"/>
                </a:solidFill>
                <a:latin typeface="Liberation Sans"/>
              </a:rPr>
              <a:t>Linear Projection</a:t>
            </a:r>
          </a:p>
          <a:p>
            <a:pPr algn="ctr">
              <a:spcBef>
                <a:spcPts val="0"/>
              </a:spcBef>
              <a:spcAft>
                <a:spcPts val="0"/>
              </a:spcAft>
            </a:pPr>
            <a:r>
              <a:rPr sz="1800" b="0">
                <a:solidFill>
                  <a:srgbClr val="19324F"/>
                </a:solidFill>
                <a:latin typeface="Liberation Sans"/>
              </a:rPr>
              <a:t>1,024 → 128</a:t>
            </a:r>
          </a:p>
        </p:txBody>
      </p:sp>
      <p:cxnSp>
        <p:nvCxnSpPr>
          <p:cNvPr id="189" name="Title to BGE segment 1"/>
          <p:cNvCxnSpPr/>
          <p:nvPr/>
        </p:nvCxnSpPr>
        <p:spPr>
          <a:xfrm>
            <a:off x="10012680" y="2514600"/>
            <a:ext cx="0" cy="210312"/>
          </a:xfrm>
          <a:prstGeom prst="line">
            <a:avLst/>
          </a:prstGeom>
          <a:ln w="22860">
            <a:solidFill>
              <a:srgbClr val="62768D"/>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90" name="Title to projection segment 1"/>
          <p:cNvCxnSpPr/>
          <p:nvPr/>
        </p:nvCxnSpPr>
        <p:spPr>
          <a:xfrm>
            <a:off x="10012680" y="3310128"/>
            <a:ext cx="0" cy="228600"/>
          </a:xfrm>
          <a:prstGeom prst="line">
            <a:avLst/>
          </a:prstGeom>
          <a:ln w="22860">
            <a:solidFill>
              <a:srgbClr val="008B91"/>
            </a:solidFill>
            <a:tailEnd type="triangle" w="sm" len="sm"/>
          </a:ln>
        </p:spPr>
        <p:style>
          <a:lnRef idx="2">
            <a:schemeClr val="accent1"/>
          </a:lnRef>
          <a:fillRef idx="0">
            <a:schemeClr val="accent1"/>
          </a:fillRef>
          <a:effectRef idx="1">
            <a:schemeClr val="accent1"/>
          </a:effectRef>
          <a:fontRef idx="minor">
            <a:schemeClr val="tx1"/>
          </a:fontRef>
        </p:style>
      </p:cxnSp>
      <p:sp>
        <p:nvSpPr>
          <p:cNvPr id="191" name="Graph Entities"/>
          <p:cNvSpPr/>
          <p:nvPr/>
        </p:nvSpPr>
        <p:spPr>
          <a:xfrm>
            <a:off x="11430000" y="2011680"/>
            <a:ext cx="2286000" cy="502920"/>
          </a:xfrm>
          <a:prstGeom prst="roundRect">
            <a:avLst>
              <a:gd name="adj" fmla="val 12000"/>
            </a:avLst>
          </a:prstGeom>
          <a:solidFill>
            <a:srgbClr val="FFFFFF"/>
          </a:solidFill>
          <a:ln w="15240">
            <a:solidFill>
              <a:srgbClr val="008B91"/>
            </a:solidFill>
          </a:ln>
        </p:spPr>
        <p:txBody>
          <a:bodyPr rtlCol="0" anchor="ctr"/>
          <a:lstStyle/>
          <a:p>
            <a:pPr algn="ctr"/>
          </a:p>
        </p:txBody>
      </p:sp>
      <p:sp>
        <p:nvSpPr>
          <p:cNvPr id="192" name="Graph Entities text"/>
          <p:cNvSpPr txBox="1"/>
          <p:nvPr/>
        </p:nvSpPr>
        <p:spPr>
          <a:xfrm>
            <a:off x="11494008" y="2039112"/>
            <a:ext cx="2157984" cy="448056"/>
          </a:xfrm>
          <a:prstGeom prst="rect">
            <a:avLst/>
          </a:prstGeom>
          <a:noFill/>
        </p:spPr>
        <p:txBody>
          <a:bodyPr wrap="none" lIns="22860" rIns="22860" tIns="0" bIns="0" anchor="ctr">
            <a:noAutofit/>
          </a:bodyPr>
          <a:lstStyle/>
          <a:p>
            <a:pPr algn="ctr">
              <a:spcBef>
                <a:spcPts val="0"/>
              </a:spcBef>
              <a:spcAft>
                <a:spcPts val="0"/>
              </a:spcAft>
            </a:pPr>
            <a:r>
              <a:rPr sz="1800" b="0">
                <a:solidFill>
                  <a:srgbClr val="19324F"/>
                </a:solidFill>
                <a:latin typeface="Liberation Sans"/>
              </a:rPr>
              <a:t>Entities</a:t>
            </a:r>
          </a:p>
        </p:txBody>
      </p:sp>
      <p:sp>
        <p:nvSpPr>
          <p:cNvPr id="193" name="Graph Entities BGE"/>
          <p:cNvSpPr/>
          <p:nvPr/>
        </p:nvSpPr>
        <p:spPr>
          <a:xfrm>
            <a:off x="11430000" y="2724912"/>
            <a:ext cx="2286000" cy="585216"/>
          </a:xfrm>
          <a:prstGeom prst="roundRect">
            <a:avLst>
              <a:gd name="adj" fmla="val 12000"/>
            </a:avLst>
          </a:prstGeom>
          <a:solidFill>
            <a:srgbClr val="EFF3F7"/>
          </a:solidFill>
          <a:ln w="15240">
            <a:solidFill>
              <a:srgbClr val="008B91"/>
            </a:solidFill>
          </a:ln>
        </p:spPr>
        <p:txBody>
          <a:bodyPr rtlCol="0" anchor="ctr"/>
          <a:lstStyle/>
          <a:p>
            <a:pPr algn="ctr"/>
          </a:p>
        </p:txBody>
      </p:sp>
      <p:sp>
        <p:nvSpPr>
          <p:cNvPr id="194" name="Graph Entities BGE text"/>
          <p:cNvSpPr txBox="1"/>
          <p:nvPr/>
        </p:nvSpPr>
        <p:spPr>
          <a:xfrm>
            <a:off x="11494008" y="2752344"/>
            <a:ext cx="2157984" cy="530352"/>
          </a:xfrm>
          <a:prstGeom prst="rect">
            <a:avLst/>
          </a:prstGeom>
          <a:noFill/>
        </p:spPr>
        <p:txBody>
          <a:bodyPr wrap="none" lIns="22860" rIns="22860" tIns="0" bIns="0" anchor="ctr">
            <a:noAutofit/>
          </a:bodyPr>
          <a:lstStyle/>
          <a:p>
            <a:pPr algn="ctr">
              <a:spcBef>
                <a:spcPts val="0"/>
              </a:spcBef>
              <a:spcAft>
                <a:spcPts val="400"/>
              </a:spcAft>
            </a:pPr>
            <a:r>
              <a:rPr sz="1800" b="0">
                <a:solidFill>
                  <a:srgbClr val="19324F"/>
                </a:solidFill>
                <a:latin typeface="Liberation Sans"/>
              </a:rPr>
              <a:t>BGE [frozen]</a:t>
            </a:r>
          </a:p>
          <a:p>
            <a:pPr algn="ctr">
              <a:spcBef>
                <a:spcPts val="0"/>
              </a:spcBef>
              <a:spcAft>
                <a:spcPts val="0"/>
              </a:spcAft>
            </a:pPr>
            <a:r>
              <a:rPr sz="1800" b="0">
                <a:solidFill>
                  <a:srgbClr val="19324F"/>
                </a:solidFill>
                <a:latin typeface="Liberation Sans"/>
              </a:rPr>
              <a:t>E × 1,024</a:t>
            </a:r>
          </a:p>
        </p:txBody>
      </p:sp>
      <p:sp>
        <p:nvSpPr>
          <p:cNvPr id="195" name="Graph Entities projection"/>
          <p:cNvSpPr/>
          <p:nvPr/>
        </p:nvSpPr>
        <p:spPr>
          <a:xfrm>
            <a:off x="11430000" y="3538728"/>
            <a:ext cx="2286000" cy="667512"/>
          </a:xfrm>
          <a:prstGeom prst="roundRect">
            <a:avLst>
              <a:gd name="adj" fmla="val 12000"/>
            </a:avLst>
          </a:prstGeom>
          <a:solidFill>
            <a:srgbClr val="FFFFFF"/>
          </a:solidFill>
          <a:ln w="15240">
            <a:solidFill>
              <a:srgbClr val="008B91"/>
            </a:solidFill>
          </a:ln>
        </p:spPr>
        <p:txBody>
          <a:bodyPr rtlCol="0" anchor="ctr"/>
          <a:lstStyle/>
          <a:p>
            <a:pPr algn="ctr"/>
          </a:p>
        </p:txBody>
      </p:sp>
      <p:sp>
        <p:nvSpPr>
          <p:cNvPr id="196" name="Graph Entities projection text"/>
          <p:cNvSpPr txBox="1"/>
          <p:nvPr/>
        </p:nvSpPr>
        <p:spPr>
          <a:xfrm>
            <a:off x="11494008" y="3566160"/>
            <a:ext cx="2157984" cy="612647"/>
          </a:xfrm>
          <a:prstGeom prst="rect">
            <a:avLst/>
          </a:prstGeom>
          <a:noFill/>
        </p:spPr>
        <p:txBody>
          <a:bodyPr wrap="none" lIns="22860" rIns="22860" tIns="0" bIns="0" anchor="ctr">
            <a:noAutofit/>
          </a:bodyPr>
          <a:lstStyle/>
          <a:p>
            <a:pPr algn="ctr">
              <a:spcBef>
                <a:spcPts val="0"/>
              </a:spcBef>
              <a:spcAft>
                <a:spcPts val="400"/>
              </a:spcAft>
            </a:pPr>
            <a:r>
              <a:rPr sz="1800" b="0">
                <a:solidFill>
                  <a:srgbClr val="19324F"/>
                </a:solidFill>
                <a:latin typeface="Liberation Sans"/>
              </a:rPr>
              <a:t>Linear Projection</a:t>
            </a:r>
          </a:p>
          <a:p>
            <a:pPr algn="ctr">
              <a:spcBef>
                <a:spcPts val="0"/>
              </a:spcBef>
              <a:spcAft>
                <a:spcPts val="0"/>
              </a:spcAft>
            </a:pPr>
            <a:r>
              <a:rPr sz="1800" b="0">
                <a:solidFill>
                  <a:srgbClr val="19324F"/>
                </a:solidFill>
                <a:latin typeface="Liberation Sans"/>
              </a:rPr>
              <a:t>1,024 → 128</a:t>
            </a:r>
          </a:p>
        </p:txBody>
      </p:sp>
      <p:cxnSp>
        <p:nvCxnSpPr>
          <p:cNvPr id="197" name="Entities to BGE segment 1"/>
          <p:cNvCxnSpPr/>
          <p:nvPr/>
        </p:nvCxnSpPr>
        <p:spPr>
          <a:xfrm>
            <a:off x="12573000" y="2514600"/>
            <a:ext cx="0" cy="210312"/>
          </a:xfrm>
          <a:prstGeom prst="line">
            <a:avLst/>
          </a:prstGeom>
          <a:ln w="22860">
            <a:solidFill>
              <a:srgbClr val="62768D"/>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98" name="Entities to projection segment 1"/>
          <p:cNvCxnSpPr/>
          <p:nvPr/>
        </p:nvCxnSpPr>
        <p:spPr>
          <a:xfrm>
            <a:off x="12573000" y="3310128"/>
            <a:ext cx="0" cy="228600"/>
          </a:xfrm>
          <a:prstGeom prst="line">
            <a:avLst/>
          </a:prstGeom>
          <a:ln w="22860">
            <a:solidFill>
              <a:srgbClr val="008B91"/>
            </a:solidFill>
            <a:tailEnd type="triangle" w="sm" len="sm"/>
          </a:ln>
        </p:spPr>
        <p:style>
          <a:lnRef idx="2">
            <a:schemeClr val="accent1"/>
          </a:lnRef>
          <a:fillRef idx="0">
            <a:schemeClr val="accent1"/>
          </a:fillRef>
          <a:effectRef idx="1">
            <a:schemeClr val="accent1"/>
          </a:effectRef>
          <a:fontRef idx="minor">
            <a:schemeClr val="tx1"/>
          </a:fontRef>
        </p:style>
      </p:cxnSp>
      <p:sp>
        <p:nvSpPr>
          <p:cNvPr id="199" name="Graph Actions"/>
          <p:cNvSpPr/>
          <p:nvPr/>
        </p:nvSpPr>
        <p:spPr>
          <a:xfrm>
            <a:off x="13990320" y="2011680"/>
            <a:ext cx="2286000" cy="502920"/>
          </a:xfrm>
          <a:prstGeom prst="roundRect">
            <a:avLst>
              <a:gd name="adj" fmla="val 12000"/>
            </a:avLst>
          </a:prstGeom>
          <a:solidFill>
            <a:srgbClr val="FFFFFF"/>
          </a:solidFill>
          <a:ln w="15240">
            <a:solidFill>
              <a:srgbClr val="008B91"/>
            </a:solidFill>
          </a:ln>
        </p:spPr>
        <p:txBody>
          <a:bodyPr rtlCol="0" anchor="ctr"/>
          <a:lstStyle/>
          <a:p>
            <a:pPr algn="ctr"/>
          </a:p>
        </p:txBody>
      </p:sp>
      <p:sp>
        <p:nvSpPr>
          <p:cNvPr id="200" name="Graph Actions text"/>
          <p:cNvSpPr txBox="1"/>
          <p:nvPr/>
        </p:nvSpPr>
        <p:spPr>
          <a:xfrm>
            <a:off x="14054328" y="2039112"/>
            <a:ext cx="2157984" cy="448056"/>
          </a:xfrm>
          <a:prstGeom prst="rect">
            <a:avLst/>
          </a:prstGeom>
          <a:noFill/>
        </p:spPr>
        <p:txBody>
          <a:bodyPr wrap="none" lIns="22860" rIns="22860" tIns="0" bIns="0" anchor="ctr">
            <a:noAutofit/>
          </a:bodyPr>
          <a:lstStyle/>
          <a:p>
            <a:pPr algn="ctr">
              <a:spcBef>
                <a:spcPts val="0"/>
              </a:spcBef>
              <a:spcAft>
                <a:spcPts val="0"/>
              </a:spcAft>
            </a:pPr>
            <a:r>
              <a:rPr sz="1800" b="0">
                <a:solidFill>
                  <a:srgbClr val="19324F"/>
                </a:solidFill>
                <a:latin typeface="Liberation Sans"/>
              </a:rPr>
              <a:t>Actions</a:t>
            </a:r>
          </a:p>
        </p:txBody>
      </p:sp>
      <p:sp>
        <p:nvSpPr>
          <p:cNvPr id="201" name="Graph Actions BGE"/>
          <p:cNvSpPr/>
          <p:nvPr/>
        </p:nvSpPr>
        <p:spPr>
          <a:xfrm>
            <a:off x="13990320" y="2724912"/>
            <a:ext cx="2286000" cy="585216"/>
          </a:xfrm>
          <a:prstGeom prst="roundRect">
            <a:avLst>
              <a:gd name="adj" fmla="val 12000"/>
            </a:avLst>
          </a:prstGeom>
          <a:solidFill>
            <a:srgbClr val="EFF3F7"/>
          </a:solidFill>
          <a:ln w="15240">
            <a:solidFill>
              <a:srgbClr val="008B91"/>
            </a:solidFill>
          </a:ln>
        </p:spPr>
        <p:txBody>
          <a:bodyPr rtlCol="0" anchor="ctr"/>
          <a:lstStyle/>
          <a:p>
            <a:pPr algn="ctr"/>
          </a:p>
        </p:txBody>
      </p:sp>
      <p:sp>
        <p:nvSpPr>
          <p:cNvPr id="202" name="Graph Actions BGE text"/>
          <p:cNvSpPr txBox="1"/>
          <p:nvPr/>
        </p:nvSpPr>
        <p:spPr>
          <a:xfrm>
            <a:off x="14054328" y="2752344"/>
            <a:ext cx="2157984" cy="530352"/>
          </a:xfrm>
          <a:prstGeom prst="rect">
            <a:avLst/>
          </a:prstGeom>
          <a:noFill/>
        </p:spPr>
        <p:txBody>
          <a:bodyPr wrap="none" lIns="22860" rIns="22860" tIns="0" bIns="0" anchor="ctr">
            <a:noAutofit/>
          </a:bodyPr>
          <a:lstStyle/>
          <a:p>
            <a:pPr algn="ctr">
              <a:spcBef>
                <a:spcPts val="0"/>
              </a:spcBef>
              <a:spcAft>
                <a:spcPts val="400"/>
              </a:spcAft>
            </a:pPr>
            <a:r>
              <a:rPr sz="1800" b="0">
                <a:solidFill>
                  <a:srgbClr val="19324F"/>
                </a:solidFill>
                <a:latin typeface="Liberation Sans"/>
              </a:rPr>
              <a:t>BGE [frozen]</a:t>
            </a:r>
          </a:p>
          <a:p>
            <a:pPr algn="ctr">
              <a:spcBef>
                <a:spcPts val="0"/>
              </a:spcBef>
              <a:spcAft>
                <a:spcPts val="0"/>
              </a:spcAft>
            </a:pPr>
            <a:r>
              <a:rPr sz="1800" b="0">
                <a:solidFill>
                  <a:srgbClr val="19324F"/>
                </a:solidFill>
                <a:latin typeface="Liberation Sans"/>
              </a:rPr>
              <a:t>A × 1,024</a:t>
            </a:r>
          </a:p>
        </p:txBody>
      </p:sp>
      <p:sp>
        <p:nvSpPr>
          <p:cNvPr id="203" name="Graph Actions projection"/>
          <p:cNvSpPr/>
          <p:nvPr/>
        </p:nvSpPr>
        <p:spPr>
          <a:xfrm>
            <a:off x="13990320" y="3538728"/>
            <a:ext cx="2286000" cy="667512"/>
          </a:xfrm>
          <a:prstGeom prst="roundRect">
            <a:avLst>
              <a:gd name="adj" fmla="val 12000"/>
            </a:avLst>
          </a:prstGeom>
          <a:solidFill>
            <a:srgbClr val="FFFFFF"/>
          </a:solidFill>
          <a:ln w="15240">
            <a:solidFill>
              <a:srgbClr val="008B91"/>
            </a:solidFill>
          </a:ln>
        </p:spPr>
        <p:txBody>
          <a:bodyPr rtlCol="0" anchor="ctr"/>
          <a:lstStyle/>
          <a:p>
            <a:pPr algn="ctr"/>
          </a:p>
        </p:txBody>
      </p:sp>
      <p:sp>
        <p:nvSpPr>
          <p:cNvPr id="204" name="Graph Actions projection text"/>
          <p:cNvSpPr txBox="1"/>
          <p:nvPr/>
        </p:nvSpPr>
        <p:spPr>
          <a:xfrm>
            <a:off x="14054328" y="3566160"/>
            <a:ext cx="2157984" cy="612647"/>
          </a:xfrm>
          <a:prstGeom prst="rect">
            <a:avLst/>
          </a:prstGeom>
          <a:noFill/>
        </p:spPr>
        <p:txBody>
          <a:bodyPr wrap="none" lIns="22860" rIns="22860" tIns="0" bIns="0" anchor="ctr">
            <a:noAutofit/>
          </a:bodyPr>
          <a:lstStyle/>
          <a:p>
            <a:pPr algn="ctr">
              <a:spcBef>
                <a:spcPts val="0"/>
              </a:spcBef>
              <a:spcAft>
                <a:spcPts val="400"/>
              </a:spcAft>
            </a:pPr>
            <a:r>
              <a:rPr sz="1800" b="0">
                <a:solidFill>
                  <a:srgbClr val="19324F"/>
                </a:solidFill>
                <a:latin typeface="Liberation Sans"/>
              </a:rPr>
              <a:t>Linear Projection</a:t>
            </a:r>
          </a:p>
          <a:p>
            <a:pPr algn="ctr">
              <a:spcBef>
                <a:spcPts val="0"/>
              </a:spcBef>
              <a:spcAft>
                <a:spcPts val="0"/>
              </a:spcAft>
            </a:pPr>
            <a:r>
              <a:rPr sz="1800" b="0">
                <a:solidFill>
                  <a:srgbClr val="19324F"/>
                </a:solidFill>
                <a:latin typeface="Liberation Sans"/>
              </a:rPr>
              <a:t>1,024 → 128</a:t>
            </a:r>
          </a:p>
        </p:txBody>
      </p:sp>
      <p:cxnSp>
        <p:nvCxnSpPr>
          <p:cNvPr id="205" name="Actions to BGE segment 1"/>
          <p:cNvCxnSpPr/>
          <p:nvPr/>
        </p:nvCxnSpPr>
        <p:spPr>
          <a:xfrm>
            <a:off x="15133320" y="2514600"/>
            <a:ext cx="0" cy="210312"/>
          </a:xfrm>
          <a:prstGeom prst="line">
            <a:avLst/>
          </a:prstGeom>
          <a:ln w="22860">
            <a:solidFill>
              <a:srgbClr val="62768D"/>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06" name="Actions to projection segment 1"/>
          <p:cNvCxnSpPr/>
          <p:nvPr/>
        </p:nvCxnSpPr>
        <p:spPr>
          <a:xfrm>
            <a:off x="15133320" y="3310128"/>
            <a:ext cx="0" cy="228600"/>
          </a:xfrm>
          <a:prstGeom prst="line">
            <a:avLst/>
          </a:prstGeom>
          <a:ln w="22860">
            <a:solidFill>
              <a:srgbClr val="008B91"/>
            </a:solidFill>
            <a:tailEnd type="triangle" w="sm" len="sm"/>
          </a:ln>
        </p:spPr>
        <p:style>
          <a:lnRef idx="2">
            <a:schemeClr val="accent1"/>
          </a:lnRef>
          <a:fillRef idx="0">
            <a:schemeClr val="accent1"/>
          </a:fillRef>
          <a:effectRef idx="1">
            <a:schemeClr val="accent1"/>
          </a:effectRef>
          <a:fontRef idx="minor">
            <a:schemeClr val="tx1"/>
          </a:fontRef>
        </p:style>
      </p:cxnSp>
      <p:sp>
        <p:nvSpPr>
          <p:cNvPr id="207" name="Graph Context"/>
          <p:cNvSpPr/>
          <p:nvPr/>
        </p:nvSpPr>
        <p:spPr>
          <a:xfrm>
            <a:off x="16550640" y="2011680"/>
            <a:ext cx="2286000" cy="502920"/>
          </a:xfrm>
          <a:prstGeom prst="roundRect">
            <a:avLst>
              <a:gd name="adj" fmla="val 12000"/>
            </a:avLst>
          </a:prstGeom>
          <a:solidFill>
            <a:srgbClr val="FFFFFF"/>
          </a:solidFill>
          <a:ln w="15240">
            <a:solidFill>
              <a:srgbClr val="008B91"/>
            </a:solidFill>
          </a:ln>
        </p:spPr>
        <p:txBody>
          <a:bodyPr rtlCol="0" anchor="ctr"/>
          <a:lstStyle/>
          <a:p>
            <a:pPr algn="ctr"/>
          </a:p>
        </p:txBody>
      </p:sp>
      <p:sp>
        <p:nvSpPr>
          <p:cNvPr id="208" name="Graph Context text"/>
          <p:cNvSpPr txBox="1"/>
          <p:nvPr/>
        </p:nvSpPr>
        <p:spPr>
          <a:xfrm>
            <a:off x="16614648" y="2039112"/>
            <a:ext cx="2157984" cy="448056"/>
          </a:xfrm>
          <a:prstGeom prst="rect">
            <a:avLst/>
          </a:prstGeom>
          <a:noFill/>
        </p:spPr>
        <p:txBody>
          <a:bodyPr wrap="none" lIns="22860" rIns="22860" tIns="0" bIns="0" anchor="ctr">
            <a:noAutofit/>
          </a:bodyPr>
          <a:lstStyle/>
          <a:p>
            <a:pPr algn="ctr">
              <a:spcBef>
                <a:spcPts val="0"/>
              </a:spcBef>
              <a:spcAft>
                <a:spcPts val="0"/>
              </a:spcAft>
            </a:pPr>
            <a:r>
              <a:rPr sz="1800" b="0">
                <a:solidFill>
                  <a:srgbClr val="19324F"/>
                </a:solidFill>
                <a:latin typeface="Liberation Sans"/>
              </a:rPr>
              <a:t>Context</a:t>
            </a:r>
          </a:p>
        </p:txBody>
      </p:sp>
      <p:sp>
        <p:nvSpPr>
          <p:cNvPr id="209" name="Graph Context BGE"/>
          <p:cNvSpPr/>
          <p:nvPr/>
        </p:nvSpPr>
        <p:spPr>
          <a:xfrm>
            <a:off x="16550640" y="2724912"/>
            <a:ext cx="2286000" cy="585216"/>
          </a:xfrm>
          <a:prstGeom prst="roundRect">
            <a:avLst>
              <a:gd name="adj" fmla="val 12000"/>
            </a:avLst>
          </a:prstGeom>
          <a:solidFill>
            <a:srgbClr val="EFF3F7"/>
          </a:solidFill>
          <a:ln w="15240">
            <a:solidFill>
              <a:srgbClr val="008B91"/>
            </a:solidFill>
          </a:ln>
        </p:spPr>
        <p:txBody>
          <a:bodyPr rtlCol="0" anchor="ctr"/>
          <a:lstStyle/>
          <a:p>
            <a:pPr algn="ctr"/>
          </a:p>
        </p:txBody>
      </p:sp>
      <p:sp>
        <p:nvSpPr>
          <p:cNvPr id="210" name="Graph Context BGE text"/>
          <p:cNvSpPr txBox="1"/>
          <p:nvPr/>
        </p:nvSpPr>
        <p:spPr>
          <a:xfrm>
            <a:off x="16614648" y="2752344"/>
            <a:ext cx="2157984" cy="530352"/>
          </a:xfrm>
          <a:prstGeom prst="rect">
            <a:avLst/>
          </a:prstGeom>
          <a:noFill/>
        </p:spPr>
        <p:txBody>
          <a:bodyPr wrap="none" lIns="22860" rIns="22860" tIns="0" bIns="0" anchor="ctr">
            <a:noAutofit/>
          </a:bodyPr>
          <a:lstStyle/>
          <a:p>
            <a:pPr algn="ctr">
              <a:spcBef>
                <a:spcPts val="0"/>
              </a:spcBef>
              <a:spcAft>
                <a:spcPts val="400"/>
              </a:spcAft>
            </a:pPr>
            <a:r>
              <a:rPr sz="1800" b="0">
                <a:solidFill>
                  <a:srgbClr val="19324F"/>
                </a:solidFill>
                <a:latin typeface="Liberation Sans"/>
              </a:rPr>
              <a:t>BGE [frozen]</a:t>
            </a:r>
          </a:p>
          <a:p>
            <a:pPr algn="ctr">
              <a:spcBef>
                <a:spcPts val="0"/>
              </a:spcBef>
              <a:spcAft>
                <a:spcPts val="0"/>
              </a:spcAft>
            </a:pPr>
            <a:r>
              <a:rPr sz="1800" b="0">
                <a:solidFill>
                  <a:srgbClr val="19324F"/>
                </a:solidFill>
                <a:latin typeface="Liberation Sans"/>
              </a:rPr>
              <a:t>1,024</a:t>
            </a:r>
          </a:p>
        </p:txBody>
      </p:sp>
      <p:sp>
        <p:nvSpPr>
          <p:cNvPr id="211" name="Graph Context projection"/>
          <p:cNvSpPr/>
          <p:nvPr/>
        </p:nvSpPr>
        <p:spPr>
          <a:xfrm>
            <a:off x="16550640" y="3538728"/>
            <a:ext cx="2286000" cy="667512"/>
          </a:xfrm>
          <a:prstGeom prst="roundRect">
            <a:avLst>
              <a:gd name="adj" fmla="val 12000"/>
            </a:avLst>
          </a:prstGeom>
          <a:solidFill>
            <a:srgbClr val="FFFFFF"/>
          </a:solidFill>
          <a:ln w="15240">
            <a:solidFill>
              <a:srgbClr val="008B91"/>
            </a:solidFill>
          </a:ln>
        </p:spPr>
        <p:txBody>
          <a:bodyPr rtlCol="0" anchor="ctr"/>
          <a:lstStyle/>
          <a:p>
            <a:pPr algn="ctr"/>
          </a:p>
        </p:txBody>
      </p:sp>
      <p:sp>
        <p:nvSpPr>
          <p:cNvPr id="212" name="Graph Context projection text"/>
          <p:cNvSpPr txBox="1"/>
          <p:nvPr/>
        </p:nvSpPr>
        <p:spPr>
          <a:xfrm>
            <a:off x="16614648" y="3566160"/>
            <a:ext cx="2157984" cy="612647"/>
          </a:xfrm>
          <a:prstGeom prst="rect">
            <a:avLst/>
          </a:prstGeom>
          <a:noFill/>
        </p:spPr>
        <p:txBody>
          <a:bodyPr wrap="none" lIns="22860" rIns="22860" tIns="0" bIns="0" anchor="ctr">
            <a:noAutofit/>
          </a:bodyPr>
          <a:lstStyle/>
          <a:p>
            <a:pPr algn="ctr">
              <a:spcBef>
                <a:spcPts val="0"/>
              </a:spcBef>
              <a:spcAft>
                <a:spcPts val="400"/>
              </a:spcAft>
            </a:pPr>
            <a:r>
              <a:rPr sz="1800" b="0">
                <a:solidFill>
                  <a:srgbClr val="19324F"/>
                </a:solidFill>
                <a:latin typeface="Liberation Sans"/>
              </a:rPr>
              <a:t>Linear Projection</a:t>
            </a:r>
          </a:p>
          <a:p>
            <a:pPr algn="ctr">
              <a:spcBef>
                <a:spcPts val="0"/>
              </a:spcBef>
              <a:spcAft>
                <a:spcPts val="0"/>
              </a:spcAft>
            </a:pPr>
            <a:r>
              <a:rPr sz="1800" b="0">
                <a:solidFill>
                  <a:srgbClr val="19324F"/>
                </a:solidFill>
                <a:latin typeface="Liberation Sans"/>
              </a:rPr>
              <a:t>1,024 → 128</a:t>
            </a:r>
          </a:p>
        </p:txBody>
      </p:sp>
      <p:cxnSp>
        <p:nvCxnSpPr>
          <p:cNvPr id="213" name="Context to BGE segment 1"/>
          <p:cNvCxnSpPr/>
          <p:nvPr/>
        </p:nvCxnSpPr>
        <p:spPr>
          <a:xfrm>
            <a:off x="17693640" y="2514600"/>
            <a:ext cx="0" cy="210312"/>
          </a:xfrm>
          <a:prstGeom prst="line">
            <a:avLst/>
          </a:prstGeom>
          <a:ln w="22860">
            <a:solidFill>
              <a:srgbClr val="62768D"/>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14" name="Context to projection segment 1"/>
          <p:cNvCxnSpPr/>
          <p:nvPr/>
        </p:nvCxnSpPr>
        <p:spPr>
          <a:xfrm>
            <a:off x="17693640" y="3310128"/>
            <a:ext cx="0" cy="228600"/>
          </a:xfrm>
          <a:prstGeom prst="line">
            <a:avLst/>
          </a:prstGeom>
          <a:ln w="22860">
            <a:solidFill>
              <a:srgbClr val="008B91"/>
            </a:solidFill>
            <a:tailEnd type="triangle" w="sm" len="sm"/>
          </a:ln>
        </p:spPr>
        <p:style>
          <a:lnRef idx="2">
            <a:schemeClr val="accent1"/>
          </a:lnRef>
          <a:fillRef idx="0">
            <a:schemeClr val="accent1"/>
          </a:fillRef>
          <a:effectRef idx="1">
            <a:schemeClr val="accent1"/>
          </a:effectRef>
          <a:fontRef idx="minor">
            <a:schemeClr val="tx1"/>
          </a:fontRef>
        </p:style>
      </p:cxnSp>
      <p:sp>
        <p:nvSpPr>
          <p:cNvPr id="215" name="Graph Action role fusion"/>
          <p:cNvSpPr/>
          <p:nvPr/>
        </p:nvSpPr>
        <p:spPr>
          <a:xfrm>
            <a:off x="11430000" y="4535424"/>
            <a:ext cx="4846320" cy="1051560"/>
          </a:xfrm>
          <a:prstGeom prst="roundRect">
            <a:avLst>
              <a:gd name="adj" fmla="val 12000"/>
            </a:avLst>
          </a:prstGeom>
          <a:solidFill>
            <a:srgbClr val="FFFFFF"/>
          </a:solidFill>
          <a:ln w="15240">
            <a:solidFill>
              <a:srgbClr val="008B91"/>
            </a:solidFill>
          </a:ln>
        </p:spPr>
        <p:txBody>
          <a:bodyPr rtlCol="0" anchor="ctr"/>
          <a:lstStyle/>
          <a:p>
            <a:pPr algn="ctr"/>
          </a:p>
        </p:txBody>
      </p:sp>
      <p:sp>
        <p:nvSpPr>
          <p:cNvPr id="216" name="Graph Action role fusion text"/>
          <p:cNvSpPr txBox="1"/>
          <p:nvPr/>
        </p:nvSpPr>
        <p:spPr>
          <a:xfrm>
            <a:off x="11503152" y="4590288"/>
            <a:ext cx="4700016" cy="941832"/>
          </a:xfrm>
          <a:prstGeom prst="rect">
            <a:avLst/>
          </a:prstGeom>
          <a:noFill/>
        </p:spPr>
        <p:txBody>
          <a:bodyPr wrap="none" lIns="22860" rIns="22860" tIns="0" bIns="0" anchor="ctr">
            <a:noAutofit/>
          </a:bodyPr>
          <a:lstStyle/>
          <a:p>
            <a:pPr algn="ctr">
              <a:spcBef>
                <a:spcPts val="0"/>
              </a:spcBef>
              <a:spcAft>
                <a:spcPts val="400"/>
              </a:spcAft>
            </a:pPr>
            <a:r>
              <a:rPr sz="1800" b="0">
                <a:solidFill>
                  <a:srgbClr val="19324F"/>
                </a:solidFill>
                <a:latin typeface="Liberation Sans"/>
              </a:rPr>
              <a:t>Entity → Action role fusion</a:t>
            </a:r>
          </a:p>
          <a:p>
            <a:pPr algn="ctr">
              <a:spcBef>
                <a:spcPts val="0"/>
              </a:spcBef>
              <a:spcAft>
                <a:spcPts val="400"/>
              </a:spcAft>
            </a:pPr>
            <a:r>
              <a:rPr sz="1500" b="0">
                <a:solidFill>
                  <a:srgbClr val="62768D"/>
                </a:solidFill>
                <a:latin typeface="Liberation Sans"/>
              </a:rPr>
              <a:t>actor · target · tool · location</a:t>
            </a:r>
          </a:p>
          <a:p>
            <a:pPr algn="ctr">
              <a:spcBef>
                <a:spcPts val="0"/>
              </a:spcBef>
              <a:spcAft>
                <a:spcPts val="0"/>
              </a:spcAft>
            </a:pPr>
            <a:r>
              <a:rPr sz="1500" b="0">
                <a:solidFill>
                  <a:srgbClr val="62768D"/>
                </a:solidFill>
                <a:latin typeface="Liberation Sans"/>
              </a:rPr>
              <a:t>640 → 128</a:t>
            </a:r>
          </a:p>
        </p:txBody>
      </p:sp>
      <p:cxnSp>
        <p:nvCxnSpPr>
          <p:cNvPr id="217" name="Entity projection to role fusion segment 1"/>
          <p:cNvCxnSpPr/>
          <p:nvPr/>
        </p:nvCxnSpPr>
        <p:spPr>
          <a:xfrm>
            <a:off x="12573000" y="4206240"/>
            <a:ext cx="0" cy="329184"/>
          </a:xfrm>
          <a:prstGeom prst="line">
            <a:avLst/>
          </a:prstGeom>
          <a:ln w="22860">
            <a:solidFill>
              <a:srgbClr val="008B9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18" name="Action projection to role fusion segment 1"/>
          <p:cNvCxnSpPr/>
          <p:nvPr/>
        </p:nvCxnSpPr>
        <p:spPr>
          <a:xfrm>
            <a:off x="15133320" y="4206240"/>
            <a:ext cx="0" cy="329184"/>
          </a:xfrm>
          <a:prstGeom prst="line">
            <a:avLst/>
          </a:prstGeom>
          <a:ln w="22860">
            <a:solidFill>
              <a:srgbClr val="008B9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19" name="Entity projection to mean segment 1"/>
          <p:cNvCxnSpPr/>
          <p:nvPr/>
        </p:nvCxnSpPr>
        <p:spPr>
          <a:xfrm flipH="1">
            <a:off x="11228832" y="4370832"/>
            <a:ext cx="1344168" cy="0"/>
          </a:xfrm>
          <a:prstGeom prst="line">
            <a:avLst/>
          </a:prstGeom>
          <a:ln w="22860">
            <a:solidFill>
              <a:srgbClr val="008B91"/>
            </a:solidFill>
          </a:ln>
        </p:spPr>
        <p:style>
          <a:lnRef idx="2">
            <a:schemeClr val="accent1"/>
          </a:lnRef>
          <a:fillRef idx="0">
            <a:schemeClr val="accent1"/>
          </a:fillRef>
          <a:effectRef idx="1">
            <a:schemeClr val="accent1"/>
          </a:effectRef>
          <a:fontRef idx="minor">
            <a:schemeClr val="tx1"/>
          </a:fontRef>
        </p:style>
      </p:cxnSp>
      <p:cxnSp>
        <p:nvCxnSpPr>
          <p:cNvPr id="220" name="Entity projection to mean segment 2"/>
          <p:cNvCxnSpPr/>
          <p:nvPr/>
        </p:nvCxnSpPr>
        <p:spPr>
          <a:xfrm>
            <a:off x="11228832" y="4370832"/>
            <a:ext cx="0" cy="1659636"/>
          </a:xfrm>
          <a:prstGeom prst="line">
            <a:avLst/>
          </a:prstGeom>
          <a:ln w="22860">
            <a:solidFill>
              <a:srgbClr val="008B91"/>
            </a:solidFill>
          </a:ln>
        </p:spPr>
        <p:style>
          <a:lnRef idx="2">
            <a:schemeClr val="accent1"/>
          </a:lnRef>
          <a:fillRef idx="0">
            <a:schemeClr val="accent1"/>
          </a:fillRef>
          <a:effectRef idx="1">
            <a:schemeClr val="accent1"/>
          </a:effectRef>
          <a:fontRef idx="minor">
            <a:schemeClr val="tx1"/>
          </a:fontRef>
        </p:style>
      </p:cxnSp>
      <p:cxnSp>
        <p:nvCxnSpPr>
          <p:cNvPr id="221" name="Entity projection to mean segment 3"/>
          <p:cNvCxnSpPr/>
          <p:nvPr/>
        </p:nvCxnSpPr>
        <p:spPr>
          <a:xfrm>
            <a:off x="11228832" y="6030468"/>
            <a:ext cx="201168" cy="0"/>
          </a:xfrm>
          <a:prstGeom prst="line">
            <a:avLst/>
          </a:prstGeom>
          <a:ln w="22860">
            <a:solidFill>
              <a:srgbClr val="008B91"/>
            </a:solidFill>
            <a:tailEnd type="triangle" w="sm" len="sm"/>
          </a:ln>
        </p:spPr>
        <p:style>
          <a:lnRef idx="2">
            <a:schemeClr val="accent1"/>
          </a:lnRef>
          <a:fillRef idx="0">
            <a:schemeClr val="accent1"/>
          </a:fillRef>
          <a:effectRef idx="1">
            <a:schemeClr val="accent1"/>
          </a:effectRef>
          <a:fontRef idx="minor">
            <a:schemeClr val="tx1"/>
          </a:fontRef>
        </p:style>
      </p:cxnSp>
      <p:sp>
        <p:nvSpPr>
          <p:cNvPr id="222" name="Entity forward fork"/>
          <p:cNvSpPr/>
          <p:nvPr/>
        </p:nvSpPr>
        <p:spPr>
          <a:xfrm>
            <a:off x="12540996" y="4338828"/>
            <a:ext cx="64008" cy="64008"/>
          </a:xfrm>
          <a:prstGeom prst="ellipse">
            <a:avLst/>
          </a:prstGeom>
          <a:solidFill>
            <a:srgbClr val="008B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Graph Entity mean"/>
          <p:cNvSpPr/>
          <p:nvPr/>
        </p:nvSpPr>
        <p:spPr>
          <a:xfrm>
            <a:off x="11430000" y="5779008"/>
            <a:ext cx="2286000" cy="502920"/>
          </a:xfrm>
          <a:prstGeom prst="roundRect">
            <a:avLst>
              <a:gd name="adj" fmla="val 12000"/>
            </a:avLst>
          </a:prstGeom>
          <a:solidFill>
            <a:srgbClr val="FFFFFF"/>
          </a:solidFill>
          <a:ln w="15240">
            <a:solidFill>
              <a:srgbClr val="008B91"/>
            </a:solidFill>
          </a:ln>
        </p:spPr>
        <p:txBody>
          <a:bodyPr rtlCol="0" anchor="ctr"/>
          <a:lstStyle/>
          <a:p>
            <a:pPr algn="ctr"/>
          </a:p>
        </p:txBody>
      </p:sp>
      <p:sp>
        <p:nvSpPr>
          <p:cNvPr id="224" name="Graph Entity mean text"/>
          <p:cNvSpPr txBox="1"/>
          <p:nvPr/>
        </p:nvSpPr>
        <p:spPr>
          <a:xfrm>
            <a:off x="11494008" y="5806440"/>
            <a:ext cx="2157984" cy="448056"/>
          </a:xfrm>
          <a:prstGeom prst="rect">
            <a:avLst/>
          </a:prstGeom>
          <a:noFill/>
        </p:spPr>
        <p:txBody>
          <a:bodyPr wrap="none" lIns="22860" rIns="22860" tIns="0" bIns="0" anchor="ctr">
            <a:noAutofit/>
          </a:bodyPr>
          <a:lstStyle/>
          <a:p>
            <a:pPr algn="ctr">
              <a:spcBef>
                <a:spcPts val="0"/>
              </a:spcBef>
              <a:spcAft>
                <a:spcPts val="0"/>
              </a:spcAft>
            </a:pPr>
            <a:r>
              <a:rPr sz="1600" b="0">
                <a:solidFill>
                  <a:srgbClr val="19324F"/>
                </a:solidFill>
                <a:latin typeface="Liberation Sans"/>
              </a:rPr>
              <a:t>Entity mean: 128</a:t>
            </a:r>
          </a:p>
        </p:txBody>
      </p:sp>
      <p:sp>
        <p:nvSpPr>
          <p:cNvPr id="225" name="Graph Action mean"/>
          <p:cNvSpPr/>
          <p:nvPr/>
        </p:nvSpPr>
        <p:spPr>
          <a:xfrm>
            <a:off x="13990320" y="5779008"/>
            <a:ext cx="2286000" cy="502920"/>
          </a:xfrm>
          <a:prstGeom prst="roundRect">
            <a:avLst>
              <a:gd name="adj" fmla="val 12000"/>
            </a:avLst>
          </a:prstGeom>
          <a:solidFill>
            <a:srgbClr val="FFFFFF"/>
          </a:solidFill>
          <a:ln w="15240">
            <a:solidFill>
              <a:srgbClr val="008B91"/>
            </a:solidFill>
          </a:ln>
        </p:spPr>
        <p:txBody>
          <a:bodyPr rtlCol="0" anchor="ctr"/>
          <a:lstStyle/>
          <a:p>
            <a:pPr algn="ctr"/>
          </a:p>
        </p:txBody>
      </p:sp>
      <p:sp>
        <p:nvSpPr>
          <p:cNvPr id="226" name="Graph Action mean text"/>
          <p:cNvSpPr txBox="1"/>
          <p:nvPr/>
        </p:nvSpPr>
        <p:spPr>
          <a:xfrm>
            <a:off x="14054328" y="5806440"/>
            <a:ext cx="2157984" cy="448056"/>
          </a:xfrm>
          <a:prstGeom prst="rect">
            <a:avLst/>
          </a:prstGeom>
          <a:noFill/>
        </p:spPr>
        <p:txBody>
          <a:bodyPr wrap="none" lIns="22860" rIns="22860" tIns="0" bIns="0" anchor="ctr">
            <a:noAutofit/>
          </a:bodyPr>
          <a:lstStyle/>
          <a:p>
            <a:pPr algn="ctr">
              <a:spcBef>
                <a:spcPts val="0"/>
              </a:spcBef>
              <a:spcAft>
                <a:spcPts val="0"/>
              </a:spcAft>
            </a:pPr>
            <a:r>
              <a:rPr sz="1600" b="0">
                <a:solidFill>
                  <a:srgbClr val="19324F"/>
                </a:solidFill>
                <a:latin typeface="Liberation Sans"/>
              </a:rPr>
              <a:t>Action mean: 128</a:t>
            </a:r>
          </a:p>
        </p:txBody>
      </p:sp>
      <p:cxnSp>
        <p:nvCxnSpPr>
          <p:cNvPr id="227" name="Enriched Actions to mean segment 1"/>
          <p:cNvCxnSpPr/>
          <p:nvPr/>
        </p:nvCxnSpPr>
        <p:spPr>
          <a:xfrm>
            <a:off x="15133320" y="5586984"/>
            <a:ext cx="0" cy="192024"/>
          </a:xfrm>
          <a:prstGeom prst="line">
            <a:avLst/>
          </a:prstGeom>
          <a:ln w="22860">
            <a:solidFill>
              <a:srgbClr val="008B91"/>
            </a:solidFill>
            <a:tailEnd type="triangle" w="sm" len="sm"/>
          </a:ln>
        </p:spPr>
        <p:style>
          <a:lnRef idx="2">
            <a:schemeClr val="accent1"/>
          </a:lnRef>
          <a:fillRef idx="0">
            <a:schemeClr val="accent1"/>
          </a:fillRef>
          <a:effectRef idx="1">
            <a:schemeClr val="accent1"/>
          </a:effectRef>
          <a:fontRef idx="minor">
            <a:schemeClr val="tx1"/>
          </a:fontRef>
        </p:style>
      </p:cxnSp>
      <p:sp>
        <p:nvSpPr>
          <p:cNvPr id="228" name="Graph Scene concat"/>
          <p:cNvSpPr/>
          <p:nvPr/>
        </p:nvSpPr>
        <p:spPr>
          <a:xfrm>
            <a:off x="8869680" y="6583680"/>
            <a:ext cx="9966960" cy="603504"/>
          </a:xfrm>
          <a:prstGeom prst="roundRect">
            <a:avLst>
              <a:gd name="adj" fmla="val 12000"/>
            </a:avLst>
          </a:prstGeom>
          <a:solidFill>
            <a:srgbClr val="FFFFFF"/>
          </a:solidFill>
          <a:ln w="15240">
            <a:solidFill>
              <a:srgbClr val="008B91"/>
            </a:solidFill>
          </a:ln>
        </p:spPr>
        <p:txBody>
          <a:bodyPr rtlCol="0" anchor="ctr"/>
          <a:lstStyle/>
          <a:p>
            <a:pPr algn="ctr"/>
          </a:p>
        </p:txBody>
      </p:sp>
      <p:sp>
        <p:nvSpPr>
          <p:cNvPr id="229" name="Graph Scene concat text"/>
          <p:cNvSpPr txBox="1"/>
          <p:nvPr/>
        </p:nvSpPr>
        <p:spPr>
          <a:xfrm>
            <a:off x="8933688" y="6611112"/>
            <a:ext cx="9838944" cy="548640"/>
          </a:xfrm>
          <a:prstGeom prst="rect">
            <a:avLst/>
          </a:prstGeom>
          <a:noFill/>
        </p:spPr>
        <p:txBody>
          <a:bodyPr wrap="none" lIns="22860" rIns="22860" tIns="0" bIns="0" anchor="ctr">
            <a:noAutofit/>
          </a:bodyPr>
          <a:lstStyle/>
          <a:p>
            <a:pPr algn="ctr">
              <a:spcBef>
                <a:spcPts val="0"/>
              </a:spcBef>
              <a:spcAft>
                <a:spcPts val="0"/>
              </a:spcAft>
            </a:pPr>
            <a:r>
              <a:rPr sz="1800" b="0">
                <a:solidFill>
                  <a:srgbClr val="19324F"/>
                </a:solidFill>
                <a:latin typeface="Liberation Sans"/>
              </a:rPr>
              <a:t>Scene concat: [Title; Entity mean; Action mean; Context] = 512</a:t>
            </a:r>
          </a:p>
        </p:txBody>
      </p:sp>
      <p:cxnSp>
        <p:nvCxnSpPr>
          <p:cNvPr id="230" name="Title to Scene concat segment 1"/>
          <p:cNvCxnSpPr/>
          <p:nvPr/>
        </p:nvCxnSpPr>
        <p:spPr>
          <a:xfrm>
            <a:off x="10012680" y="4206240"/>
            <a:ext cx="0" cy="2377440"/>
          </a:xfrm>
          <a:prstGeom prst="line">
            <a:avLst/>
          </a:prstGeom>
          <a:ln w="22860">
            <a:solidFill>
              <a:srgbClr val="008B9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1" name="Entities to Scene concat segment 1"/>
          <p:cNvCxnSpPr/>
          <p:nvPr/>
        </p:nvCxnSpPr>
        <p:spPr>
          <a:xfrm>
            <a:off x="12573000" y="6281928"/>
            <a:ext cx="0" cy="301752"/>
          </a:xfrm>
          <a:prstGeom prst="line">
            <a:avLst/>
          </a:prstGeom>
          <a:ln w="22860">
            <a:solidFill>
              <a:srgbClr val="008B9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2" name="Actions to Scene concat segment 1"/>
          <p:cNvCxnSpPr/>
          <p:nvPr/>
        </p:nvCxnSpPr>
        <p:spPr>
          <a:xfrm>
            <a:off x="15133320" y="6281928"/>
            <a:ext cx="0" cy="301752"/>
          </a:xfrm>
          <a:prstGeom prst="line">
            <a:avLst/>
          </a:prstGeom>
          <a:ln w="22860">
            <a:solidFill>
              <a:srgbClr val="008B9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3" name="Context to Scene concat segment 1"/>
          <p:cNvCxnSpPr/>
          <p:nvPr/>
        </p:nvCxnSpPr>
        <p:spPr>
          <a:xfrm>
            <a:off x="17693640" y="4206240"/>
            <a:ext cx="0" cy="2377440"/>
          </a:xfrm>
          <a:prstGeom prst="line">
            <a:avLst/>
          </a:prstGeom>
          <a:ln w="22860">
            <a:solidFill>
              <a:srgbClr val="008B91"/>
            </a:solidFill>
            <a:tailEnd type="triangle" w="sm" len="sm"/>
          </a:ln>
        </p:spPr>
        <p:style>
          <a:lnRef idx="2">
            <a:schemeClr val="accent1"/>
          </a:lnRef>
          <a:fillRef idx="0">
            <a:schemeClr val="accent1"/>
          </a:fillRef>
          <a:effectRef idx="1">
            <a:schemeClr val="accent1"/>
          </a:effectRef>
          <a:fontRef idx="minor">
            <a:schemeClr val="tx1"/>
          </a:fontRef>
        </p:style>
      </p:cxnSp>
      <p:sp>
        <p:nvSpPr>
          <p:cNvPr id="234" name="Graph Scene Residual MLP"/>
          <p:cNvSpPr/>
          <p:nvPr/>
        </p:nvSpPr>
        <p:spPr>
          <a:xfrm>
            <a:off x="8869680" y="7424927"/>
            <a:ext cx="9966960" cy="658368"/>
          </a:xfrm>
          <a:prstGeom prst="roundRect">
            <a:avLst>
              <a:gd name="adj" fmla="val 12000"/>
            </a:avLst>
          </a:prstGeom>
          <a:solidFill>
            <a:srgbClr val="DFF3F1"/>
          </a:solidFill>
          <a:ln w="15240">
            <a:solidFill>
              <a:srgbClr val="008B91"/>
            </a:solidFill>
          </a:ln>
        </p:spPr>
        <p:txBody>
          <a:bodyPr rtlCol="0" anchor="ctr"/>
          <a:lstStyle/>
          <a:p>
            <a:pPr algn="ctr"/>
          </a:p>
        </p:txBody>
      </p:sp>
      <p:sp>
        <p:nvSpPr>
          <p:cNvPr id="235" name="Graph Scene Residual MLP text"/>
          <p:cNvSpPr txBox="1"/>
          <p:nvPr/>
        </p:nvSpPr>
        <p:spPr>
          <a:xfrm>
            <a:off x="8933688" y="7452359"/>
            <a:ext cx="9838944" cy="603503"/>
          </a:xfrm>
          <a:prstGeom prst="rect">
            <a:avLst/>
          </a:prstGeom>
          <a:noFill/>
        </p:spPr>
        <p:txBody>
          <a:bodyPr wrap="none" lIns="22860" rIns="22860" tIns="0" bIns="0" anchor="ctr">
            <a:noAutofit/>
          </a:bodyPr>
          <a:lstStyle/>
          <a:p>
            <a:pPr algn="ctr">
              <a:spcBef>
                <a:spcPts val="0"/>
              </a:spcBef>
              <a:spcAft>
                <a:spcPts val="400"/>
              </a:spcAft>
            </a:pPr>
            <a:r>
              <a:rPr sz="1700" b="0">
                <a:solidFill>
                  <a:srgbClr val="19324F"/>
                </a:solidFill>
                <a:latin typeface="Liberation Sans"/>
              </a:rPr>
              <a:t>Scene Residual MLP</a:t>
            </a:r>
          </a:p>
          <a:p>
            <a:pPr algn="ctr">
              <a:spcBef>
                <a:spcPts val="0"/>
              </a:spcBef>
              <a:spcAft>
                <a:spcPts val="0"/>
              </a:spcAft>
            </a:pPr>
            <a:r>
              <a:rPr sz="1700" b="0">
                <a:solidFill>
                  <a:srgbClr val="19324F"/>
                </a:solidFill>
                <a:latin typeface="Liberation Sans"/>
              </a:rPr>
              <a:t>512 → 512 → 512 · ReLU · no LayerNorm</a:t>
            </a:r>
          </a:p>
        </p:txBody>
      </p:sp>
      <p:sp>
        <p:nvSpPr>
          <p:cNvPr id="236" name="Graph Mean Pooling"/>
          <p:cNvSpPr/>
          <p:nvPr/>
        </p:nvSpPr>
        <p:spPr>
          <a:xfrm>
            <a:off x="8869680" y="8321040"/>
            <a:ext cx="9966960" cy="566928"/>
          </a:xfrm>
          <a:prstGeom prst="roundRect">
            <a:avLst>
              <a:gd name="adj" fmla="val 12000"/>
            </a:avLst>
          </a:prstGeom>
          <a:solidFill>
            <a:srgbClr val="DFF3F1"/>
          </a:solidFill>
          <a:ln w="15240">
            <a:solidFill>
              <a:srgbClr val="008B91"/>
            </a:solidFill>
          </a:ln>
        </p:spPr>
        <p:txBody>
          <a:bodyPr rtlCol="0" anchor="ctr"/>
          <a:lstStyle/>
          <a:p>
            <a:pPr algn="ctr"/>
          </a:p>
        </p:txBody>
      </p:sp>
      <p:sp>
        <p:nvSpPr>
          <p:cNvPr id="237" name="Graph Mean Pooling text"/>
          <p:cNvSpPr txBox="1"/>
          <p:nvPr/>
        </p:nvSpPr>
        <p:spPr>
          <a:xfrm>
            <a:off x="8933688" y="8348471"/>
            <a:ext cx="9838944" cy="512064"/>
          </a:xfrm>
          <a:prstGeom prst="rect">
            <a:avLst/>
          </a:prstGeom>
          <a:noFill/>
        </p:spPr>
        <p:txBody>
          <a:bodyPr wrap="none" lIns="22860" rIns="22860" tIns="0" bIns="0" anchor="ctr">
            <a:noAutofit/>
          </a:bodyPr>
          <a:lstStyle/>
          <a:p>
            <a:pPr algn="ctr">
              <a:spcBef>
                <a:spcPts val="0"/>
              </a:spcBef>
              <a:spcAft>
                <a:spcPts val="0"/>
              </a:spcAft>
            </a:pPr>
            <a:r>
              <a:rPr sz="1800" b="0">
                <a:solidFill>
                  <a:srgbClr val="19324F"/>
                </a:solidFill>
                <a:latin typeface="Liberation Sans"/>
              </a:rPr>
              <a:t>Mean Pooling over valid Scenes: S × 512 → Item 512</a:t>
            </a:r>
          </a:p>
        </p:txBody>
      </p:sp>
      <p:cxnSp>
        <p:nvCxnSpPr>
          <p:cNvPr id="238" name="Concat to Scene MLP segment 1"/>
          <p:cNvCxnSpPr/>
          <p:nvPr/>
        </p:nvCxnSpPr>
        <p:spPr>
          <a:xfrm>
            <a:off x="13853160" y="7187184"/>
            <a:ext cx="0" cy="237743"/>
          </a:xfrm>
          <a:prstGeom prst="line">
            <a:avLst/>
          </a:prstGeom>
          <a:ln w="22860">
            <a:solidFill>
              <a:srgbClr val="008B9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39" name="Scene MLP to Mean segment 1"/>
          <p:cNvCxnSpPr/>
          <p:nvPr/>
        </p:nvCxnSpPr>
        <p:spPr>
          <a:xfrm>
            <a:off x="13853160" y="8083296"/>
            <a:ext cx="0" cy="237744"/>
          </a:xfrm>
          <a:prstGeom prst="line">
            <a:avLst/>
          </a:prstGeom>
          <a:ln w="22860">
            <a:solidFill>
              <a:srgbClr val="008B9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40" name="Graph item output segment 1"/>
          <p:cNvCxnSpPr/>
          <p:nvPr/>
        </p:nvCxnSpPr>
        <p:spPr>
          <a:xfrm>
            <a:off x="13853160" y="8887968"/>
            <a:ext cx="0" cy="594360"/>
          </a:xfrm>
          <a:prstGeom prst="line">
            <a:avLst/>
          </a:prstGeom>
          <a:ln w="22860">
            <a:solidFill>
              <a:srgbClr val="008B91"/>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