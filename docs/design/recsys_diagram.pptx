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659600" cy="12070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Text: sasrec-content-v8; Graph mean: sasrec-role-graph/v9. Baseline/Text Item and Graph Scene residual blocks use x + ReLU(Linear(x)), with one Linear 512-to-512. Graph projects Title, Entities, Actions and Context independently to 128. Actor, target, tool and location enrich Actions from Entities in one direction. Scene concat is [Title; Entity mean; Action mean; Context] at 512 dimensions; the Scene MLP precedes valid-scene mean pooling. Text encodes Title and Summary separately with frozen BGE Large. Missing videos and padding remain zero after the final video encoder. SASRec and its two-Linear GELU User MLP with LayerNorm remain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562320" cy="50292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B43"/>
                </a:solidFill>
                <a:latin typeface="Liberation Sans"/>
              </a:rPr>
              <a:t>Recommendation Architecture | Baseline vs. Text vs.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1298448"/>
            <a:ext cx="4572000" cy="7973568"/>
          </a:xfrm>
          <a:prstGeom prst="roundRect">
            <a:avLst>
              <a:gd name="adj" fmla="val 3000"/>
            </a:avLst>
          </a:prstGeom>
          <a:solidFill>
            <a:srgbClr val="F7FAFF"/>
          </a:solidFill>
          <a:ln w="13335">
            <a:solidFill>
              <a:srgbClr val="CAD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35324" y="1312163"/>
            <a:ext cx="4507992" cy="77815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8549640" y="1298448"/>
            <a:ext cx="10607040" cy="7973568"/>
          </a:xfrm>
          <a:prstGeom prst="roundRect">
            <a:avLst>
              <a:gd name="adj" fmla="val 1720"/>
            </a:avLst>
          </a:prstGeom>
          <a:solidFill>
            <a:srgbClr val="F5FBFA"/>
          </a:solidFill>
          <a:ln w="13335">
            <a:solidFill>
              <a:srgbClr val="BD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81644" y="1312163"/>
            <a:ext cx="10543032" cy="77815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931920" y="1444752"/>
            <a:ext cx="4114800" cy="36576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2864B7"/>
                </a:solidFill>
                <a:latin typeface="Liberation Sans"/>
              </a:rPr>
              <a:t>TEXT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444752"/>
            <a:ext cx="9966960" cy="36576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87E83"/>
                </a:solidFill>
                <a:latin typeface="Liberation Sans"/>
              </a:rPr>
              <a:t>GRAPH PATH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2920" y="9482328"/>
            <a:ext cx="18653758" cy="1865376"/>
          </a:xfrm>
          <a:prstGeom prst="roundRect">
            <a:avLst>
              <a:gd name="adj" fmla="val 7352"/>
            </a:avLst>
          </a:prstGeom>
          <a:solidFill>
            <a:srgbClr val="F6F8FB"/>
          </a:solidFill>
          <a:ln w="13335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1552" y="9496044"/>
            <a:ext cx="18576494" cy="18379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834051" y="9601200"/>
            <a:ext cx="17881119" cy="31089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2B43"/>
                </a:solidFill>
                <a:latin typeface="Liberation Sans"/>
              </a:rPr>
              <a:t>SAME RECOMMENDER ARCHITECTURE  •  Trained independently for each path / arm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44429" y="10113264"/>
            <a:ext cx="3642450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3061" y="10126980"/>
            <a:ext cx="3565186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Video vectors: 512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History: up to 10 × 512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71218" y="10113264"/>
            <a:ext cx="3532072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09850" y="10126980"/>
            <a:ext cx="3454808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SASRec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2 blocks · 2 heads · 512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498666" y="10113264"/>
            <a:ext cx="3476884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37299" y="10126980"/>
            <a:ext cx="3399620" cy="676656"/>
          </a:xfrm>
          <a:prstGeom prst="rect">
            <a:avLst/>
          </a:prstGeom>
          <a:noFill/>
          <a:effectLst/>
        </p:spPr>
        <p:txBody>
          <a:bodyPr wrap="none" lIns="54864" rIns="54864" t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Last valid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User Residual MLP · GELU + LN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3858570" y="10113264"/>
            <a:ext cx="4525467" cy="704088"/>
          </a:xfrm>
          <a:prstGeom prst="roundRect">
            <a:avLst>
              <a:gd name="adj" fmla="val 7142"/>
            </a:avLst>
          </a:prstGeom>
          <a:solidFill>
            <a:srgbClr val="E5EBF2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897202" y="10126980"/>
            <a:ext cx="4448203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2B43"/>
                </a:solidFill>
                <a:latin typeface="Liberation Sans"/>
              </a:rPr>
              <a:t>Dot product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2B43"/>
                </a:solidFill>
                <a:latin typeface="Liberation Sans"/>
              </a:rPr>
              <a:t>User 512 · Candidate 512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586879" y="10465308"/>
            <a:ext cx="684339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03291" y="10465308"/>
            <a:ext cx="695375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2975552" y="10465308"/>
            <a:ext cx="883018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765654" y="10817352"/>
            <a:ext cx="0" cy="384048"/>
          </a:xfrm>
          <a:prstGeom prst="line">
            <a:avLst/>
          </a:prstGeom>
          <a:ln w="17780">
            <a:solidFill>
              <a:srgbClr val="617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765654" y="11201400"/>
            <a:ext cx="13355650" cy="0"/>
          </a:xfrm>
          <a:prstGeom prst="line">
            <a:avLst/>
          </a:prstGeom>
          <a:ln w="17780">
            <a:solidFill>
              <a:srgbClr val="617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6121304" y="10817352"/>
            <a:ext cx="0" cy="384048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525086" y="10908792"/>
            <a:ext cx="7284900" cy="22860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86"/>
                </a:solidFill>
                <a:latin typeface="Liberation Sans"/>
              </a:rPr>
              <a:t>Candidate video vectors bypass the sequence encoder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087368" y="2057400"/>
            <a:ext cx="178308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Title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087368" y="32918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EFF3F7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087368" y="461772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1,024 → 128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978907" y="2743200"/>
            <a:ext cx="0" cy="54864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978907" y="4023360"/>
            <a:ext cx="0" cy="59436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6053328" y="2057400"/>
            <a:ext cx="178308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Video Summary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053328" y="32918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EFF3F7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053328" y="461772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1,024 → 384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944868" y="2743200"/>
            <a:ext cx="0" cy="54864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944868" y="4023360"/>
            <a:ext cx="0" cy="59436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087368" y="7406640"/>
            <a:ext cx="3794760" cy="621792"/>
          </a:xfrm>
          <a:prstGeom prst="roundRect">
            <a:avLst>
              <a:gd name="adj" fmla="val 7857"/>
            </a:avLst>
          </a:prstGeom>
          <a:solidFill>
            <a:srgbClr val="E7F0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Concat: [Title 128; Summary 384]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512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087368" y="8183879"/>
            <a:ext cx="3794760" cy="786384"/>
          </a:xfrm>
          <a:prstGeom prst="roundRect">
            <a:avLst>
              <a:gd name="adj" fmla="val 11000"/>
            </a:avLst>
          </a:prstGeom>
          <a:solidFill>
            <a:srgbClr val="E7F0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27432" bIns="27432" wrap="non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1-layer Item Residual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512 →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ReLU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02920" y="1298448"/>
            <a:ext cx="2926080" cy="7973568"/>
          </a:xfrm>
          <a:prstGeom prst="roundRect">
            <a:avLst>
              <a:gd name="adj" fmla="val 4687"/>
            </a:avLst>
          </a:prstGeom>
          <a:solidFill>
            <a:srgbClr val="F5F6F7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/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1520" y="1444752"/>
            <a:ext cx="2560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626C78"/>
                </a:solidFill>
                <a:latin typeface="Aptos"/>
              </a:rPr>
              <a:t>Baseline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22960" y="2057400"/>
            <a:ext cx="228600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Title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22960" y="3291840"/>
            <a:ext cx="2286000" cy="731520"/>
          </a:xfrm>
          <a:prstGeom prst="roundRect">
            <a:avLst>
              <a:gd name="adj" fmla="val 6874"/>
            </a:avLst>
          </a:prstGeom>
          <a:solidFill>
            <a:srgbClr val="EEF0F2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22960" y="4617720"/>
            <a:ext cx="2286000" cy="731520"/>
          </a:xfrm>
          <a:prstGeom prst="roundRect">
            <a:avLst>
              <a:gd name="adj" fmla="val 6874"/>
            </a:avLst>
          </a:prstGeom>
          <a:solidFill>
            <a:srgbClr val="FFFFF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1,024 → 512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22960" y="8183879"/>
            <a:ext cx="2286000" cy="786384"/>
          </a:xfrm>
          <a:prstGeom prst="roundRect">
            <a:avLst>
              <a:gd name="adj" fmla="val 11000"/>
            </a:avLst>
          </a:prstGeom>
          <a:solidFill>
            <a:srgbClr val="E9ECE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1-layer Item Residual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512 →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ReLU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1965960" y="2743200"/>
            <a:ext cx="0" cy="548640"/>
          </a:xfrm>
          <a:prstGeom prst="line">
            <a:avLst/>
          </a:prstGeom>
          <a:ln w="15875">
            <a:solidFill>
              <a:srgbClr val="7F89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965960" y="4023360"/>
            <a:ext cx="0" cy="594360"/>
          </a:xfrm>
          <a:prstGeom prst="line">
            <a:avLst/>
          </a:prstGeom>
          <a:ln w="15875">
            <a:solidFill>
              <a:srgbClr val="7F89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Baseline projection to MLP segment 1"/>
          <p:cNvCxnSpPr/>
          <p:nvPr/>
        </p:nvCxnSpPr>
        <p:spPr>
          <a:xfrm>
            <a:off x="1965960" y="5349240"/>
            <a:ext cx="0" cy="2834639"/>
          </a:xfrm>
          <a:prstGeom prst="line">
            <a:avLst/>
          </a:prstGeom>
          <a:ln w="22860">
            <a:solidFill>
              <a:srgbClr val="AAB1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Baseline item output segment 1"/>
          <p:cNvCxnSpPr/>
          <p:nvPr/>
        </p:nvCxnSpPr>
        <p:spPr>
          <a:xfrm>
            <a:off x="1965960" y="8970264"/>
            <a:ext cx="0" cy="512064"/>
          </a:xfrm>
          <a:prstGeom prst="line">
            <a:avLst/>
          </a:prstGeom>
          <a:ln w="22860">
            <a:solidFill>
              <a:srgbClr val="AAB1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Text component to concat segment 1"/>
          <p:cNvCxnSpPr/>
          <p:nvPr/>
        </p:nvCxnSpPr>
        <p:spPr>
          <a:xfrm>
            <a:off x="4978908" y="5349240"/>
            <a:ext cx="0" cy="164592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Text component to concat segment 2"/>
          <p:cNvCxnSpPr/>
          <p:nvPr/>
        </p:nvCxnSpPr>
        <p:spPr>
          <a:xfrm>
            <a:off x="4978908" y="6995160"/>
            <a:ext cx="1005840" cy="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Text component to concat segment 1"/>
          <p:cNvCxnSpPr/>
          <p:nvPr/>
        </p:nvCxnSpPr>
        <p:spPr>
          <a:xfrm>
            <a:off x="6944868" y="5349240"/>
            <a:ext cx="0" cy="164592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Text component to concat segment 2"/>
          <p:cNvCxnSpPr/>
          <p:nvPr/>
        </p:nvCxnSpPr>
        <p:spPr>
          <a:xfrm flipH="1">
            <a:off x="5984748" y="6995160"/>
            <a:ext cx="960120" cy="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Text concat input segment 1"/>
          <p:cNvCxnSpPr/>
          <p:nvPr/>
        </p:nvCxnSpPr>
        <p:spPr>
          <a:xfrm>
            <a:off x="5984748" y="6995160"/>
            <a:ext cx="0" cy="411480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Text concat to MLP segment 1"/>
          <p:cNvCxnSpPr/>
          <p:nvPr/>
        </p:nvCxnSpPr>
        <p:spPr>
          <a:xfrm>
            <a:off x="5984748" y="8028431"/>
            <a:ext cx="0" cy="155448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Text item output segment 1"/>
          <p:cNvCxnSpPr/>
          <p:nvPr/>
        </p:nvCxnSpPr>
        <p:spPr>
          <a:xfrm>
            <a:off x="5984748" y="8970264"/>
            <a:ext cx="0" cy="512064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Graph Title"/>
          <p:cNvSpPr/>
          <p:nvPr/>
        </p:nvSpPr>
        <p:spPr>
          <a:xfrm>
            <a:off x="886968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Graph Title text"/>
          <p:cNvSpPr txBox="1"/>
          <p:nvPr/>
        </p:nvSpPr>
        <p:spPr>
          <a:xfrm>
            <a:off x="893368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Title</a:t>
            </a:r>
          </a:p>
        </p:txBody>
      </p:sp>
      <p:sp>
        <p:nvSpPr>
          <p:cNvPr id="185" name="Graph Title BGE"/>
          <p:cNvSpPr/>
          <p:nvPr/>
        </p:nvSpPr>
        <p:spPr>
          <a:xfrm>
            <a:off x="8869680" y="2724912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Graph Title BGE text"/>
          <p:cNvSpPr txBox="1"/>
          <p:nvPr/>
        </p:nvSpPr>
        <p:spPr>
          <a:xfrm>
            <a:off x="8933688" y="2752344"/>
            <a:ext cx="2157984" cy="53035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1,024</a:t>
            </a:r>
          </a:p>
        </p:txBody>
      </p:sp>
      <p:sp>
        <p:nvSpPr>
          <p:cNvPr id="187" name="Graph Title projection"/>
          <p:cNvSpPr/>
          <p:nvPr/>
        </p:nvSpPr>
        <p:spPr>
          <a:xfrm>
            <a:off x="8869680" y="3538728"/>
            <a:ext cx="228600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Graph Title projection text"/>
          <p:cNvSpPr txBox="1"/>
          <p:nvPr/>
        </p:nvSpPr>
        <p:spPr>
          <a:xfrm>
            <a:off x="8933688" y="3566160"/>
            <a:ext cx="2157984" cy="612647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189" name="Title to BGE segment 1"/>
          <p:cNvCxnSpPr/>
          <p:nvPr/>
        </p:nvCxnSpPr>
        <p:spPr>
          <a:xfrm>
            <a:off x="10012680" y="2514600"/>
            <a:ext cx="0" cy="210312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Title to projection segment 1"/>
          <p:cNvCxnSpPr/>
          <p:nvPr/>
        </p:nvCxnSpPr>
        <p:spPr>
          <a:xfrm>
            <a:off x="10012680" y="3310128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Graph Entities"/>
          <p:cNvSpPr/>
          <p:nvPr/>
        </p:nvSpPr>
        <p:spPr>
          <a:xfrm>
            <a:off x="1143000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Graph Entities text"/>
          <p:cNvSpPr txBox="1"/>
          <p:nvPr/>
        </p:nvSpPr>
        <p:spPr>
          <a:xfrm>
            <a:off x="1149400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Entities</a:t>
            </a:r>
          </a:p>
        </p:txBody>
      </p:sp>
      <p:sp>
        <p:nvSpPr>
          <p:cNvPr id="193" name="Graph Entities BGE"/>
          <p:cNvSpPr/>
          <p:nvPr/>
        </p:nvSpPr>
        <p:spPr>
          <a:xfrm>
            <a:off x="11430000" y="2724912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Graph Entities BGE text"/>
          <p:cNvSpPr txBox="1"/>
          <p:nvPr/>
        </p:nvSpPr>
        <p:spPr>
          <a:xfrm>
            <a:off x="11494008" y="2752344"/>
            <a:ext cx="2157984" cy="53035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E × 1,024</a:t>
            </a:r>
          </a:p>
        </p:txBody>
      </p:sp>
      <p:sp>
        <p:nvSpPr>
          <p:cNvPr id="195" name="Graph Entities projection"/>
          <p:cNvSpPr/>
          <p:nvPr/>
        </p:nvSpPr>
        <p:spPr>
          <a:xfrm>
            <a:off x="11430000" y="3538728"/>
            <a:ext cx="228600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Graph Entities projection text"/>
          <p:cNvSpPr txBox="1"/>
          <p:nvPr/>
        </p:nvSpPr>
        <p:spPr>
          <a:xfrm>
            <a:off x="11494008" y="3566160"/>
            <a:ext cx="2157984" cy="612647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197" name="Entities to BGE segment 1"/>
          <p:cNvCxnSpPr/>
          <p:nvPr/>
        </p:nvCxnSpPr>
        <p:spPr>
          <a:xfrm>
            <a:off x="12573000" y="2514600"/>
            <a:ext cx="0" cy="210312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Entities to projection segment 1"/>
          <p:cNvCxnSpPr/>
          <p:nvPr/>
        </p:nvCxnSpPr>
        <p:spPr>
          <a:xfrm>
            <a:off x="12573000" y="3310128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Graph Actions"/>
          <p:cNvSpPr/>
          <p:nvPr/>
        </p:nvSpPr>
        <p:spPr>
          <a:xfrm>
            <a:off x="1399032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Graph Actions text"/>
          <p:cNvSpPr txBox="1"/>
          <p:nvPr/>
        </p:nvSpPr>
        <p:spPr>
          <a:xfrm>
            <a:off x="1405432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Actions</a:t>
            </a:r>
          </a:p>
        </p:txBody>
      </p:sp>
      <p:sp>
        <p:nvSpPr>
          <p:cNvPr id="201" name="Graph Actions BGE"/>
          <p:cNvSpPr/>
          <p:nvPr/>
        </p:nvSpPr>
        <p:spPr>
          <a:xfrm>
            <a:off x="13990320" y="2724912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Graph Actions BGE text"/>
          <p:cNvSpPr txBox="1"/>
          <p:nvPr/>
        </p:nvSpPr>
        <p:spPr>
          <a:xfrm>
            <a:off x="14054328" y="2752344"/>
            <a:ext cx="2157984" cy="53035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A × 1,024</a:t>
            </a:r>
          </a:p>
        </p:txBody>
      </p:sp>
      <p:sp>
        <p:nvSpPr>
          <p:cNvPr id="203" name="Graph Actions projection"/>
          <p:cNvSpPr/>
          <p:nvPr/>
        </p:nvSpPr>
        <p:spPr>
          <a:xfrm>
            <a:off x="13990320" y="3538728"/>
            <a:ext cx="228600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Graph Actions projection text"/>
          <p:cNvSpPr txBox="1"/>
          <p:nvPr/>
        </p:nvSpPr>
        <p:spPr>
          <a:xfrm>
            <a:off x="14054328" y="3566160"/>
            <a:ext cx="2157984" cy="612647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205" name="Actions to BGE segment 1"/>
          <p:cNvCxnSpPr/>
          <p:nvPr/>
        </p:nvCxnSpPr>
        <p:spPr>
          <a:xfrm>
            <a:off x="15133320" y="2514600"/>
            <a:ext cx="0" cy="210312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Actions to projection segment 1"/>
          <p:cNvCxnSpPr/>
          <p:nvPr/>
        </p:nvCxnSpPr>
        <p:spPr>
          <a:xfrm>
            <a:off x="15133320" y="3310128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Graph Context"/>
          <p:cNvSpPr/>
          <p:nvPr/>
        </p:nvSpPr>
        <p:spPr>
          <a:xfrm>
            <a:off x="1655064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Graph Context text"/>
          <p:cNvSpPr txBox="1"/>
          <p:nvPr/>
        </p:nvSpPr>
        <p:spPr>
          <a:xfrm>
            <a:off x="1661464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Context</a:t>
            </a:r>
          </a:p>
        </p:txBody>
      </p:sp>
      <p:sp>
        <p:nvSpPr>
          <p:cNvPr id="209" name="Graph Context BGE"/>
          <p:cNvSpPr/>
          <p:nvPr/>
        </p:nvSpPr>
        <p:spPr>
          <a:xfrm>
            <a:off x="16550640" y="2724912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Graph Context BGE text"/>
          <p:cNvSpPr txBox="1"/>
          <p:nvPr/>
        </p:nvSpPr>
        <p:spPr>
          <a:xfrm>
            <a:off x="16614648" y="2752344"/>
            <a:ext cx="2157984" cy="53035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1,024</a:t>
            </a:r>
          </a:p>
        </p:txBody>
      </p:sp>
      <p:sp>
        <p:nvSpPr>
          <p:cNvPr id="211" name="Graph Context projection"/>
          <p:cNvSpPr/>
          <p:nvPr/>
        </p:nvSpPr>
        <p:spPr>
          <a:xfrm>
            <a:off x="16550640" y="3538728"/>
            <a:ext cx="228600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Graph Context projection text"/>
          <p:cNvSpPr txBox="1"/>
          <p:nvPr/>
        </p:nvSpPr>
        <p:spPr>
          <a:xfrm>
            <a:off x="16614648" y="3566160"/>
            <a:ext cx="2157984" cy="612647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213" name="Context to BGE segment 1"/>
          <p:cNvCxnSpPr/>
          <p:nvPr/>
        </p:nvCxnSpPr>
        <p:spPr>
          <a:xfrm>
            <a:off x="17693640" y="2514600"/>
            <a:ext cx="0" cy="210312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text to projection segment 1"/>
          <p:cNvCxnSpPr/>
          <p:nvPr/>
        </p:nvCxnSpPr>
        <p:spPr>
          <a:xfrm>
            <a:off x="17693640" y="3310128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Graph Action role fusion"/>
          <p:cNvSpPr/>
          <p:nvPr/>
        </p:nvSpPr>
        <p:spPr>
          <a:xfrm>
            <a:off x="11430000" y="4535424"/>
            <a:ext cx="48463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Graph Action role fusion text"/>
          <p:cNvSpPr txBox="1"/>
          <p:nvPr/>
        </p:nvSpPr>
        <p:spPr>
          <a:xfrm>
            <a:off x="11503152" y="4590288"/>
            <a:ext cx="4700016" cy="94183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Entity → Action role fusion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2768D"/>
                </a:solidFill>
                <a:latin typeface="Liberation Sans"/>
              </a:rPr>
              <a:t>actor · target · tool · location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68D"/>
                </a:solidFill>
                <a:latin typeface="Liberation Sans"/>
              </a:rPr>
              <a:t>640 → 128</a:t>
            </a:r>
          </a:p>
        </p:txBody>
      </p:sp>
      <p:cxnSp>
        <p:nvCxnSpPr>
          <p:cNvPr id="217" name="Entity projection to role fusion segment 1"/>
          <p:cNvCxnSpPr/>
          <p:nvPr/>
        </p:nvCxnSpPr>
        <p:spPr>
          <a:xfrm>
            <a:off x="12573000" y="4206240"/>
            <a:ext cx="0" cy="32918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Action projection to role fusion segment 1"/>
          <p:cNvCxnSpPr/>
          <p:nvPr/>
        </p:nvCxnSpPr>
        <p:spPr>
          <a:xfrm>
            <a:off x="15133320" y="4206240"/>
            <a:ext cx="0" cy="32918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Entity projection to mean segment 1"/>
          <p:cNvCxnSpPr/>
          <p:nvPr/>
        </p:nvCxnSpPr>
        <p:spPr>
          <a:xfrm flipH="1">
            <a:off x="11228832" y="4370832"/>
            <a:ext cx="1344168" cy="0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Entity projection to mean segment 2"/>
          <p:cNvCxnSpPr/>
          <p:nvPr/>
        </p:nvCxnSpPr>
        <p:spPr>
          <a:xfrm>
            <a:off x="11228832" y="4370832"/>
            <a:ext cx="0" cy="1659636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Entity projection to mean segment 3"/>
          <p:cNvCxnSpPr/>
          <p:nvPr/>
        </p:nvCxnSpPr>
        <p:spPr>
          <a:xfrm>
            <a:off x="11228832" y="6030468"/>
            <a:ext cx="201168" cy="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Entity forward fork"/>
          <p:cNvSpPr/>
          <p:nvPr/>
        </p:nvSpPr>
        <p:spPr>
          <a:xfrm>
            <a:off x="12540996" y="4338828"/>
            <a:ext cx="64008" cy="64008"/>
          </a:xfrm>
          <a:prstGeom prst="ellips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raph Entity mean"/>
          <p:cNvSpPr/>
          <p:nvPr/>
        </p:nvSpPr>
        <p:spPr>
          <a:xfrm>
            <a:off x="11430000" y="5779008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Graph Entity mean text"/>
          <p:cNvSpPr txBox="1"/>
          <p:nvPr/>
        </p:nvSpPr>
        <p:spPr>
          <a:xfrm>
            <a:off x="11494008" y="5806440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Entity mean: 128</a:t>
            </a:r>
          </a:p>
        </p:txBody>
      </p:sp>
      <p:sp>
        <p:nvSpPr>
          <p:cNvPr id="225" name="Graph Action mean"/>
          <p:cNvSpPr/>
          <p:nvPr/>
        </p:nvSpPr>
        <p:spPr>
          <a:xfrm>
            <a:off x="13990320" y="5779008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Graph Action mean text"/>
          <p:cNvSpPr txBox="1"/>
          <p:nvPr/>
        </p:nvSpPr>
        <p:spPr>
          <a:xfrm>
            <a:off x="14054328" y="5806440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Action mean: 128</a:t>
            </a:r>
          </a:p>
        </p:txBody>
      </p:sp>
      <p:cxnSp>
        <p:nvCxnSpPr>
          <p:cNvPr id="227" name="Enriched Actions to mean segment 1"/>
          <p:cNvCxnSpPr/>
          <p:nvPr/>
        </p:nvCxnSpPr>
        <p:spPr>
          <a:xfrm>
            <a:off x="15133320" y="5586984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Graph Scene concat"/>
          <p:cNvSpPr/>
          <p:nvPr/>
        </p:nvSpPr>
        <p:spPr>
          <a:xfrm>
            <a:off x="8869680" y="6583680"/>
            <a:ext cx="996696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Graph Scene concat text"/>
          <p:cNvSpPr txBox="1"/>
          <p:nvPr/>
        </p:nvSpPr>
        <p:spPr>
          <a:xfrm>
            <a:off x="8933688" y="6611112"/>
            <a:ext cx="9838944" cy="54864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Scene concat: [Title; Entity mean; Action mean; Context] = 512</a:t>
            </a:r>
          </a:p>
        </p:txBody>
      </p:sp>
      <p:cxnSp>
        <p:nvCxnSpPr>
          <p:cNvPr id="230" name="Title to Scene concat segment 1"/>
          <p:cNvCxnSpPr/>
          <p:nvPr/>
        </p:nvCxnSpPr>
        <p:spPr>
          <a:xfrm>
            <a:off x="10012680" y="4206240"/>
            <a:ext cx="0" cy="237744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Entities to Scene concat segment 1"/>
          <p:cNvCxnSpPr/>
          <p:nvPr/>
        </p:nvCxnSpPr>
        <p:spPr>
          <a:xfrm>
            <a:off x="12573000" y="6281928"/>
            <a:ext cx="0" cy="301752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Actions to Scene concat segment 1"/>
          <p:cNvCxnSpPr/>
          <p:nvPr/>
        </p:nvCxnSpPr>
        <p:spPr>
          <a:xfrm>
            <a:off x="15133320" y="6281928"/>
            <a:ext cx="0" cy="301752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text to Scene concat segment 1"/>
          <p:cNvCxnSpPr/>
          <p:nvPr/>
        </p:nvCxnSpPr>
        <p:spPr>
          <a:xfrm>
            <a:off x="17693640" y="4206240"/>
            <a:ext cx="0" cy="237744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Graph Scene Residual MLP"/>
          <p:cNvSpPr/>
          <p:nvPr/>
        </p:nvSpPr>
        <p:spPr>
          <a:xfrm>
            <a:off x="8869680" y="7424927"/>
            <a:ext cx="9966960" cy="658368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Graph Scene Residual MLP text"/>
          <p:cNvSpPr txBox="1"/>
          <p:nvPr/>
        </p:nvSpPr>
        <p:spPr>
          <a:xfrm>
            <a:off x="8933688" y="7452359"/>
            <a:ext cx="9838944" cy="603503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1-layer Scene Residual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512 → 512 · ReLU</a:t>
            </a:r>
          </a:p>
        </p:txBody>
      </p:sp>
      <p:sp>
        <p:nvSpPr>
          <p:cNvPr id="236" name="Graph Mean Pooling"/>
          <p:cNvSpPr/>
          <p:nvPr/>
        </p:nvSpPr>
        <p:spPr>
          <a:xfrm>
            <a:off x="8869680" y="8321040"/>
            <a:ext cx="9966960" cy="566928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Graph Mean Pooling text"/>
          <p:cNvSpPr txBox="1"/>
          <p:nvPr/>
        </p:nvSpPr>
        <p:spPr>
          <a:xfrm>
            <a:off x="8933688" y="8348471"/>
            <a:ext cx="9838944" cy="512064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Mean Pooling over valid Scenes: S × 512 → Item 512</a:t>
            </a:r>
          </a:p>
        </p:txBody>
      </p:sp>
      <p:cxnSp>
        <p:nvCxnSpPr>
          <p:cNvPr id="238" name="Concat to Scene MLP segment 1"/>
          <p:cNvCxnSpPr/>
          <p:nvPr/>
        </p:nvCxnSpPr>
        <p:spPr>
          <a:xfrm>
            <a:off x="13853160" y="7187184"/>
            <a:ext cx="0" cy="237743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cene MLP to Mean segment 1"/>
          <p:cNvCxnSpPr/>
          <p:nvPr/>
        </p:nvCxnSpPr>
        <p:spPr>
          <a:xfrm>
            <a:off x="13853160" y="8083296"/>
            <a:ext cx="0" cy="23774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Graph item output segment 1"/>
          <p:cNvCxnSpPr/>
          <p:nvPr/>
        </p:nvCxnSpPr>
        <p:spPr>
          <a:xfrm>
            <a:off x="13853160" y="8887968"/>
            <a:ext cx="0" cy="59436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