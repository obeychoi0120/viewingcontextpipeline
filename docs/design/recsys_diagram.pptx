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6459200" cy="1152144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Implemented Graph architecture: sasrec-role-graph/v3. Role Graph Encoder depth is 1 layer. Entity and action texts are embedded separately using the same frozen BGE weights. Node features are independently projected using shared weights, with a learned type embedding added; they are not averaged before message passing. Role edges are actor, target, tool and location, in both directions. Context bypasses the Graph encoder and joins scene readout only. BGE features are frozen; downstream modules train jointly on recommendation loss. Mean pooling has no trainable parameters. Scene concat is [entity mean 128; action mean 128; projected Context 128]. Final fusion is [title 128; video 384]. No scene 384-to-512 projection and no 1536-to-512 fusion projection. Context and node projection share weights as in the current encoder. Text _meta concatenates title and summary strings before BGE. Without title, Text uses summary only. Both paths use positional embeddings, causal attention, and the existing SASRec output normalization before selecting the last valid position. Title-only meta uses the existing BGE 1024-to-512 model. Text and Graph do not share trained SASRec weights.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56032"/>
            <a:ext cx="15361920" cy="502920"/>
          </a:xfrm>
          <a:prstGeom prst="rect">
            <a:avLst/>
          </a:prstGeom>
          <a:noFill/>
        </p:spPr>
        <p:txBody>
          <a:bodyPr wrap="square" lIns="54864" rIns="54864" tIns="18288" bIns="18288" anchor="ctr">
            <a:spAutoFit/>
          </a:bodyPr>
          <a:lstStyle/>
          <a:p>
            <a:pPr algn="l">
              <a:spcAft>
                <a:spcPts val="200"/>
              </a:spcAft>
            </a:pPr>
            <a:r>
              <a:rPr sz="3000" b="1">
                <a:solidFill>
                  <a:srgbClr val="142B43"/>
                </a:solidFill>
                <a:latin typeface="Liberation Sans"/>
              </a:rPr>
              <a:t>Recommendation Architecture | Text vs. Graph</a:t>
            </a:r>
          </a:p>
        </p:txBody>
      </p:sp>
      <p:sp>
        <p:nvSpPr>
          <p:cNvPr id="3" name="TextBox 2"/>
          <p:cNvSpPr txBox="1"/>
          <p:nvPr/>
        </p:nvSpPr>
        <p:spPr>
          <a:xfrm>
            <a:off x="566928" y="795528"/>
            <a:ext cx="15270480" cy="320040"/>
          </a:xfrm>
          <a:prstGeom prst="rect">
            <a:avLst/>
          </a:prstGeom>
          <a:noFill/>
        </p:spPr>
        <p:txBody>
          <a:bodyPr wrap="square" lIns="54864" rIns="54864" tIns="18288" bIns="18288" anchor="ctr">
            <a:spAutoFit/>
          </a:bodyPr>
          <a:lstStyle/>
          <a:p>
            <a:pPr algn="l">
              <a:spcAft>
                <a:spcPts val="200"/>
              </a:spcAft>
            </a:pPr>
            <a:r>
              <a:rPr sz="1500" b="0">
                <a:solidFill>
                  <a:srgbClr val="617286"/>
                </a:solidFill>
                <a:latin typeface="Liberation Sans"/>
              </a:rPr>
              <a:t>Dimension flow  /  Text: current implementation  /  Graph: current implementation (v3) · BGE large / 1,024</a:t>
            </a:r>
          </a:p>
        </p:txBody>
      </p:sp>
      <p:sp>
        <p:nvSpPr>
          <p:cNvPr id="4" name="Rounded Rectangle 3"/>
          <p:cNvSpPr/>
          <p:nvPr/>
        </p:nvSpPr>
        <p:spPr>
          <a:xfrm>
            <a:off x="502920" y="1298448"/>
            <a:ext cx="4572000" cy="7260336"/>
          </a:xfrm>
          <a:prstGeom prst="roundRect">
            <a:avLst>
              <a:gd name="adj" fmla="val 10000"/>
            </a:avLst>
          </a:prstGeom>
          <a:solidFill>
            <a:srgbClr val="F7FAFF"/>
          </a:solidFill>
          <a:ln w="14604">
            <a:solidFill>
              <a:srgbClr val="CAD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4924" y="1312163"/>
            <a:ext cx="4507992" cy="7232904"/>
          </a:xfrm>
          <a:prstGeom prst="rect">
            <a:avLst/>
          </a:prstGeom>
          <a:noFill/>
        </p:spPr>
        <p:txBody>
          <a:bodyPr wrap="square" lIns="54864" rIns="54864" tIns="18288" bIns="18288" anchor="ctr">
            <a:spAutoFit/>
          </a:bodyPr>
          <a:lstStyle/>
          <a:p>
            <a:pPr algn="ctr">
              <a:spcAft>
                <a:spcPts val="200"/>
              </a:spcAft>
            </a:pPr>
          </a:p>
        </p:txBody>
      </p:sp>
      <p:sp>
        <p:nvSpPr>
          <p:cNvPr id="6" name="Rounded Rectangle 5"/>
          <p:cNvSpPr/>
          <p:nvPr/>
        </p:nvSpPr>
        <p:spPr>
          <a:xfrm>
            <a:off x="5349240" y="1298448"/>
            <a:ext cx="10607040" cy="7260336"/>
          </a:xfrm>
          <a:prstGeom prst="roundRect">
            <a:avLst>
              <a:gd name="adj" fmla="val 10000"/>
            </a:avLst>
          </a:prstGeom>
          <a:solidFill>
            <a:srgbClr val="F5FBFA"/>
          </a:solidFill>
          <a:ln w="14604">
            <a:solidFill>
              <a:srgbClr val="BDDF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381244" y="1312163"/>
            <a:ext cx="10543032" cy="7232904"/>
          </a:xfrm>
          <a:prstGeom prst="rect">
            <a:avLst/>
          </a:prstGeom>
          <a:noFill/>
        </p:spPr>
        <p:txBody>
          <a:bodyPr wrap="square" lIns="54864" rIns="54864" tIns="18288" bIns="18288" anchor="ctr">
            <a:spAutoFit/>
          </a:bodyPr>
          <a:lstStyle/>
          <a:p>
            <a:pPr algn="ctr">
              <a:spcAft>
                <a:spcPts val="200"/>
              </a:spcAft>
            </a:pPr>
          </a:p>
        </p:txBody>
      </p:sp>
      <p:sp>
        <p:nvSpPr>
          <p:cNvPr id="8" name="TextBox 7"/>
          <p:cNvSpPr txBox="1"/>
          <p:nvPr/>
        </p:nvSpPr>
        <p:spPr>
          <a:xfrm>
            <a:off x="731520" y="1444752"/>
            <a:ext cx="4114800" cy="365760"/>
          </a:xfrm>
          <a:prstGeom prst="rect">
            <a:avLst/>
          </a:prstGeom>
          <a:noFill/>
        </p:spPr>
        <p:txBody>
          <a:bodyPr wrap="square" lIns="54864" rIns="54864" tIns="18288" bIns="18288" anchor="ctr">
            <a:spAutoFit/>
          </a:bodyPr>
          <a:lstStyle/>
          <a:p>
            <a:pPr algn="l">
              <a:spcAft>
                <a:spcPts val="200"/>
              </a:spcAft>
            </a:pPr>
            <a:r>
              <a:rPr sz="2300" b="1">
                <a:solidFill>
                  <a:srgbClr val="2864B7"/>
                </a:solidFill>
                <a:latin typeface="Liberation Sans"/>
              </a:rPr>
              <a:t>TEXT PATH</a:t>
            </a:r>
          </a:p>
        </p:txBody>
      </p:sp>
      <p:sp>
        <p:nvSpPr>
          <p:cNvPr id="9" name="TextBox 8"/>
          <p:cNvSpPr txBox="1"/>
          <p:nvPr/>
        </p:nvSpPr>
        <p:spPr>
          <a:xfrm>
            <a:off x="5577840" y="1444752"/>
            <a:ext cx="9966960" cy="365760"/>
          </a:xfrm>
          <a:prstGeom prst="rect">
            <a:avLst/>
          </a:prstGeom>
          <a:noFill/>
        </p:spPr>
        <p:txBody>
          <a:bodyPr wrap="square" lIns="54864" rIns="54864" tIns="18288" bIns="18288" anchor="ctr">
            <a:spAutoFit/>
          </a:bodyPr>
          <a:lstStyle/>
          <a:p>
            <a:pPr algn="l">
              <a:spcAft>
                <a:spcPts val="200"/>
              </a:spcAft>
            </a:pPr>
            <a:r>
              <a:rPr sz="2300" b="1">
                <a:solidFill>
                  <a:srgbClr val="087E83"/>
                </a:solidFill>
                <a:latin typeface="Liberation Sans"/>
              </a:rPr>
              <a:t>GRAPH PATH  /  1 LAYER</a:t>
            </a:r>
          </a:p>
        </p:txBody>
      </p:sp>
      <p:sp>
        <p:nvSpPr>
          <p:cNvPr id="10" name="Rounded Rectangle 9"/>
          <p:cNvSpPr/>
          <p:nvPr/>
        </p:nvSpPr>
        <p:spPr>
          <a:xfrm>
            <a:off x="886968" y="2057400"/>
            <a:ext cx="3794760" cy="685800"/>
          </a:xfrm>
          <a:prstGeom prst="roundRect">
            <a:avLst>
              <a:gd name="adj" fmla="val 10000"/>
            </a:avLst>
          </a:prstGeom>
          <a:solidFill>
            <a:srgbClr val="FFFFFF"/>
          </a:solidFill>
          <a:ln w="14604">
            <a:solidFill>
              <a:srgbClr val="2864B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8971" y="2071116"/>
            <a:ext cx="3730752" cy="658368"/>
          </a:xfrm>
          <a:prstGeom prst="rect">
            <a:avLst/>
          </a:prstGeom>
          <a:noFill/>
        </p:spPr>
        <p:txBody>
          <a:bodyPr wrap="square" lIns="54864" rIns="54864" tIns="18288" bIns="18288" anchor="ctr">
            <a:spAutoFit/>
          </a:bodyPr>
          <a:lstStyle/>
          <a:p>
            <a:pPr algn="ctr">
              <a:spcAft>
                <a:spcPts val="200"/>
              </a:spcAft>
            </a:pPr>
            <a:r>
              <a:rPr sz="2100" b="0">
                <a:solidFill>
                  <a:srgbClr val="142B43"/>
                </a:solidFill>
                <a:latin typeface="Liberation Sans"/>
              </a:rPr>
              <a:t>Title + video summary</a:t>
            </a:r>
          </a:p>
          <a:p>
            <a:pPr algn="ctr">
              <a:spcAft>
                <a:spcPts val="200"/>
              </a:spcAft>
            </a:pPr>
            <a:r>
              <a:rPr sz="2100" b="0">
                <a:solidFill>
                  <a:srgbClr val="142B43"/>
                </a:solidFill>
                <a:latin typeface="Liberation Sans"/>
              </a:rPr>
              <a:t>Text concatenation</a:t>
            </a:r>
          </a:p>
        </p:txBody>
      </p:sp>
      <p:sp>
        <p:nvSpPr>
          <p:cNvPr id="12" name="Rounded Rectangle 11"/>
          <p:cNvSpPr/>
          <p:nvPr/>
        </p:nvSpPr>
        <p:spPr>
          <a:xfrm>
            <a:off x="886968" y="3291840"/>
            <a:ext cx="3794760" cy="685800"/>
          </a:xfrm>
          <a:prstGeom prst="roundRect">
            <a:avLst>
              <a:gd name="adj" fmla="val 10000"/>
            </a:avLst>
          </a:prstGeom>
          <a:solidFill>
            <a:srgbClr val="F0F3F6"/>
          </a:solidFill>
          <a:ln w="14604">
            <a:solidFill>
              <a:srgbClr val="2864B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8971" y="3305556"/>
            <a:ext cx="3730752" cy="658368"/>
          </a:xfrm>
          <a:prstGeom prst="rect">
            <a:avLst/>
          </a:prstGeom>
          <a:noFill/>
        </p:spPr>
        <p:txBody>
          <a:bodyPr wrap="square" lIns="54864" rIns="54864" tIns="18288" bIns="18288" anchor="ctr">
            <a:spAutoFit/>
          </a:bodyPr>
          <a:lstStyle/>
          <a:p>
            <a:pPr algn="ctr">
              <a:spcAft>
                <a:spcPts val="200"/>
              </a:spcAft>
            </a:pPr>
            <a:r>
              <a:rPr sz="2100" b="0">
                <a:solidFill>
                  <a:srgbClr val="142B43"/>
                </a:solidFill>
                <a:latin typeface="Liberation Sans"/>
              </a:rPr>
              <a:t>BGE encoder  [frozen]</a:t>
            </a:r>
          </a:p>
          <a:p>
            <a:pPr algn="ctr">
              <a:spcAft>
                <a:spcPts val="200"/>
              </a:spcAft>
            </a:pPr>
            <a:r>
              <a:rPr sz="2100" b="0">
                <a:solidFill>
                  <a:srgbClr val="142B43"/>
                </a:solidFill>
                <a:latin typeface="Liberation Sans"/>
              </a:rPr>
              <a:t>Output: 1,024</a:t>
            </a:r>
          </a:p>
        </p:txBody>
      </p:sp>
      <p:sp>
        <p:nvSpPr>
          <p:cNvPr id="14" name="Rounded Rectangle 13"/>
          <p:cNvSpPr/>
          <p:nvPr/>
        </p:nvSpPr>
        <p:spPr>
          <a:xfrm>
            <a:off x="886968" y="4617720"/>
            <a:ext cx="3794760" cy="685800"/>
          </a:xfrm>
          <a:prstGeom prst="roundRect">
            <a:avLst>
              <a:gd name="adj" fmla="val 10000"/>
            </a:avLst>
          </a:prstGeom>
          <a:solidFill>
            <a:srgbClr val="FFFFFF"/>
          </a:solidFill>
          <a:ln w="14604">
            <a:solidFill>
              <a:srgbClr val="2864B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8971" y="4631436"/>
            <a:ext cx="3730752" cy="658368"/>
          </a:xfrm>
          <a:prstGeom prst="rect">
            <a:avLst/>
          </a:prstGeom>
          <a:noFill/>
        </p:spPr>
        <p:txBody>
          <a:bodyPr wrap="square" lIns="54864" rIns="54864" tIns="18288" bIns="18288" anchor="ctr">
            <a:spAutoFit/>
          </a:bodyPr>
          <a:lstStyle/>
          <a:p>
            <a:pPr algn="ctr">
              <a:spcAft>
                <a:spcPts val="200"/>
              </a:spcAft>
            </a:pPr>
            <a:r>
              <a:rPr sz="2100" b="0">
                <a:solidFill>
                  <a:srgbClr val="142B43"/>
                </a:solidFill>
                <a:latin typeface="Liberation Sans"/>
              </a:rPr>
              <a:t>Linear projection</a:t>
            </a:r>
          </a:p>
          <a:p>
            <a:pPr algn="ctr">
              <a:spcAft>
                <a:spcPts val="200"/>
              </a:spcAft>
            </a:pPr>
            <a:r>
              <a:rPr sz="2100" b="0">
                <a:solidFill>
                  <a:srgbClr val="142B43"/>
                </a:solidFill>
                <a:latin typeface="Liberation Sans"/>
              </a:rPr>
              <a:t>1,024 → 512</a:t>
            </a:r>
          </a:p>
        </p:txBody>
      </p:sp>
      <p:sp>
        <p:nvSpPr>
          <p:cNvPr id="16" name="Rounded Rectangle 15"/>
          <p:cNvSpPr/>
          <p:nvPr/>
        </p:nvSpPr>
        <p:spPr>
          <a:xfrm>
            <a:off x="886968" y="7269480"/>
            <a:ext cx="3794760" cy="640080"/>
          </a:xfrm>
          <a:prstGeom prst="roundRect">
            <a:avLst>
              <a:gd name="adj" fmla="val 10000"/>
            </a:avLst>
          </a:prstGeom>
          <a:solidFill>
            <a:srgbClr val="E7F0FF"/>
          </a:solidFill>
          <a:ln w="14604">
            <a:solidFill>
              <a:srgbClr val="2864B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8971" y="7283196"/>
            <a:ext cx="3730752" cy="612647"/>
          </a:xfrm>
          <a:prstGeom prst="rect">
            <a:avLst/>
          </a:prstGeom>
          <a:noFill/>
        </p:spPr>
        <p:txBody>
          <a:bodyPr wrap="square" lIns="54864" rIns="54864" tIns="18288" bIns="18288" anchor="ctr">
            <a:spAutoFit/>
          </a:bodyPr>
          <a:lstStyle/>
          <a:p>
            <a:pPr algn="ctr">
              <a:spcAft>
                <a:spcPts val="200"/>
              </a:spcAft>
            </a:pPr>
            <a:r>
              <a:rPr sz="2100" b="0">
                <a:solidFill>
                  <a:srgbClr val="142B43"/>
                </a:solidFill>
                <a:latin typeface="Liberation Sans"/>
              </a:rPr>
              <a:t>Residual MLP</a:t>
            </a:r>
          </a:p>
          <a:p>
            <a:pPr algn="ctr">
              <a:spcAft>
                <a:spcPts val="200"/>
              </a:spcAft>
            </a:pPr>
            <a:r>
              <a:rPr sz="2100" b="0">
                <a:solidFill>
                  <a:srgbClr val="142B43"/>
                </a:solidFill>
                <a:latin typeface="Liberation Sans"/>
              </a:rPr>
              <a:t>512 → 512</a:t>
            </a:r>
          </a:p>
        </p:txBody>
      </p:sp>
      <p:cxnSp>
        <p:nvCxnSpPr>
          <p:cNvPr id="18" name="Connector 17"/>
          <p:cNvCxnSpPr/>
          <p:nvPr/>
        </p:nvCxnSpPr>
        <p:spPr>
          <a:xfrm>
            <a:off x="2784348" y="2743200"/>
            <a:ext cx="0" cy="548640"/>
          </a:xfrm>
          <a:prstGeom prst="line">
            <a:avLst/>
          </a:prstGeom>
          <a:ln w="17780">
            <a:solidFill>
              <a:srgbClr val="2864B7"/>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2784348" y="3977639"/>
            <a:ext cx="0" cy="640081"/>
          </a:xfrm>
          <a:prstGeom prst="line">
            <a:avLst/>
          </a:prstGeom>
          <a:ln w="17780">
            <a:solidFill>
              <a:srgbClr val="2864B7"/>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2784348" y="5303520"/>
            <a:ext cx="0" cy="1965960"/>
          </a:xfrm>
          <a:prstGeom prst="line">
            <a:avLst/>
          </a:prstGeom>
          <a:ln w="17780">
            <a:solidFill>
              <a:srgbClr val="2864B7"/>
            </a:solidFill>
            <a:tailEnd type="triangle" w="sm" len="sm"/>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669280" y="2011680"/>
            <a:ext cx="2286000" cy="502920"/>
          </a:xfrm>
          <a:prstGeom prst="roundRect">
            <a:avLst>
              <a:gd name="adj" fmla="val 10000"/>
            </a:avLst>
          </a:prstGeom>
          <a:solidFill>
            <a:srgbClr val="FFFFFF"/>
          </a:solidFill>
          <a:ln w="14604">
            <a:solidFill>
              <a:srgbClr val="087E8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01284" y="2025396"/>
            <a:ext cx="2221992" cy="475488"/>
          </a:xfrm>
          <a:prstGeom prst="rect">
            <a:avLst/>
          </a:prstGeom>
          <a:noFill/>
        </p:spPr>
        <p:txBody>
          <a:bodyPr wrap="square" lIns="54864" rIns="54864" tIns="18288" bIns="18288" anchor="ctr">
            <a:spAutoFit/>
          </a:bodyPr>
          <a:lstStyle/>
          <a:p>
            <a:pPr algn="ctr">
              <a:spcAft>
                <a:spcPts val="200"/>
              </a:spcAft>
            </a:pPr>
            <a:r>
              <a:rPr sz="1900" b="1">
                <a:solidFill>
                  <a:srgbClr val="142B43"/>
                </a:solidFill>
                <a:latin typeface="Liberation Sans"/>
              </a:rPr>
              <a:t>Entities</a:t>
            </a:r>
          </a:p>
        </p:txBody>
      </p:sp>
      <p:sp>
        <p:nvSpPr>
          <p:cNvPr id="23" name="Rounded Rectangle 22"/>
          <p:cNvSpPr/>
          <p:nvPr/>
        </p:nvSpPr>
        <p:spPr>
          <a:xfrm>
            <a:off x="5669280" y="2724912"/>
            <a:ext cx="2286000" cy="585216"/>
          </a:xfrm>
          <a:prstGeom prst="roundRect">
            <a:avLst>
              <a:gd name="adj" fmla="val 10000"/>
            </a:avLst>
          </a:prstGeom>
          <a:solidFill>
            <a:srgbClr val="F0F3F6"/>
          </a:solidFill>
          <a:ln w="14604">
            <a:solidFill>
              <a:srgbClr val="AAB9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701284" y="2738628"/>
            <a:ext cx="2221992" cy="557784"/>
          </a:xfrm>
          <a:prstGeom prst="rect">
            <a:avLst/>
          </a:prstGeom>
          <a:noFill/>
        </p:spPr>
        <p:txBody>
          <a:bodyPr wrap="square" lIns="54864" rIns="54864" tIns="18288" bIns="18288" anchor="ctr">
            <a:spAutoFit/>
          </a:bodyPr>
          <a:lstStyle/>
          <a:p>
            <a:pPr algn="ctr">
              <a:spcAft>
                <a:spcPts val="200"/>
              </a:spcAft>
            </a:pPr>
            <a:r>
              <a:rPr sz="1800" b="0">
                <a:solidFill>
                  <a:srgbClr val="142B43"/>
                </a:solidFill>
                <a:latin typeface="Liberation Sans"/>
              </a:rPr>
              <a:t>BGE  [frozen]</a:t>
            </a:r>
          </a:p>
          <a:p>
            <a:pPr algn="ctr">
              <a:spcAft>
                <a:spcPts val="200"/>
              </a:spcAft>
            </a:pPr>
            <a:r>
              <a:rPr sz="1800" b="0">
                <a:solidFill>
                  <a:srgbClr val="142B43"/>
                </a:solidFill>
                <a:latin typeface="Liberation Sans"/>
              </a:rPr>
              <a:t>E × 1,024</a:t>
            </a:r>
          </a:p>
        </p:txBody>
      </p:sp>
      <p:cxnSp>
        <p:nvCxnSpPr>
          <p:cNvPr id="25" name="Connector 24"/>
          <p:cNvCxnSpPr/>
          <p:nvPr/>
        </p:nvCxnSpPr>
        <p:spPr>
          <a:xfrm>
            <a:off x="6812280" y="2514600"/>
            <a:ext cx="0" cy="210312"/>
          </a:xfrm>
          <a:prstGeom prst="line">
            <a:avLst/>
          </a:prstGeom>
          <a:ln w="17780">
            <a:solidFill>
              <a:srgbClr val="617286"/>
            </a:solidFill>
            <a:tailEnd type="triangle" w="sm" len="sm"/>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8229600" y="2011680"/>
            <a:ext cx="2286000" cy="502920"/>
          </a:xfrm>
          <a:prstGeom prst="roundRect">
            <a:avLst>
              <a:gd name="adj" fmla="val 10000"/>
            </a:avLst>
          </a:prstGeom>
          <a:solidFill>
            <a:srgbClr val="FFFFFF"/>
          </a:solidFill>
          <a:ln w="14604">
            <a:solidFill>
              <a:srgbClr val="087E8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61604" y="2025396"/>
            <a:ext cx="2221992" cy="475488"/>
          </a:xfrm>
          <a:prstGeom prst="rect">
            <a:avLst/>
          </a:prstGeom>
          <a:noFill/>
        </p:spPr>
        <p:txBody>
          <a:bodyPr wrap="square" lIns="54864" rIns="54864" tIns="18288" bIns="18288" anchor="ctr">
            <a:spAutoFit/>
          </a:bodyPr>
          <a:lstStyle/>
          <a:p>
            <a:pPr algn="ctr">
              <a:spcAft>
                <a:spcPts val="200"/>
              </a:spcAft>
            </a:pPr>
            <a:r>
              <a:rPr sz="1900" b="1">
                <a:solidFill>
                  <a:srgbClr val="142B43"/>
                </a:solidFill>
                <a:latin typeface="Liberation Sans"/>
              </a:rPr>
              <a:t>Actions</a:t>
            </a:r>
          </a:p>
        </p:txBody>
      </p:sp>
      <p:sp>
        <p:nvSpPr>
          <p:cNvPr id="28" name="Rounded Rectangle 27"/>
          <p:cNvSpPr/>
          <p:nvPr/>
        </p:nvSpPr>
        <p:spPr>
          <a:xfrm>
            <a:off x="8229600" y="2724912"/>
            <a:ext cx="2286000" cy="585216"/>
          </a:xfrm>
          <a:prstGeom prst="roundRect">
            <a:avLst>
              <a:gd name="adj" fmla="val 10000"/>
            </a:avLst>
          </a:prstGeom>
          <a:solidFill>
            <a:srgbClr val="F0F3F6"/>
          </a:solidFill>
          <a:ln w="14604">
            <a:solidFill>
              <a:srgbClr val="AAB9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261604" y="2738628"/>
            <a:ext cx="2221992" cy="557784"/>
          </a:xfrm>
          <a:prstGeom prst="rect">
            <a:avLst/>
          </a:prstGeom>
          <a:noFill/>
        </p:spPr>
        <p:txBody>
          <a:bodyPr wrap="square" lIns="54864" rIns="54864" tIns="18288" bIns="18288" anchor="ctr">
            <a:spAutoFit/>
          </a:bodyPr>
          <a:lstStyle/>
          <a:p>
            <a:pPr algn="ctr">
              <a:spcAft>
                <a:spcPts val="200"/>
              </a:spcAft>
            </a:pPr>
            <a:r>
              <a:rPr sz="1800" b="0">
                <a:solidFill>
                  <a:srgbClr val="142B43"/>
                </a:solidFill>
                <a:latin typeface="Liberation Sans"/>
              </a:rPr>
              <a:t>BGE  [frozen]</a:t>
            </a:r>
          </a:p>
          <a:p>
            <a:pPr algn="ctr">
              <a:spcAft>
                <a:spcPts val="200"/>
              </a:spcAft>
            </a:pPr>
            <a:r>
              <a:rPr sz="1800" b="0">
                <a:solidFill>
                  <a:srgbClr val="142B43"/>
                </a:solidFill>
                <a:latin typeface="Liberation Sans"/>
              </a:rPr>
              <a:t>A × 1,024</a:t>
            </a:r>
          </a:p>
        </p:txBody>
      </p:sp>
      <p:cxnSp>
        <p:nvCxnSpPr>
          <p:cNvPr id="30" name="Connector 29"/>
          <p:cNvCxnSpPr/>
          <p:nvPr/>
        </p:nvCxnSpPr>
        <p:spPr>
          <a:xfrm>
            <a:off x="9372600" y="2514600"/>
            <a:ext cx="0" cy="210312"/>
          </a:xfrm>
          <a:prstGeom prst="line">
            <a:avLst/>
          </a:prstGeom>
          <a:ln w="17780">
            <a:solidFill>
              <a:srgbClr val="617286"/>
            </a:solidFill>
            <a:tailEnd type="triangle" w="sm" len="sm"/>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10789920" y="2011680"/>
            <a:ext cx="2286000" cy="502920"/>
          </a:xfrm>
          <a:prstGeom prst="roundRect">
            <a:avLst>
              <a:gd name="adj" fmla="val 10000"/>
            </a:avLst>
          </a:prstGeom>
          <a:solidFill>
            <a:srgbClr val="FFFFFF"/>
          </a:solidFill>
          <a:ln w="14604">
            <a:solidFill>
              <a:srgbClr val="087E8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821924" y="2025396"/>
            <a:ext cx="2221992" cy="475488"/>
          </a:xfrm>
          <a:prstGeom prst="rect">
            <a:avLst/>
          </a:prstGeom>
          <a:noFill/>
        </p:spPr>
        <p:txBody>
          <a:bodyPr wrap="square" lIns="54864" rIns="54864" tIns="18288" bIns="18288" anchor="ctr">
            <a:spAutoFit/>
          </a:bodyPr>
          <a:lstStyle/>
          <a:p>
            <a:pPr algn="ctr">
              <a:spcAft>
                <a:spcPts val="200"/>
              </a:spcAft>
            </a:pPr>
            <a:r>
              <a:rPr sz="1900" b="1">
                <a:solidFill>
                  <a:srgbClr val="142B43"/>
                </a:solidFill>
                <a:latin typeface="Liberation Sans"/>
              </a:rPr>
              <a:t>Context</a:t>
            </a:r>
          </a:p>
        </p:txBody>
      </p:sp>
      <p:sp>
        <p:nvSpPr>
          <p:cNvPr id="33" name="Rounded Rectangle 32"/>
          <p:cNvSpPr/>
          <p:nvPr/>
        </p:nvSpPr>
        <p:spPr>
          <a:xfrm>
            <a:off x="10789920" y="2724912"/>
            <a:ext cx="2286000" cy="585216"/>
          </a:xfrm>
          <a:prstGeom prst="roundRect">
            <a:avLst>
              <a:gd name="adj" fmla="val 10000"/>
            </a:avLst>
          </a:prstGeom>
          <a:solidFill>
            <a:srgbClr val="F0F3F6"/>
          </a:solidFill>
          <a:ln w="14604">
            <a:solidFill>
              <a:srgbClr val="AAB9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821924" y="2738628"/>
            <a:ext cx="2221992" cy="557784"/>
          </a:xfrm>
          <a:prstGeom prst="rect">
            <a:avLst/>
          </a:prstGeom>
          <a:noFill/>
        </p:spPr>
        <p:txBody>
          <a:bodyPr wrap="square" lIns="54864" rIns="54864" tIns="18288" bIns="18288" anchor="ctr">
            <a:spAutoFit/>
          </a:bodyPr>
          <a:lstStyle/>
          <a:p>
            <a:pPr algn="ctr">
              <a:spcAft>
                <a:spcPts val="200"/>
              </a:spcAft>
            </a:pPr>
            <a:r>
              <a:rPr sz="1800" b="0">
                <a:solidFill>
                  <a:srgbClr val="142B43"/>
                </a:solidFill>
                <a:latin typeface="Liberation Sans"/>
              </a:rPr>
              <a:t>BGE  [frozen]</a:t>
            </a:r>
          </a:p>
          <a:p>
            <a:pPr algn="ctr">
              <a:spcAft>
                <a:spcPts val="200"/>
              </a:spcAft>
            </a:pPr>
            <a:r>
              <a:rPr sz="1800" b="0">
                <a:solidFill>
                  <a:srgbClr val="142B43"/>
                </a:solidFill>
                <a:latin typeface="Liberation Sans"/>
              </a:rPr>
              <a:t>1,024</a:t>
            </a:r>
          </a:p>
        </p:txBody>
      </p:sp>
      <p:cxnSp>
        <p:nvCxnSpPr>
          <p:cNvPr id="35" name="Connector 34"/>
          <p:cNvCxnSpPr/>
          <p:nvPr/>
        </p:nvCxnSpPr>
        <p:spPr>
          <a:xfrm>
            <a:off x="11932920" y="2514600"/>
            <a:ext cx="0" cy="210312"/>
          </a:xfrm>
          <a:prstGeom prst="line">
            <a:avLst/>
          </a:prstGeom>
          <a:ln w="17780">
            <a:solidFill>
              <a:srgbClr val="617286"/>
            </a:solidFill>
            <a:tailEnd type="triangle" w="sm" len="sm"/>
          </a:ln>
        </p:spPr>
        <p:style>
          <a:lnRef idx="2">
            <a:schemeClr val="accent1"/>
          </a:lnRef>
          <a:fillRef idx="0">
            <a:schemeClr val="accent1"/>
          </a:fillRef>
          <a:effectRef idx="1">
            <a:schemeClr val="accent1"/>
          </a:effectRef>
          <a:fontRef idx="minor">
            <a:schemeClr val="tx1"/>
          </a:fontRef>
        </p:style>
      </p:cxnSp>
      <p:sp>
        <p:nvSpPr>
          <p:cNvPr id="36" name="Rounded Rectangle 35"/>
          <p:cNvSpPr/>
          <p:nvPr/>
        </p:nvSpPr>
        <p:spPr>
          <a:xfrm>
            <a:off x="13350240" y="2011680"/>
            <a:ext cx="2286000" cy="502920"/>
          </a:xfrm>
          <a:prstGeom prst="roundRect">
            <a:avLst>
              <a:gd name="adj" fmla="val 10000"/>
            </a:avLst>
          </a:prstGeom>
          <a:solidFill>
            <a:srgbClr val="FFFFFF"/>
          </a:solidFill>
          <a:ln w="14604">
            <a:solidFill>
              <a:srgbClr val="087E8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3382244" y="2025396"/>
            <a:ext cx="2221992" cy="475488"/>
          </a:xfrm>
          <a:prstGeom prst="rect">
            <a:avLst/>
          </a:prstGeom>
          <a:noFill/>
        </p:spPr>
        <p:txBody>
          <a:bodyPr wrap="square" lIns="54864" rIns="54864" tIns="18288" bIns="18288" anchor="ctr">
            <a:spAutoFit/>
          </a:bodyPr>
          <a:lstStyle/>
          <a:p>
            <a:pPr algn="ctr">
              <a:spcAft>
                <a:spcPts val="200"/>
              </a:spcAft>
            </a:pPr>
            <a:r>
              <a:rPr sz="1900" b="1">
                <a:solidFill>
                  <a:srgbClr val="142B43"/>
                </a:solidFill>
                <a:latin typeface="Liberation Sans"/>
              </a:rPr>
              <a:t>Title</a:t>
            </a:r>
          </a:p>
        </p:txBody>
      </p:sp>
      <p:sp>
        <p:nvSpPr>
          <p:cNvPr id="38" name="Rounded Rectangle 37"/>
          <p:cNvSpPr/>
          <p:nvPr/>
        </p:nvSpPr>
        <p:spPr>
          <a:xfrm>
            <a:off x="13350240" y="2724912"/>
            <a:ext cx="2286000" cy="585216"/>
          </a:xfrm>
          <a:prstGeom prst="roundRect">
            <a:avLst>
              <a:gd name="adj" fmla="val 10000"/>
            </a:avLst>
          </a:prstGeom>
          <a:solidFill>
            <a:srgbClr val="F0F3F6"/>
          </a:solidFill>
          <a:ln w="14604">
            <a:solidFill>
              <a:srgbClr val="AAB9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3382244" y="2738628"/>
            <a:ext cx="2221992" cy="557784"/>
          </a:xfrm>
          <a:prstGeom prst="rect">
            <a:avLst/>
          </a:prstGeom>
          <a:noFill/>
        </p:spPr>
        <p:txBody>
          <a:bodyPr wrap="square" lIns="54864" rIns="54864" tIns="18288" bIns="18288" anchor="ctr">
            <a:spAutoFit/>
          </a:bodyPr>
          <a:lstStyle/>
          <a:p>
            <a:pPr algn="ctr">
              <a:spcAft>
                <a:spcPts val="200"/>
              </a:spcAft>
            </a:pPr>
            <a:r>
              <a:rPr sz="1800" b="0">
                <a:solidFill>
                  <a:srgbClr val="142B43"/>
                </a:solidFill>
                <a:latin typeface="Liberation Sans"/>
              </a:rPr>
              <a:t>BGE  [frozen]</a:t>
            </a:r>
          </a:p>
          <a:p>
            <a:pPr algn="ctr">
              <a:spcAft>
                <a:spcPts val="200"/>
              </a:spcAft>
            </a:pPr>
            <a:r>
              <a:rPr sz="1800" b="0">
                <a:solidFill>
                  <a:srgbClr val="142B43"/>
                </a:solidFill>
                <a:latin typeface="Liberation Sans"/>
              </a:rPr>
              <a:t>1,024</a:t>
            </a:r>
          </a:p>
        </p:txBody>
      </p:sp>
      <p:cxnSp>
        <p:nvCxnSpPr>
          <p:cNvPr id="40" name="Connector 39"/>
          <p:cNvCxnSpPr/>
          <p:nvPr/>
        </p:nvCxnSpPr>
        <p:spPr>
          <a:xfrm>
            <a:off x="14493240" y="2514600"/>
            <a:ext cx="0" cy="210312"/>
          </a:xfrm>
          <a:prstGeom prst="line">
            <a:avLst/>
          </a:prstGeom>
          <a:ln w="17780">
            <a:solidFill>
              <a:srgbClr val="617286"/>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6812280" y="3310128"/>
            <a:ext cx="0" cy="228600"/>
          </a:xfrm>
          <a:prstGeom prst="line">
            <a:avLst/>
          </a:prstGeom>
          <a:ln w="17780">
            <a:solidFill>
              <a:srgbClr val="087E83"/>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9372600" y="3310128"/>
            <a:ext cx="0" cy="228600"/>
          </a:xfrm>
          <a:prstGeom prst="line">
            <a:avLst/>
          </a:prstGeom>
          <a:ln w="17780">
            <a:solidFill>
              <a:srgbClr val="087E83"/>
            </a:solidFill>
            <a:tailEnd type="triangle" w="sm" len="sm"/>
          </a:ln>
        </p:spPr>
        <p:style>
          <a:lnRef idx="2">
            <a:schemeClr val="accent1"/>
          </a:lnRef>
          <a:fillRef idx="0">
            <a:schemeClr val="accent1"/>
          </a:fillRef>
          <a:effectRef idx="1">
            <a:schemeClr val="accent1"/>
          </a:effectRef>
          <a:fontRef idx="minor">
            <a:schemeClr val="tx1"/>
          </a:fontRef>
        </p:style>
      </p:cxnSp>
      <p:sp>
        <p:nvSpPr>
          <p:cNvPr id="43" name="Rounded Rectangle 42"/>
          <p:cNvSpPr/>
          <p:nvPr/>
        </p:nvSpPr>
        <p:spPr>
          <a:xfrm>
            <a:off x="5669280" y="3538728"/>
            <a:ext cx="4846320" cy="667512"/>
          </a:xfrm>
          <a:prstGeom prst="roundRect">
            <a:avLst>
              <a:gd name="adj" fmla="val 10000"/>
            </a:avLst>
          </a:prstGeom>
          <a:solidFill>
            <a:srgbClr val="FFFFFF"/>
          </a:solidFill>
          <a:ln w="14604">
            <a:solidFill>
              <a:srgbClr val="087E8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701284" y="3552444"/>
            <a:ext cx="4782312" cy="640080"/>
          </a:xfrm>
          <a:prstGeom prst="rect">
            <a:avLst/>
          </a:prstGeom>
          <a:noFill/>
        </p:spPr>
        <p:txBody>
          <a:bodyPr wrap="square" lIns="54864" rIns="54864" tIns="18288" bIns="18288" anchor="ctr">
            <a:spAutoFit/>
          </a:bodyPr>
          <a:lstStyle/>
          <a:p>
            <a:pPr algn="ctr">
              <a:spcAft>
                <a:spcPts val="200"/>
              </a:spcAft>
            </a:pPr>
            <a:r>
              <a:rPr sz="1800" b="0">
                <a:solidFill>
                  <a:srgbClr val="142B43"/>
                </a:solidFill>
                <a:latin typeface="Liberation Sans"/>
              </a:rPr>
              <a:t>Shared projection: 1,024 → 128</a:t>
            </a:r>
          </a:p>
          <a:p>
            <a:pPr algn="ctr">
              <a:spcAft>
                <a:spcPts val="200"/>
              </a:spcAft>
            </a:pPr>
            <a:r>
              <a:rPr sz="1800" b="0">
                <a:solidFill>
                  <a:srgbClr val="142B43"/>
                </a:solidFill>
                <a:latin typeface="Liberation Sans"/>
              </a:rPr>
              <a:t>+ entity / action node-type embedding</a:t>
            </a:r>
          </a:p>
        </p:txBody>
      </p:sp>
      <p:sp>
        <p:nvSpPr>
          <p:cNvPr id="45" name="Rounded Rectangle 44"/>
          <p:cNvSpPr/>
          <p:nvPr/>
        </p:nvSpPr>
        <p:spPr>
          <a:xfrm>
            <a:off x="10789920" y="3538728"/>
            <a:ext cx="2286000" cy="667512"/>
          </a:xfrm>
          <a:prstGeom prst="roundRect">
            <a:avLst>
              <a:gd name="adj" fmla="val 10000"/>
            </a:avLst>
          </a:prstGeom>
          <a:solidFill>
            <a:srgbClr val="FFFFFF"/>
          </a:solidFill>
          <a:ln w="14604">
            <a:solidFill>
              <a:srgbClr val="087E8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0821924" y="3552444"/>
            <a:ext cx="2221992" cy="640080"/>
          </a:xfrm>
          <a:prstGeom prst="rect">
            <a:avLst/>
          </a:prstGeom>
          <a:noFill/>
        </p:spPr>
        <p:txBody>
          <a:bodyPr wrap="square" lIns="54864" rIns="54864" tIns="18288" bIns="18288" anchor="ctr">
            <a:spAutoFit/>
          </a:bodyPr>
          <a:lstStyle/>
          <a:p>
            <a:pPr algn="ctr">
              <a:spcAft>
                <a:spcPts val="200"/>
              </a:spcAft>
            </a:pPr>
            <a:r>
              <a:rPr sz="1800" b="0">
                <a:solidFill>
                  <a:srgbClr val="142B43"/>
                </a:solidFill>
                <a:latin typeface="Liberation Sans"/>
              </a:rPr>
              <a:t>Projection</a:t>
            </a:r>
          </a:p>
          <a:p>
            <a:pPr algn="ctr">
              <a:spcAft>
                <a:spcPts val="200"/>
              </a:spcAft>
            </a:pPr>
            <a:r>
              <a:rPr sz="1800" b="0">
                <a:solidFill>
                  <a:srgbClr val="142B43"/>
                </a:solidFill>
                <a:latin typeface="Liberation Sans"/>
              </a:rPr>
              <a:t>1,024 → 128</a:t>
            </a:r>
          </a:p>
        </p:txBody>
      </p:sp>
      <p:sp>
        <p:nvSpPr>
          <p:cNvPr id="47" name="Rounded Rectangle 46"/>
          <p:cNvSpPr/>
          <p:nvPr/>
        </p:nvSpPr>
        <p:spPr>
          <a:xfrm>
            <a:off x="13350240" y="3538728"/>
            <a:ext cx="2286000" cy="667512"/>
          </a:xfrm>
          <a:prstGeom prst="roundRect">
            <a:avLst>
              <a:gd name="adj" fmla="val 10000"/>
            </a:avLst>
          </a:prstGeom>
          <a:solidFill>
            <a:srgbClr val="FFFFFF"/>
          </a:solidFill>
          <a:ln w="14604">
            <a:solidFill>
              <a:srgbClr val="087E8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3382244" y="3552444"/>
            <a:ext cx="2221992" cy="640080"/>
          </a:xfrm>
          <a:prstGeom prst="rect">
            <a:avLst/>
          </a:prstGeom>
          <a:noFill/>
        </p:spPr>
        <p:txBody>
          <a:bodyPr wrap="square" lIns="54864" rIns="54864" tIns="18288" bIns="18288" anchor="ctr">
            <a:spAutoFit/>
          </a:bodyPr>
          <a:lstStyle/>
          <a:p>
            <a:pPr algn="ctr">
              <a:spcAft>
                <a:spcPts val="200"/>
              </a:spcAft>
            </a:pPr>
            <a:r>
              <a:rPr sz="1800" b="0">
                <a:solidFill>
                  <a:srgbClr val="142B43"/>
                </a:solidFill>
                <a:latin typeface="Liberation Sans"/>
              </a:rPr>
              <a:t>Projection</a:t>
            </a:r>
          </a:p>
          <a:p>
            <a:pPr algn="ctr">
              <a:spcAft>
                <a:spcPts val="200"/>
              </a:spcAft>
            </a:pPr>
            <a:r>
              <a:rPr sz="1800" b="0">
                <a:solidFill>
                  <a:srgbClr val="142B43"/>
                </a:solidFill>
                <a:latin typeface="Liberation Sans"/>
              </a:rPr>
              <a:t>1,024 → 128</a:t>
            </a:r>
          </a:p>
        </p:txBody>
      </p:sp>
      <p:cxnSp>
        <p:nvCxnSpPr>
          <p:cNvPr id="49" name="Connector 48"/>
          <p:cNvCxnSpPr/>
          <p:nvPr/>
        </p:nvCxnSpPr>
        <p:spPr>
          <a:xfrm>
            <a:off x="11932920" y="3310128"/>
            <a:ext cx="0" cy="228600"/>
          </a:xfrm>
          <a:prstGeom prst="line">
            <a:avLst/>
          </a:prstGeom>
          <a:ln w="17780">
            <a:solidFill>
              <a:srgbClr val="087E83"/>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14493240" y="3310128"/>
            <a:ext cx="0" cy="228600"/>
          </a:xfrm>
          <a:prstGeom prst="line">
            <a:avLst/>
          </a:prstGeom>
          <a:ln w="17780">
            <a:solidFill>
              <a:srgbClr val="087E83"/>
            </a:solidFill>
            <a:tailEnd type="triangle" w="sm" len="sm"/>
          </a:ln>
        </p:spPr>
        <p:style>
          <a:lnRef idx="2">
            <a:schemeClr val="accent1"/>
          </a:lnRef>
          <a:fillRef idx="0">
            <a:schemeClr val="accent1"/>
          </a:fillRef>
          <a:effectRef idx="1">
            <a:schemeClr val="accent1"/>
          </a:effectRef>
          <a:fontRef idx="minor">
            <a:schemeClr val="tx1"/>
          </a:fontRef>
        </p:style>
      </p:cxnSp>
      <p:sp>
        <p:nvSpPr>
          <p:cNvPr id="51" name="Rounded Rectangle 50"/>
          <p:cNvSpPr/>
          <p:nvPr/>
        </p:nvSpPr>
        <p:spPr>
          <a:xfrm>
            <a:off x="5669280" y="4462272"/>
            <a:ext cx="4846320" cy="667512"/>
          </a:xfrm>
          <a:prstGeom prst="roundRect">
            <a:avLst>
              <a:gd name="adj" fmla="val 10000"/>
            </a:avLst>
          </a:prstGeom>
          <a:solidFill>
            <a:srgbClr val="FFFFFF"/>
          </a:solidFill>
          <a:ln w="14604">
            <a:solidFill>
              <a:srgbClr val="087E8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701284" y="4475988"/>
            <a:ext cx="4782312" cy="640080"/>
          </a:xfrm>
          <a:prstGeom prst="rect">
            <a:avLst/>
          </a:prstGeom>
          <a:noFill/>
        </p:spPr>
        <p:txBody>
          <a:bodyPr wrap="square" lIns="54864" rIns="54864" tIns="18288" bIns="18288" anchor="ctr">
            <a:spAutoFit/>
          </a:bodyPr>
          <a:lstStyle/>
          <a:p>
            <a:pPr algn="ctr">
              <a:spcAft>
                <a:spcPts val="200"/>
              </a:spcAft>
            </a:pPr>
            <a:r>
              <a:rPr sz="1800" b="1">
                <a:solidFill>
                  <a:srgbClr val="142B43"/>
                </a:solidFill>
                <a:latin typeface="Liberation Sans"/>
              </a:rPr>
              <a:t>Role Graph Encoder</a:t>
            </a:r>
          </a:p>
          <a:p>
            <a:pPr algn="ctr">
              <a:spcAft>
                <a:spcPts val="200"/>
              </a:spcAft>
            </a:pPr>
            <a:r>
              <a:rPr sz="1800" b="1">
                <a:solidFill>
                  <a:srgbClr val="142B43"/>
                </a:solidFill>
                <a:latin typeface="Liberation Sans"/>
              </a:rPr>
              <a:t>1 layer · hidden 128</a:t>
            </a:r>
          </a:p>
        </p:txBody>
      </p:sp>
      <p:cxnSp>
        <p:nvCxnSpPr>
          <p:cNvPr id="53" name="Connector 52"/>
          <p:cNvCxnSpPr/>
          <p:nvPr/>
        </p:nvCxnSpPr>
        <p:spPr>
          <a:xfrm>
            <a:off x="8092440" y="4206240"/>
            <a:ext cx="0" cy="256032"/>
          </a:xfrm>
          <a:prstGeom prst="line">
            <a:avLst/>
          </a:prstGeom>
          <a:ln w="17780">
            <a:solidFill>
              <a:srgbClr val="087E83"/>
            </a:solidFill>
            <a:tailEnd type="triangle" w="sm" len="sm"/>
          </a:ln>
        </p:spPr>
        <p:style>
          <a:lnRef idx="2">
            <a:schemeClr val="accent1"/>
          </a:lnRef>
          <a:fillRef idx="0">
            <a:schemeClr val="accent1"/>
          </a:fillRef>
          <a:effectRef idx="1">
            <a:schemeClr val="accent1"/>
          </a:effectRef>
          <a:fontRef idx="minor">
            <a:schemeClr val="tx1"/>
          </a:fontRef>
        </p:style>
      </p:cxnSp>
      <p:sp>
        <p:nvSpPr>
          <p:cNvPr id="54" name="Rounded Rectangle 53"/>
          <p:cNvSpPr/>
          <p:nvPr/>
        </p:nvSpPr>
        <p:spPr>
          <a:xfrm>
            <a:off x="13350240" y="4462272"/>
            <a:ext cx="2286000" cy="667512"/>
          </a:xfrm>
          <a:prstGeom prst="roundRect">
            <a:avLst>
              <a:gd name="adj" fmla="val 10000"/>
            </a:avLst>
          </a:prstGeom>
          <a:solidFill>
            <a:srgbClr val="FFFFFF"/>
          </a:solidFill>
          <a:ln w="14604">
            <a:solidFill>
              <a:srgbClr val="087E8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13382244" y="4475988"/>
            <a:ext cx="2221992" cy="640080"/>
          </a:xfrm>
          <a:prstGeom prst="rect">
            <a:avLst/>
          </a:prstGeom>
          <a:noFill/>
        </p:spPr>
        <p:txBody>
          <a:bodyPr wrap="square" lIns="54864" rIns="54864" tIns="18288" bIns="18288" anchor="ctr">
            <a:spAutoFit/>
          </a:bodyPr>
          <a:lstStyle/>
          <a:p>
            <a:pPr algn="ctr">
              <a:spcAft>
                <a:spcPts val="200"/>
              </a:spcAft>
            </a:pPr>
            <a:r>
              <a:rPr sz="1800" b="0">
                <a:solidFill>
                  <a:srgbClr val="142B43"/>
                </a:solidFill>
                <a:latin typeface="Liberation Sans"/>
              </a:rPr>
              <a:t>LayerNorm</a:t>
            </a:r>
          </a:p>
          <a:p>
            <a:pPr algn="ctr">
              <a:spcAft>
                <a:spcPts val="200"/>
              </a:spcAft>
            </a:pPr>
            <a:r>
              <a:rPr sz="1800" b="0">
                <a:solidFill>
                  <a:srgbClr val="142B43"/>
                </a:solidFill>
                <a:latin typeface="Liberation Sans"/>
              </a:rPr>
              <a:t>Title: 128</a:t>
            </a:r>
          </a:p>
        </p:txBody>
      </p:sp>
      <p:cxnSp>
        <p:nvCxnSpPr>
          <p:cNvPr id="56" name="Connector 55"/>
          <p:cNvCxnSpPr/>
          <p:nvPr/>
        </p:nvCxnSpPr>
        <p:spPr>
          <a:xfrm>
            <a:off x="14493240" y="4206240"/>
            <a:ext cx="0" cy="256032"/>
          </a:xfrm>
          <a:prstGeom prst="line">
            <a:avLst/>
          </a:prstGeom>
          <a:ln w="17780">
            <a:solidFill>
              <a:srgbClr val="087E83"/>
            </a:solidFill>
            <a:tailEnd type="triangle" w="sm" len="sm"/>
          </a:ln>
        </p:spPr>
        <p:style>
          <a:lnRef idx="2">
            <a:schemeClr val="accent1"/>
          </a:lnRef>
          <a:fillRef idx="0">
            <a:schemeClr val="accent1"/>
          </a:fillRef>
          <a:effectRef idx="1">
            <a:schemeClr val="accent1"/>
          </a:effectRef>
          <a:fontRef idx="minor">
            <a:schemeClr val="tx1"/>
          </a:fontRef>
        </p:style>
      </p:cxnSp>
      <p:sp>
        <p:nvSpPr>
          <p:cNvPr id="57" name="Rounded Rectangle 56"/>
          <p:cNvSpPr/>
          <p:nvPr/>
        </p:nvSpPr>
        <p:spPr>
          <a:xfrm>
            <a:off x="5669280" y="5394960"/>
            <a:ext cx="2286000" cy="502920"/>
          </a:xfrm>
          <a:prstGeom prst="roundRect">
            <a:avLst>
              <a:gd name="adj" fmla="val 10000"/>
            </a:avLst>
          </a:prstGeom>
          <a:solidFill>
            <a:srgbClr val="FFFFFF"/>
          </a:solidFill>
          <a:ln w="14604">
            <a:solidFill>
              <a:srgbClr val="087E8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5701284" y="5408676"/>
            <a:ext cx="2221992" cy="475488"/>
          </a:xfrm>
          <a:prstGeom prst="rect">
            <a:avLst/>
          </a:prstGeom>
          <a:noFill/>
        </p:spPr>
        <p:txBody>
          <a:bodyPr wrap="square" lIns="54864" rIns="54864" tIns="18288" bIns="18288" anchor="ctr">
            <a:spAutoFit/>
          </a:bodyPr>
          <a:lstStyle/>
          <a:p>
            <a:pPr algn="ctr">
              <a:spcAft>
                <a:spcPts val="200"/>
              </a:spcAft>
            </a:pPr>
            <a:r>
              <a:rPr sz="1700" b="0">
                <a:solidFill>
                  <a:srgbClr val="142B43"/>
                </a:solidFill>
                <a:latin typeface="Liberation Sans"/>
              </a:rPr>
              <a:t>Entity mean: 128</a:t>
            </a:r>
          </a:p>
        </p:txBody>
      </p:sp>
      <p:sp>
        <p:nvSpPr>
          <p:cNvPr id="59" name="Rounded Rectangle 58"/>
          <p:cNvSpPr/>
          <p:nvPr/>
        </p:nvSpPr>
        <p:spPr>
          <a:xfrm>
            <a:off x="8229600" y="5394960"/>
            <a:ext cx="2286000" cy="502920"/>
          </a:xfrm>
          <a:prstGeom prst="roundRect">
            <a:avLst>
              <a:gd name="adj" fmla="val 10000"/>
            </a:avLst>
          </a:prstGeom>
          <a:solidFill>
            <a:srgbClr val="FFFFFF"/>
          </a:solidFill>
          <a:ln w="14604">
            <a:solidFill>
              <a:srgbClr val="087E8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8261604" y="5408676"/>
            <a:ext cx="2221992" cy="475488"/>
          </a:xfrm>
          <a:prstGeom prst="rect">
            <a:avLst/>
          </a:prstGeom>
          <a:noFill/>
        </p:spPr>
        <p:txBody>
          <a:bodyPr wrap="square" lIns="54864" rIns="54864" tIns="18288" bIns="18288" anchor="ctr">
            <a:spAutoFit/>
          </a:bodyPr>
          <a:lstStyle/>
          <a:p>
            <a:pPr algn="ctr">
              <a:spcAft>
                <a:spcPts val="200"/>
              </a:spcAft>
            </a:pPr>
            <a:r>
              <a:rPr sz="1700" b="0">
                <a:solidFill>
                  <a:srgbClr val="142B43"/>
                </a:solidFill>
                <a:latin typeface="Liberation Sans"/>
              </a:rPr>
              <a:t>Action mean: 128</a:t>
            </a:r>
          </a:p>
        </p:txBody>
      </p:sp>
      <p:cxnSp>
        <p:nvCxnSpPr>
          <p:cNvPr id="61" name="Connector 60"/>
          <p:cNvCxnSpPr/>
          <p:nvPr/>
        </p:nvCxnSpPr>
        <p:spPr>
          <a:xfrm>
            <a:off x="6812280" y="5129784"/>
            <a:ext cx="0" cy="265176"/>
          </a:xfrm>
          <a:prstGeom prst="line">
            <a:avLst/>
          </a:prstGeom>
          <a:ln w="17780">
            <a:solidFill>
              <a:srgbClr val="087E83"/>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a:off x="9372600" y="5129784"/>
            <a:ext cx="0" cy="265176"/>
          </a:xfrm>
          <a:prstGeom prst="line">
            <a:avLst/>
          </a:prstGeom>
          <a:ln w="17780">
            <a:solidFill>
              <a:srgbClr val="087E83"/>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a:off x="6812280" y="5897880"/>
            <a:ext cx="0" cy="155448"/>
          </a:xfrm>
          <a:prstGeom prst="line">
            <a:avLst/>
          </a:prstGeom>
          <a:ln w="17780">
            <a:solidFill>
              <a:srgbClr val="087E83"/>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a:off x="6812280" y="6053328"/>
            <a:ext cx="2514600" cy="0"/>
          </a:xfrm>
          <a:prstGeom prst="line">
            <a:avLst/>
          </a:prstGeom>
          <a:ln w="17780">
            <a:solidFill>
              <a:srgbClr val="087E83"/>
            </a:solidFill>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a:off x="9372600" y="5897880"/>
            <a:ext cx="0" cy="155448"/>
          </a:xfrm>
          <a:prstGeom prst="line">
            <a:avLst/>
          </a:prstGeom>
          <a:ln w="17780">
            <a:solidFill>
              <a:srgbClr val="087E83"/>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a:off x="11932920" y="4206240"/>
            <a:ext cx="0" cy="1847088"/>
          </a:xfrm>
          <a:prstGeom prst="line">
            <a:avLst/>
          </a:prstGeom>
          <a:ln w="17780">
            <a:solidFill>
              <a:srgbClr val="087E83"/>
            </a:solidFill>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flipH="1">
            <a:off x="9326880" y="6053328"/>
            <a:ext cx="2606040" cy="0"/>
          </a:xfrm>
          <a:prstGeom prst="line">
            <a:avLst/>
          </a:prstGeom>
          <a:ln w="17780">
            <a:solidFill>
              <a:srgbClr val="087E83"/>
            </a:solidFill>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a:off x="9326880" y="6053328"/>
            <a:ext cx="0" cy="164592"/>
          </a:xfrm>
          <a:prstGeom prst="line">
            <a:avLst/>
          </a:prstGeom>
          <a:ln w="17780">
            <a:solidFill>
              <a:srgbClr val="087E83"/>
            </a:solidFill>
            <a:tailEnd type="triangle" w="sm" len="sm"/>
          </a:ln>
        </p:spPr>
        <p:style>
          <a:lnRef idx="2">
            <a:schemeClr val="accent1"/>
          </a:lnRef>
          <a:fillRef idx="0">
            <a:schemeClr val="accent1"/>
          </a:fillRef>
          <a:effectRef idx="1">
            <a:schemeClr val="accent1"/>
          </a:effectRef>
          <a:fontRef idx="minor">
            <a:schemeClr val="tx1"/>
          </a:fontRef>
        </p:style>
      </p:cxnSp>
      <p:sp>
        <p:nvSpPr>
          <p:cNvPr id="69" name="Rounded Rectangle 68"/>
          <p:cNvSpPr/>
          <p:nvPr/>
        </p:nvSpPr>
        <p:spPr>
          <a:xfrm>
            <a:off x="6263640" y="6217920"/>
            <a:ext cx="6126480" cy="521207"/>
          </a:xfrm>
          <a:prstGeom prst="roundRect">
            <a:avLst>
              <a:gd name="adj" fmla="val 10000"/>
            </a:avLst>
          </a:prstGeom>
          <a:solidFill>
            <a:srgbClr val="FFFFFF"/>
          </a:solidFill>
          <a:ln w="14604">
            <a:solidFill>
              <a:srgbClr val="087E8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6295644" y="6231636"/>
            <a:ext cx="6062472" cy="493775"/>
          </a:xfrm>
          <a:prstGeom prst="rect">
            <a:avLst/>
          </a:prstGeom>
          <a:noFill/>
        </p:spPr>
        <p:txBody>
          <a:bodyPr wrap="square" lIns="54864" rIns="54864" tIns="18288" bIns="18288" anchor="ctr">
            <a:spAutoFit/>
          </a:bodyPr>
          <a:lstStyle/>
          <a:p>
            <a:pPr algn="ctr">
              <a:spcAft>
                <a:spcPts val="200"/>
              </a:spcAft>
            </a:pPr>
            <a:r>
              <a:rPr sz="1800" b="0">
                <a:solidFill>
                  <a:srgbClr val="142B43"/>
                </a:solidFill>
                <a:latin typeface="Liberation Sans"/>
              </a:rPr>
              <a:t>Concat + LayerNorm: 384  [Entity; Action; Context]</a:t>
            </a:r>
          </a:p>
        </p:txBody>
      </p:sp>
      <p:sp>
        <p:nvSpPr>
          <p:cNvPr id="71" name="Rounded Rectangle 70"/>
          <p:cNvSpPr/>
          <p:nvPr/>
        </p:nvSpPr>
        <p:spPr>
          <a:xfrm>
            <a:off x="6263640" y="6958584"/>
            <a:ext cx="6126480" cy="521207"/>
          </a:xfrm>
          <a:prstGeom prst="roundRect">
            <a:avLst>
              <a:gd name="adj" fmla="val 10000"/>
            </a:avLst>
          </a:prstGeom>
          <a:solidFill>
            <a:srgbClr val="FFFFFF"/>
          </a:solidFill>
          <a:ln w="14604">
            <a:solidFill>
              <a:srgbClr val="087E8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6295644" y="6972300"/>
            <a:ext cx="6062472" cy="493775"/>
          </a:xfrm>
          <a:prstGeom prst="rect">
            <a:avLst/>
          </a:prstGeom>
          <a:noFill/>
        </p:spPr>
        <p:txBody>
          <a:bodyPr wrap="square" lIns="54864" rIns="54864" tIns="18288" bIns="18288" anchor="ctr">
            <a:spAutoFit/>
          </a:bodyPr>
          <a:lstStyle/>
          <a:p>
            <a:pPr algn="ctr">
              <a:spcAft>
                <a:spcPts val="200"/>
              </a:spcAft>
            </a:pPr>
            <a:r>
              <a:rPr sz="1800" b="0">
                <a:solidFill>
                  <a:srgbClr val="142B43"/>
                </a:solidFill>
                <a:latin typeface="Liberation Sans"/>
              </a:rPr>
              <a:t>Scene pooling: mean / attention  •  S × 384 → 384</a:t>
            </a:r>
          </a:p>
        </p:txBody>
      </p:sp>
      <p:cxnSp>
        <p:nvCxnSpPr>
          <p:cNvPr id="73" name="Connector 72"/>
          <p:cNvCxnSpPr/>
          <p:nvPr/>
        </p:nvCxnSpPr>
        <p:spPr>
          <a:xfrm>
            <a:off x="9326880" y="6739128"/>
            <a:ext cx="0" cy="219456"/>
          </a:xfrm>
          <a:prstGeom prst="line">
            <a:avLst/>
          </a:prstGeom>
          <a:ln w="17780">
            <a:solidFill>
              <a:srgbClr val="087E83"/>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a:off x="9326880" y="7479792"/>
            <a:ext cx="0" cy="146304"/>
          </a:xfrm>
          <a:prstGeom prst="line">
            <a:avLst/>
          </a:prstGeom>
          <a:ln w="17780">
            <a:solidFill>
              <a:srgbClr val="087E83"/>
            </a:solidFill>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a:off x="9326880" y="7626096"/>
            <a:ext cx="1234440" cy="0"/>
          </a:xfrm>
          <a:prstGeom prst="line">
            <a:avLst/>
          </a:prstGeom>
          <a:ln w="17780">
            <a:solidFill>
              <a:srgbClr val="087E83"/>
            </a:solidFill>
          </a:ln>
        </p:spPr>
        <p:style>
          <a:lnRef idx="2">
            <a:schemeClr val="accent1"/>
          </a:lnRef>
          <a:fillRef idx="0">
            <a:schemeClr val="accent1"/>
          </a:fillRef>
          <a:effectRef idx="1">
            <a:schemeClr val="accent1"/>
          </a:effectRef>
          <a:fontRef idx="minor">
            <a:schemeClr val="tx1"/>
          </a:fontRef>
        </p:style>
      </p:cxnSp>
      <p:cxnSp>
        <p:nvCxnSpPr>
          <p:cNvPr id="76" name="Connector 75"/>
          <p:cNvCxnSpPr/>
          <p:nvPr/>
        </p:nvCxnSpPr>
        <p:spPr>
          <a:xfrm>
            <a:off x="10561320" y="7626096"/>
            <a:ext cx="0" cy="164592"/>
          </a:xfrm>
          <a:prstGeom prst="line">
            <a:avLst/>
          </a:prstGeom>
          <a:ln w="17780">
            <a:solidFill>
              <a:srgbClr val="087E83"/>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a:off x="14493240" y="5129784"/>
            <a:ext cx="0" cy="2496312"/>
          </a:xfrm>
          <a:prstGeom prst="line">
            <a:avLst/>
          </a:prstGeom>
          <a:ln w="17780">
            <a:solidFill>
              <a:srgbClr val="087E83"/>
            </a:solidFill>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flipH="1">
            <a:off x="10561320" y="7626096"/>
            <a:ext cx="3931920" cy="0"/>
          </a:xfrm>
          <a:prstGeom prst="line">
            <a:avLst/>
          </a:prstGeom>
          <a:ln w="17780">
            <a:solidFill>
              <a:srgbClr val="087E83"/>
            </a:solidFill>
          </a:ln>
        </p:spPr>
        <p:style>
          <a:lnRef idx="2">
            <a:schemeClr val="accent1"/>
          </a:lnRef>
          <a:fillRef idx="0">
            <a:schemeClr val="accent1"/>
          </a:fillRef>
          <a:effectRef idx="1">
            <a:schemeClr val="accent1"/>
          </a:effectRef>
          <a:fontRef idx="minor">
            <a:schemeClr val="tx1"/>
          </a:fontRef>
        </p:style>
      </p:cxnSp>
      <p:sp>
        <p:nvSpPr>
          <p:cNvPr id="79" name="Rounded Rectangle 78"/>
          <p:cNvSpPr/>
          <p:nvPr/>
        </p:nvSpPr>
        <p:spPr>
          <a:xfrm>
            <a:off x="6766560" y="7790688"/>
            <a:ext cx="7589520" cy="585216"/>
          </a:xfrm>
          <a:prstGeom prst="roundRect">
            <a:avLst>
              <a:gd name="adj" fmla="val 10000"/>
            </a:avLst>
          </a:prstGeom>
          <a:solidFill>
            <a:srgbClr val="DDF2ED"/>
          </a:solidFill>
          <a:ln w="14604">
            <a:solidFill>
              <a:srgbClr val="087E8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6798564" y="7804404"/>
            <a:ext cx="7525512" cy="557784"/>
          </a:xfrm>
          <a:prstGeom prst="rect">
            <a:avLst/>
          </a:prstGeom>
          <a:noFill/>
        </p:spPr>
        <p:txBody>
          <a:bodyPr wrap="square" lIns="54864" rIns="54864" tIns="18288" bIns="18288" anchor="ctr">
            <a:spAutoFit/>
          </a:bodyPr>
          <a:lstStyle/>
          <a:p>
            <a:pPr algn="ctr">
              <a:spcAft>
                <a:spcPts val="200"/>
              </a:spcAft>
            </a:pPr>
            <a:r>
              <a:rPr sz="1900" b="1">
                <a:solidFill>
                  <a:srgbClr val="142B43"/>
                </a:solidFill>
                <a:latin typeface="Liberation Sans"/>
              </a:rPr>
              <a:t>[Title 128; Video 384] = 512  →  Residual MLP 512</a:t>
            </a:r>
          </a:p>
        </p:txBody>
      </p:sp>
      <p:cxnSp>
        <p:nvCxnSpPr>
          <p:cNvPr id="81" name="Connector 80"/>
          <p:cNvCxnSpPr/>
          <p:nvPr/>
        </p:nvCxnSpPr>
        <p:spPr>
          <a:xfrm>
            <a:off x="2784348" y="7909560"/>
            <a:ext cx="0" cy="1024128"/>
          </a:xfrm>
          <a:prstGeom prst="line">
            <a:avLst/>
          </a:prstGeom>
          <a:ln w="17780">
            <a:solidFill>
              <a:srgbClr val="2864B7"/>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a:off x="10561320" y="8375904"/>
            <a:ext cx="0" cy="557784"/>
          </a:xfrm>
          <a:prstGeom prst="line">
            <a:avLst/>
          </a:prstGeom>
          <a:ln w="17780">
            <a:solidFill>
              <a:srgbClr val="087E83"/>
            </a:solidFill>
            <a:tailEnd type="triangle" w="sm" len="sm"/>
          </a:ln>
        </p:spPr>
        <p:style>
          <a:lnRef idx="2">
            <a:schemeClr val="accent1"/>
          </a:lnRef>
          <a:fillRef idx="0">
            <a:schemeClr val="accent1"/>
          </a:fillRef>
          <a:effectRef idx="1">
            <a:schemeClr val="accent1"/>
          </a:effectRef>
          <a:fontRef idx="minor">
            <a:schemeClr val="tx1"/>
          </a:fontRef>
        </p:style>
      </p:cxnSp>
      <p:sp>
        <p:nvSpPr>
          <p:cNvPr id="83" name="Rounded Rectangle 82"/>
          <p:cNvSpPr/>
          <p:nvPr/>
        </p:nvSpPr>
        <p:spPr>
          <a:xfrm>
            <a:off x="502920" y="8933688"/>
            <a:ext cx="15453359" cy="1865376"/>
          </a:xfrm>
          <a:prstGeom prst="roundRect">
            <a:avLst>
              <a:gd name="adj" fmla="val 10000"/>
            </a:avLst>
          </a:prstGeom>
          <a:solidFill>
            <a:srgbClr val="F6F8FB"/>
          </a:solidFill>
          <a:ln w="14604">
            <a:solidFill>
              <a:srgbClr val="AAB9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534924" y="8947404"/>
            <a:ext cx="15389351" cy="1837944"/>
          </a:xfrm>
          <a:prstGeom prst="rect">
            <a:avLst/>
          </a:prstGeom>
          <a:noFill/>
        </p:spPr>
        <p:txBody>
          <a:bodyPr wrap="square" lIns="54864" rIns="54864" tIns="18288" bIns="18288" anchor="ctr">
            <a:spAutoFit/>
          </a:bodyPr>
          <a:lstStyle/>
          <a:p>
            <a:pPr algn="ctr">
              <a:spcAft>
                <a:spcPts val="200"/>
              </a:spcAft>
            </a:pPr>
          </a:p>
        </p:txBody>
      </p:sp>
      <p:sp>
        <p:nvSpPr>
          <p:cNvPr id="85" name="TextBox 84"/>
          <p:cNvSpPr txBox="1"/>
          <p:nvPr/>
        </p:nvSpPr>
        <p:spPr>
          <a:xfrm>
            <a:off x="777240" y="9052560"/>
            <a:ext cx="14813280" cy="310896"/>
          </a:xfrm>
          <a:prstGeom prst="rect">
            <a:avLst/>
          </a:prstGeom>
          <a:noFill/>
        </p:spPr>
        <p:txBody>
          <a:bodyPr wrap="square" lIns="54864" rIns="54864" tIns="18288" bIns="18288" anchor="ctr">
            <a:spAutoFit/>
          </a:bodyPr>
          <a:lstStyle/>
          <a:p>
            <a:pPr algn="l">
              <a:spcAft>
                <a:spcPts val="200"/>
              </a:spcAft>
            </a:pPr>
            <a:r>
              <a:rPr sz="1600" b="1">
                <a:solidFill>
                  <a:srgbClr val="142B43"/>
                </a:solidFill>
                <a:latin typeface="Liberation Sans"/>
              </a:rPr>
              <a:t>SAME RECOMMENDER ARCHITECTURE  •  Trained independently for each path / arm</a:t>
            </a:r>
          </a:p>
        </p:txBody>
      </p:sp>
      <p:sp>
        <p:nvSpPr>
          <p:cNvPr id="86" name="Rounded Rectangle 85"/>
          <p:cNvSpPr/>
          <p:nvPr/>
        </p:nvSpPr>
        <p:spPr>
          <a:xfrm>
            <a:off x="868680" y="9564624"/>
            <a:ext cx="3017520" cy="704088"/>
          </a:xfrm>
          <a:prstGeom prst="roundRect">
            <a:avLst>
              <a:gd name="adj" fmla="val 10000"/>
            </a:avLst>
          </a:prstGeom>
          <a:solidFill>
            <a:srgbClr val="FFFFFF"/>
          </a:solidFill>
          <a:ln w="14604">
            <a:solidFill>
              <a:srgbClr val="AAB9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900684" y="9578340"/>
            <a:ext cx="2953512" cy="676656"/>
          </a:xfrm>
          <a:prstGeom prst="rect">
            <a:avLst/>
          </a:prstGeom>
          <a:noFill/>
        </p:spPr>
        <p:txBody>
          <a:bodyPr wrap="square" lIns="54864" rIns="54864" tIns="18288" bIns="18288" anchor="ctr">
            <a:spAutoFit/>
          </a:bodyPr>
          <a:lstStyle/>
          <a:p>
            <a:pPr algn="ctr">
              <a:spcAft>
                <a:spcPts val="200"/>
              </a:spcAft>
            </a:pPr>
            <a:r>
              <a:rPr sz="1800" b="0">
                <a:solidFill>
                  <a:srgbClr val="142B43"/>
                </a:solidFill>
                <a:latin typeface="Liberation Sans"/>
              </a:rPr>
              <a:t>Video vectors: 512</a:t>
            </a:r>
          </a:p>
          <a:p>
            <a:pPr algn="ctr">
              <a:spcAft>
                <a:spcPts val="200"/>
              </a:spcAft>
            </a:pPr>
            <a:r>
              <a:rPr sz="1800" b="0">
                <a:solidFill>
                  <a:srgbClr val="142B43"/>
                </a:solidFill>
                <a:latin typeface="Liberation Sans"/>
              </a:rPr>
              <a:t>History: up to 10 × 512</a:t>
            </a:r>
          </a:p>
        </p:txBody>
      </p:sp>
      <p:sp>
        <p:nvSpPr>
          <p:cNvPr id="88" name="Rounded Rectangle 87"/>
          <p:cNvSpPr/>
          <p:nvPr/>
        </p:nvSpPr>
        <p:spPr>
          <a:xfrm>
            <a:off x="4453128" y="9564624"/>
            <a:ext cx="2926080" cy="704088"/>
          </a:xfrm>
          <a:prstGeom prst="roundRect">
            <a:avLst>
              <a:gd name="adj" fmla="val 10000"/>
            </a:avLst>
          </a:prstGeom>
          <a:solidFill>
            <a:srgbClr val="FFFFFF"/>
          </a:solidFill>
          <a:ln w="14604">
            <a:solidFill>
              <a:srgbClr val="AAB9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4485132" y="9578340"/>
            <a:ext cx="2862072" cy="676656"/>
          </a:xfrm>
          <a:prstGeom prst="rect">
            <a:avLst/>
          </a:prstGeom>
          <a:noFill/>
        </p:spPr>
        <p:txBody>
          <a:bodyPr wrap="square" lIns="54864" rIns="54864" tIns="18288" bIns="18288" anchor="ctr">
            <a:spAutoFit/>
          </a:bodyPr>
          <a:lstStyle/>
          <a:p>
            <a:pPr algn="ctr">
              <a:spcAft>
                <a:spcPts val="200"/>
              </a:spcAft>
            </a:pPr>
            <a:r>
              <a:rPr sz="1800" b="0">
                <a:solidFill>
                  <a:srgbClr val="142B43"/>
                </a:solidFill>
                <a:latin typeface="Liberation Sans"/>
              </a:rPr>
              <a:t>SASRec</a:t>
            </a:r>
          </a:p>
          <a:p>
            <a:pPr algn="ctr">
              <a:spcAft>
                <a:spcPts val="200"/>
              </a:spcAft>
            </a:pPr>
            <a:r>
              <a:rPr sz="1800" b="0">
                <a:solidFill>
                  <a:srgbClr val="142B43"/>
                </a:solidFill>
                <a:latin typeface="Liberation Sans"/>
              </a:rPr>
              <a:t>2 blocks · 2 heads · 512</a:t>
            </a:r>
          </a:p>
        </p:txBody>
      </p:sp>
      <p:sp>
        <p:nvSpPr>
          <p:cNvPr id="90" name="Rounded Rectangle 89"/>
          <p:cNvSpPr/>
          <p:nvPr/>
        </p:nvSpPr>
        <p:spPr>
          <a:xfrm>
            <a:off x="7955279" y="9564624"/>
            <a:ext cx="2880360" cy="704088"/>
          </a:xfrm>
          <a:prstGeom prst="roundRect">
            <a:avLst>
              <a:gd name="adj" fmla="val 10000"/>
            </a:avLst>
          </a:prstGeom>
          <a:solidFill>
            <a:srgbClr val="FFFFFF"/>
          </a:solidFill>
          <a:ln w="14604">
            <a:solidFill>
              <a:srgbClr val="AAB9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7987283" y="9578340"/>
            <a:ext cx="2816352" cy="676656"/>
          </a:xfrm>
          <a:prstGeom prst="rect">
            <a:avLst/>
          </a:prstGeom>
          <a:noFill/>
        </p:spPr>
        <p:txBody>
          <a:bodyPr wrap="square" lIns="54864" rIns="54864" tIns="18288" bIns="18288" anchor="ctr">
            <a:spAutoFit/>
          </a:bodyPr>
          <a:lstStyle/>
          <a:p>
            <a:pPr algn="ctr">
              <a:spcAft>
                <a:spcPts val="200"/>
              </a:spcAft>
            </a:pPr>
            <a:r>
              <a:rPr sz="1800" b="0">
                <a:solidFill>
                  <a:srgbClr val="142B43"/>
                </a:solidFill>
                <a:latin typeface="Liberation Sans"/>
              </a:rPr>
              <a:t>Last valid position</a:t>
            </a:r>
          </a:p>
          <a:p>
            <a:pPr algn="ctr">
              <a:spcAft>
                <a:spcPts val="200"/>
              </a:spcAft>
            </a:pPr>
            <a:r>
              <a:rPr sz="1800" b="0">
                <a:solidFill>
                  <a:srgbClr val="142B43"/>
                </a:solidFill>
                <a:latin typeface="Liberation Sans"/>
              </a:rPr>
              <a:t>User MLP: 512 → 512</a:t>
            </a:r>
          </a:p>
        </p:txBody>
      </p:sp>
      <p:sp>
        <p:nvSpPr>
          <p:cNvPr id="92" name="Rounded Rectangle 91"/>
          <p:cNvSpPr/>
          <p:nvPr/>
        </p:nvSpPr>
        <p:spPr>
          <a:xfrm>
            <a:off x="11567160" y="9564624"/>
            <a:ext cx="3749039" cy="704088"/>
          </a:xfrm>
          <a:prstGeom prst="roundRect">
            <a:avLst>
              <a:gd name="adj" fmla="val 10000"/>
            </a:avLst>
          </a:prstGeom>
          <a:solidFill>
            <a:srgbClr val="E5EBF2"/>
          </a:solidFill>
          <a:ln w="14604">
            <a:solidFill>
              <a:srgbClr val="AAB9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11599164" y="9578340"/>
            <a:ext cx="3685031" cy="676656"/>
          </a:xfrm>
          <a:prstGeom prst="rect">
            <a:avLst/>
          </a:prstGeom>
          <a:noFill/>
        </p:spPr>
        <p:txBody>
          <a:bodyPr wrap="square" lIns="54864" rIns="54864" tIns="18288" bIns="18288" anchor="ctr">
            <a:spAutoFit/>
          </a:bodyPr>
          <a:lstStyle/>
          <a:p>
            <a:pPr algn="ctr">
              <a:spcAft>
                <a:spcPts val="200"/>
              </a:spcAft>
            </a:pPr>
            <a:r>
              <a:rPr sz="1800" b="1">
                <a:solidFill>
                  <a:srgbClr val="142B43"/>
                </a:solidFill>
                <a:latin typeface="Liberation Sans"/>
              </a:rPr>
              <a:t>Dot product</a:t>
            </a:r>
          </a:p>
          <a:p>
            <a:pPr algn="ctr">
              <a:spcAft>
                <a:spcPts val="200"/>
              </a:spcAft>
            </a:pPr>
            <a:r>
              <a:rPr sz="1800" b="1">
                <a:solidFill>
                  <a:srgbClr val="142B43"/>
                </a:solidFill>
                <a:latin typeface="Liberation Sans"/>
              </a:rPr>
              <a:t>User 512 · Candidate 512</a:t>
            </a:r>
          </a:p>
        </p:txBody>
      </p:sp>
      <p:cxnSp>
        <p:nvCxnSpPr>
          <p:cNvPr id="94" name="Connector 93"/>
          <p:cNvCxnSpPr/>
          <p:nvPr/>
        </p:nvCxnSpPr>
        <p:spPr>
          <a:xfrm>
            <a:off x="3886200" y="9916668"/>
            <a:ext cx="566928" cy="0"/>
          </a:xfrm>
          <a:prstGeom prst="line">
            <a:avLst/>
          </a:prstGeom>
          <a:ln w="17780">
            <a:solidFill>
              <a:srgbClr val="617286"/>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95" name="Connector 94"/>
          <p:cNvCxnSpPr/>
          <p:nvPr/>
        </p:nvCxnSpPr>
        <p:spPr>
          <a:xfrm>
            <a:off x="7379208" y="9916668"/>
            <a:ext cx="576071" cy="0"/>
          </a:xfrm>
          <a:prstGeom prst="line">
            <a:avLst/>
          </a:prstGeom>
          <a:ln w="17780">
            <a:solidFill>
              <a:srgbClr val="617286"/>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96" name="Connector 95"/>
          <p:cNvCxnSpPr/>
          <p:nvPr/>
        </p:nvCxnSpPr>
        <p:spPr>
          <a:xfrm>
            <a:off x="10835640" y="9916668"/>
            <a:ext cx="731520" cy="0"/>
          </a:xfrm>
          <a:prstGeom prst="line">
            <a:avLst/>
          </a:prstGeom>
          <a:ln w="17780">
            <a:solidFill>
              <a:srgbClr val="617286"/>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97" name="Connector 96"/>
          <p:cNvCxnSpPr/>
          <p:nvPr/>
        </p:nvCxnSpPr>
        <p:spPr>
          <a:xfrm>
            <a:off x="2377440" y="10268712"/>
            <a:ext cx="0" cy="384048"/>
          </a:xfrm>
          <a:prstGeom prst="line">
            <a:avLst/>
          </a:prstGeom>
          <a:ln w="17780">
            <a:solidFill>
              <a:srgbClr val="617286"/>
            </a:solidFill>
          </a:ln>
        </p:spPr>
        <p:style>
          <a:lnRef idx="2">
            <a:schemeClr val="accent1"/>
          </a:lnRef>
          <a:fillRef idx="0">
            <a:schemeClr val="accent1"/>
          </a:fillRef>
          <a:effectRef idx="1">
            <a:schemeClr val="accent1"/>
          </a:effectRef>
          <a:fontRef idx="minor">
            <a:schemeClr val="tx1"/>
          </a:fontRef>
        </p:style>
      </p:cxnSp>
      <p:cxnSp>
        <p:nvCxnSpPr>
          <p:cNvPr id="98" name="Connector 97"/>
          <p:cNvCxnSpPr/>
          <p:nvPr/>
        </p:nvCxnSpPr>
        <p:spPr>
          <a:xfrm>
            <a:off x="2377440" y="10652760"/>
            <a:ext cx="11064240" cy="0"/>
          </a:xfrm>
          <a:prstGeom prst="line">
            <a:avLst/>
          </a:prstGeom>
          <a:ln w="17780">
            <a:solidFill>
              <a:srgbClr val="617286"/>
            </a:solidFill>
          </a:ln>
        </p:spPr>
        <p:style>
          <a:lnRef idx="2">
            <a:schemeClr val="accent1"/>
          </a:lnRef>
          <a:fillRef idx="0">
            <a:schemeClr val="accent1"/>
          </a:fillRef>
          <a:effectRef idx="1">
            <a:schemeClr val="accent1"/>
          </a:effectRef>
          <a:fontRef idx="minor">
            <a:schemeClr val="tx1"/>
          </a:fontRef>
        </p:style>
      </p:cxnSp>
      <p:cxnSp>
        <p:nvCxnSpPr>
          <p:cNvPr id="99" name="Connector 98"/>
          <p:cNvCxnSpPr/>
          <p:nvPr/>
        </p:nvCxnSpPr>
        <p:spPr>
          <a:xfrm flipV="1">
            <a:off x="13441680" y="10268712"/>
            <a:ext cx="0" cy="384048"/>
          </a:xfrm>
          <a:prstGeom prst="line">
            <a:avLst/>
          </a:prstGeom>
          <a:ln w="17780">
            <a:solidFill>
              <a:srgbClr val="617286"/>
            </a:solidFill>
            <a:tailEnd type="triangle" w="sm" len="sm"/>
          </a:ln>
        </p:spPr>
        <p:style>
          <a:lnRef idx="2">
            <a:schemeClr val="accent1"/>
          </a:lnRef>
          <a:fillRef idx="0">
            <a:schemeClr val="accent1"/>
          </a:fillRef>
          <a:effectRef idx="1">
            <a:schemeClr val="accent1"/>
          </a:effectRef>
          <a:fontRef idx="minor">
            <a:schemeClr val="tx1"/>
          </a:fontRef>
        </p:style>
      </p:cxnSp>
      <p:sp>
        <p:nvSpPr>
          <p:cNvPr id="100" name="TextBox 99"/>
          <p:cNvSpPr txBox="1"/>
          <p:nvPr/>
        </p:nvSpPr>
        <p:spPr>
          <a:xfrm>
            <a:off x="4663440" y="10360152"/>
            <a:ext cx="6035040" cy="228600"/>
          </a:xfrm>
          <a:prstGeom prst="rect">
            <a:avLst/>
          </a:prstGeom>
          <a:noFill/>
        </p:spPr>
        <p:txBody>
          <a:bodyPr wrap="square" lIns="54864" rIns="54864" tIns="18288" bIns="18288" anchor="ctr">
            <a:spAutoFit/>
          </a:bodyPr>
          <a:lstStyle/>
          <a:p>
            <a:pPr algn="ctr">
              <a:spcAft>
                <a:spcPts val="200"/>
              </a:spcAft>
            </a:pPr>
            <a:r>
              <a:rPr sz="1200" b="0">
                <a:solidFill>
                  <a:srgbClr val="617286"/>
                </a:solidFill>
                <a:latin typeface="Liberation Sans"/>
              </a:rPr>
              <a:t>Candidate video vectors bypass the sequence encoder</a:t>
            </a:r>
          </a:p>
        </p:txBody>
      </p:sp>
      <p:sp>
        <p:nvSpPr>
          <p:cNvPr id="101" name="TextBox 100"/>
          <p:cNvSpPr txBox="1"/>
          <p:nvPr/>
        </p:nvSpPr>
        <p:spPr>
          <a:xfrm>
            <a:off x="594360" y="10972800"/>
            <a:ext cx="15361920" cy="365760"/>
          </a:xfrm>
          <a:prstGeom prst="rect">
            <a:avLst/>
          </a:prstGeom>
          <a:noFill/>
        </p:spPr>
        <p:txBody>
          <a:bodyPr wrap="square" lIns="54864" rIns="54864" tIns="18288" bIns="18288" anchor="ctr">
            <a:spAutoFit/>
          </a:bodyPr>
          <a:lstStyle/>
          <a:p>
            <a:pPr algn="l">
              <a:spcAft>
                <a:spcPts val="200"/>
              </a:spcAft>
            </a:pPr>
            <a:r>
              <a:rPr sz="1400" b="0">
                <a:solidFill>
                  <a:srgbClr val="617286"/>
                </a:solidFill>
                <a:latin typeface="Liberation Sans"/>
              </a:rPr>
              <a:t>E / A = entities / actions per scene; S = valid scenes  |  BGE weights shared, texts embedded separately  |  No-title: 128 zeros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