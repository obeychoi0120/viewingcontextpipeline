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9659600" cy="12070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8562320" cy="502920"/>
          </a:xfrm>
          <a:prstGeom prst="rect">
            <a:avLst/>
          </a:prstGeom>
          <a:noFill/>
          <a:effectLst/>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Baseline vs. Text vs. Graph</a:t>
            </a:r>
          </a:p>
        </p:txBody>
      </p:sp>
      <p:sp>
        <p:nvSpPr>
          <p:cNvPr id="3" name="TextBox 2"/>
          <p:cNvSpPr txBox="1"/>
          <p:nvPr/>
        </p:nvSpPr>
        <p:spPr>
          <a:xfrm>
            <a:off x="566928" y="795528"/>
            <a:ext cx="18470880" cy="320040"/>
          </a:xfrm>
          <a:prstGeom prst="rect">
            <a:avLst/>
          </a:prstGeom>
          <a:noFill/>
          <a:effectLst/>
        </p:spPr>
        <p:txBody>
          <a:bodyPr wrap="square" lIns="54864" rIns="54864" tIns="18288" bIns="18288" anchor="ctr">
            <a:spAutoFit/>
          </a:bodyPr>
          <a:lstStyle/>
          <a:p>
            <a:pPr algn="l">
              <a:spcAft>
                <a:spcPts val="200"/>
              </a:spcAft>
            </a:pPr>
            <a:r>
              <a:rPr sz="1500">
                <a:solidFill>
                  <a:srgbClr val="62768D"/>
                </a:solidFill>
                <a:latin typeface="Aptos"/>
              </a:rPr>
              <a:t>Proposed design  /  Baseline: Title 512  /  Text &amp; Graph: Title 128 + Video 384  /  Final LayerNorm: 512  /  Frozen BGE large: 1,024</a:t>
            </a:r>
          </a:p>
        </p:txBody>
      </p:sp>
      <p:sp>
        <p:nvSpPr>
          <p:cNvPr id="4" name="Rounded Rectangle 3"/>
          <p:cNvSpPr/>
          <p:nvPr/>
        </p:nvSpPr>
        <p:spPr>
          <a:xfrm>
            <a:off x="3703320" y="1298448"/>
            <a:ext cx="4572000" cy="7973568"/>
          </a:xfrm>
          <a:prstGeom prst="roundRect">
            <a:avLst>
              <a:gd name="adj" fmla="val 3000"/>
            </a:avLst>
          </a:prstGeom>
          <a:solidFill>
            <a:srgbClr val="F7FAFF"/>
          </a:solidFill>
          <a:ln w="13335">
            <a:solidFill>
              <a:srgbClr val="CADAF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3735324" y="1312163"/>
            <a:ext cx="4507992" cy="7781544"/>
          </a:xfrm>
          <a:prstGeom prst="rect">
            <a:avLst/>
          </a:prstGeom>
          <a:noFill/>
          <a:effectLst/>
        </p:spPr>
        <p:txBody>
          <a:bodyPr wrap="square" lIns="54864" rIns="54864" tIns="18288" bIns="18288" anchor="ctr">
            <a:spAutoFit/>
          </a:bodyPr>
          <a:lstStyle/>
          <a:p>
            <a:pPr algn="ctr">
              <a:spcAft>
                <a:spcPts val="200"/>
              </a:spcAft>
            </a:pPr>
          </a:p>
        </p:txBody>
      </p:sp>
      <p:sp>
        <p:nvSpPr>
          <p:cNvPr id="6" name="Rounded Rectangle 5"/>
          <p:cNvSpPr/>
          <p:nvPr/>
        </p:nvSpPr>
        <p:spPr>
          <a:xfrm>
            <a:off x="8549640" y="1298448"/>
            <a:ext cx="10607040" cy="7973568"/>
          </a:xfrm>
          <a:prstGeom prst="roundRect">
            <a:avLst>
              <a:gd name="adj" fmla="val 1720"/>
            </a:avLst>
          </a:prstGeom>
          <a:solidFill>
            <a:srgbClr val="F5FBFA"/>
          </a:solidFill>
          <a:ln w="13335">
            <a:solidFill>
              <a:srgbClr val="BDDF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581644" y="1312163"/>
            <a:ext cx="10543032" cy="7781544"/>
          </a:xfrm>
          <a:prstGeom prst="rect">
            <a:avLst/>
          </a:prstGeom>
          <a:noFill/>
          <a:effectLst/>
        </p:spPr>
        <p:txBody>
          <a:bodyPr wrap="square" lIns="54864" rIns="54864" tIns="18288" bIns="18288" anchor="ctr">
            <a:spAutoFit/>
          </a:bodyPr>
          <a:lstStyle/>
          <a:p>
            <a:pPr algn="ctr">
              <a:spcAft>
                <a:spcPts val="200"/>
              </a:spcAft>
            </a:pPr>
          </a:p>
        </p:txBody>
      </p:sp>
      <p:sp>
        <p:nvSpPr>
          <p:cNvPr id="8" name="TextBox 7"/>
          <p:cNvSpPr txBox="1"/>
          <p:nvPr/>
        </p:nvSpPr>
        <p:spPr>
          <a:xfrm>
            <a:off x="3931920" y="1444752"/>
            <a:ext cx="4114800" cy="365760"/>
          </a:xfrm>
          <a:prstGeom prst="rect">
            <a:avLst/>
          </a:prstGeom>
          <a:noFill/>
          <a:effectLst/>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8778240" y="1444752"/>
            <a:ext cx="9966960" cy="365760"/>
          </a:xfrm>
          <a:prstGeom prst="rect">
            <a:avLst/>
          </a:prstGeom>
          <a:noFill/>
          <a:effectLst/>
        </p:spPr>
        <p:txBody>
          <a:bodyPr wrap="square" lIns="54864" rIns="54864" tIns="18288" bIns="18288" anchor="ctr">
            <a:spAutoFit/>
          </a:bodyPr>
          <a:lstStyle/>
          <a:p>
            <a:pPr algn="l">
              <a:spcAft>
                <a:spcPts val="200"/>
              </a:spcAft>
            </a:pPr>
            <a:r>
              <a:rPr sz="2300" b="1">
                <a:solidFill>
                  <a:srgbClr val="087E83"/>
                </a:solidFill>
                <a:latin typeface="Liberation Sans"/>
              </a:rPr>
              <a:t>GRAPH PATH</a:t>
            </a:r>
          </a:p>
        </p:txBody>
      </p:sp>
      <p:sp>
        <p:nvSpPr>
          <p:cNvPr id="83" name="Rounded Rectangle 82"/>
          <p:cNvSpPr/>
          <p:nvPr/>
        </p:nvSpPr>
        <p:spPr>
          <a:xfrm>
            <a:off x="502920" y="9482328"/>
            <a:ext cx="18653758" cy="1865376"/>
          </a:xfrm>
          <a:prstGeom prst="roundRect">
            <a:avLst>
              <a:gd name="adj" fmla="val 7352"/>
            </a:avLst>
          </a:prstGeom>
          <a:solidFill>
            <a:srgbClr val="F6F8FB"/>
          </a:solidFill>
          <a:ln w="13335">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41552" y="9496044"/>
            <a:ext cx="18576494" cy="1837944"/>
          </a:xfrm>
          <a:prstGeom prst="rect">
            <a:avLst/>
          </a:prstGeom>
          <a:noFill/>
          <a:effectLst/>
        </p:spPr>
        <p:txBody>
          <a:bodyPr wrap="square" lIns="54864" rIns="54864" tIns="18288" bIns="18288" anchor="ctr">
            <a:spAutoFit/>
          </a:bodyPr>
          <a:lstStyle/>
          <a:p>
            <a:pPr algn="ctr">
              <a:spcAft>
                <a:spcPts val="200"/>
              </a:spcAft>
            </a:pPr>
          </a:p>
        </p:txBody>
      </p:sp>
      <p:sp>
        <p:nvSpPr>
          <p:cNvPr id="85" name="TextBox 84"/>
          <p:cNvSpPr txBox="1"/>
          <p:nvPr/>
        </p:nvSpPr>
        <p:spPr>
          <a:xfrm>
            <a:off x="834051" y="9601200"/>
            <a:ext cx="17881119" cy="310896"/>
          </a:xfrm>
          <a:prstGeom prst="rect">
            <a:avLst/>
          </a:prstGeom>
          <a:noFill/>
          <a:effectLst/>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944429" y="10113264"/>
            <a:ext cx="3642450"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3061" y="10126980"/>
            <a:ext cx="3565186"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5271218" y="10113264"/>
            <a:ext cx="3532072"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5309850" y="10126980"/>
            <a:ext cx="3454808"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9498666" y="10113264"/>
            <a:ext cx="3476884"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9537299" y="10126980"/>
            <a:ext cx="3399620"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Last valid position</a:t>
            </a:r>
          </a:p>
          <a:p>
            <a:pPr algn="ctr">
              <a:spcAft>
                <a:spcPts val="200"/>
              </a:spcAft>
            </a:pPr>
            <a:r>
              <a:rPr sz="1800" b="0">
                <a:solidFill>
                  <a:srgbClr val="142B43"/>
                </a:solidFill>
                <a:latin typeface="Liberation Sans"/>
              </a:rPr>
              <a:t>User MLP: 512 → 512</a:t>
            </a:r>
          </a:p>
        </p:txBody>
      </p:sp>
      <p:sp>
        <p:nvSpPr>
          <p:cNvPr id="92" name="Rounded Rectangle 91"/>
          <p:cNvSpPr/>
          <p:nvPr/>
        </p:nvSpPr>
        <p:spPr>
          <a:xfrm>
            <a:off x="13858570" y="10113264"/>
            <a:ext cx="4525467" cy="704088"/>
          </a:xfrm>
          <a:prstGeom prst="roundRect">
            <a:avLst>
              <a:gd name="adj" fmla="val 7142"/>
            </a:avLst>
          </a:prstGeom>
          <a:solidFill>
            <a:srgbClr val="E5EBF2"/>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13897202" y="10126980"/>
            <a:ext cx="4448203" cy="676656"/>
          </a:xfrm>
          <a:prstGeom prst="rect">
            <a:avLst/>
          </a:prstGeom>
          <a:noFill/>
          <a:effectLst/>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4586879" y="10465308"/>
            <a:ext cx="684339"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8803291" y="10465308"/>
            <a:ext cx="695375"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2975552" y="10465308"/>
            <a:ext cx="883018"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2765654" y="10817352"/>
            <a:ext cx="0" cy="384048"/>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2765654" y="11201400"/>
            <a:ext cx="13355650" cy="0"/>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V="1">
            <a:off x="16121304" y="10817352"/>
            <a:ext cx="0" cy="384048"/>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5525086" y="10908792"/>
            <a:ext cx="7284900" cy="228600"/>
          </a:xfrm>
          <a:prstGeom prst="rect">
            <a:avLst/>
          </a:prstGeom>
          <a:noFill/>
          <a:effectLst/>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1" name="TextBox 100"/>
          <p:cNvSpPr txBox="1"/>
          <p:nvPr/>
        </p:nvSpPr>
        <p:spPr>
          <a:xfrm>
            <a:off x="594360" y="11521440"/>
            <a:ext cx="18562320" cy="365760"/>
          </a:xfrm>
          <a:prstGeom prst="rect">
            <a:avLst/>
          </a:prstGeom>
          <a:noFill/>
          <a:effectLst/>
        </p:spPr>
        <p:txBody>
          <a:bodyPr wrap="square" lIns="54864" rIns="54864" tIns="18288" bIns="18288" anchor="ctr">
            <a:spAutoFit/>
          </a:bodyPr>
          <a:lstStyle/>
          <a:p>
            <a:pPr algn="l">
              <a:spcAft>
                <a:spcPts val="200"/>
              </a:spcAft>
            </a:pPr>
            <a:r>
              <a:rPr sz="1400">
                <a:solidFill>
                  <a:srgbClr val="62768D"/>
                </a:solidFill>
                <a:latin typeface="Aptos"/>
              </a:rPr>
              <a:t>E / A = entities / actions per scene; S = valid scenes  |  BGE weights shared, inputs embedded separately  |  No-title: 128 zeros</a:t>
            </a:r>
          </a:p>
        </p:txBody>
      </p:sp>
      <p:sp>
        <p:nvSpPr>
          <p:cNvPr id="102" name="Rounded Rectangle 101"/>
          <p:cNvSpPr/>
          <p:nvPr/>
        </p:nvSpPr>
        <p:spPr>
          <a:xfrm>
            <a:off x="408736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03" name="Rounded Rectangle 102"/>
          <p:cNvSpPr/>
          <p:nvPr/>
        </p:nvSpPr>
        <p:spPr>
          <a:xfrm>
            <a:off x="408736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04" name="Rounded Rectangle 103"/>
          <p:cNvSpPr/>
          <p:nvPr/>
        </p:nvSpPr>
        <p:spPr>
          <a:xfrm>
            <a:off x="408736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128</a:t>
            </a:r>
          </a:p>
        </p:txBody>
      </p:sp>
      <p:cxnSp>
        <p:nvCxnSpPr>
          <p:cNvPr id="105" name="Connector 104"/>
          <p:cNvCxnSpPr/>
          <p:nvPr/>
        </p:nvCxnSpPr>
        <p:spPr>
          <a:xfrm>
            <a:off x="4978907"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a:off x="4978907"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a:off x="4978907"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a:off x="4978907" y="7040880"/>
            <a:ext cx="1005841"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sp>
        <p:nvSpPr>
          <p:cNvPr id="109" name="Rounded Rectangle 108"/>
          <p:cNvSpPr/>
          <p:nvPr/>
        </p:nvSpPr>
        <p:spPr>
          <a:xfrm>
            <a:off x="605332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Video Summary</a:t>
            </a:r>
          </a:p>
        </p:txBody>
      </p:sp>
      <p:sp>
        <p:nvSpPr>
          <p:cNvPr id="110" name="Rounded Rectangle 109"/>
          <p:cNvSpPr/>
          <p:nvPr/>
        </p:nvSpPr>
        <p:spPr>
          <a:xfrm>
            <a:off x="605332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11" name="Rounded Rectangle 110"/>
          <p:cNvSpPr/>
          <p:nvPr/>
        </p:nvSpPr>
        <p:spPr>
          <a:xfrm>
            <a:off x="605332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384</a:t>
            </a:r>
          </a:p>
        </p:txBody>
      </p:sp>
      <p:cxnSp>
        <p:nvCxnSpPr>
          <p:cNvPr id="112" name="Connector 111"/>
          <p:cNvCxnSpPr/>
          <p:nvPr/>
        </p:nvCxnSpPr>
        <p:spPr>
          <a:xfrm>
            <a:off x="6944868"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6944868"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6944868"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H="1">
            <a:off x="5984748" y="7040880"/>
            <a:ext cx="960120"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a:off x="5984748" y="7040880"/>
            <a:ext cx="0" cy="749808"/>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17" name="Rounded Rectangle 116"/>
          <p:cNvSpPr/>
          <p:nvPr/>
        </p:nvSpPr>
        <p:spPr>
          <a:xfrm>
            <a:off x="4087368" y="7790688"/>
            <a:ext cx="3794760" cy="585216"/>
          </a:xfrm>
          <a:prstGeom prst="roundRect">
            <a:avLst>
              <a:gd name="adj" fmla="val 7857"/>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Concat: [Title 128; Video 384]</a:t>
            </a:r>
          </a:p>
          <a:p>
            <a:pPr algn="ctr"/>
            <a:r>
              <a:rPr sz="1600">
                <a:solidFill>
                  <a:srgbClr val="19324F"/>
                </a:solidFill>
                <a:latin typeface="Aptos"/>
              </a:rPr>
              <a:t>512</a:t>
            </a:r>
          </a:p>
        </p:txBody>
      </p:sp>
      <p:sp>
        <p:nvSpPr>
          <p:cNvPr id="119" name="Rounded Rectangle 118"/>
          <p:cNvSpPr/>
          <p:nvPr/>
        </p:nvSpPr>
        <p:spPr>
          <a:xfrm>
            <a:off x="886968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20" name="Rounded Rectangle 119"/>
          <p:cNvSpPr/>
          <p:nvPr/>
        </p:nvSpPr>
        <p:spPr>
          <a:xfrm>
            <a:off x="886968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1,024</a:t>
            </a:r>
          </a:p>
        </p:txBody>
      </p:sp>
      <p:cxnSp>
        <p:nvCxnSpPr>
          <p:cNvPr id="121" name="Connector 120"/>
          <p:cNvCxnSpPr/>
          <p:nvPr/>
        </p:nvCxnSpPr>
        <p:spPr>
          <a:xfrm>
            <a:off x="1001268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1001268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3" name="Rounded Rectangle 122"/>
          <p:cNvSpPr/>
          <p:nvPr/>
        </p:nvSpPr>
        <p:spPr>
          <a:xfrm>
            <a:off x="1143000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Entities</a:t>
            </a:r>
          </a:p>
        </p:txBody>
      </p:sp>
      <p:sp>
        <p:nvSpPr>
          <p:cNvPr id="124" name="Rounded Rectangle 123"/>
          <p:cNvSpPr/>
          <p:nvPr/>
        </p:nvSpPr>
        <p:spPr>
          <a:xfrm>
            <a:off x="1143000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E × 1,024</a:t>
            </a:r>
          </a:p>
        </p:txBody>
      </p:sp>
      <p:cxnSp>
        <p:nvCxnSpPr>
          <p:cNvPr id="125" name="Connector 124"/>
          <p:cNvCxnSpPr/>
          <p:nvPr/>
        </p:nvCxnSpPr>
        <p:spPr>
          <a:xfrm>
            <a:off x="1257300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a:off x="1257300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7" name="Rounded Rectangle 126"/>
          <p:cNvSpPr/>
          <p:nvPr/>
        </p:nvSpPr>
        <p:spPr>
          <a:xfrm>
            <a:off x="1399032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Actions</a:t>
            </a:r>
          </a:p>
        </p:txBody>
      </p:sp>
      <p:sp>
        <p:nvSpPr>
          <p:cNvPr id="128" name="Rounded Rectangle 127"/>
          <p:cNvSpPr/>
          <p:nvPr/>
        </p:nvSpPr>
        <p:spPr>
          <a:xfrm>
            <a:off x="1399032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A × 1,024</a:t>
            </a:r>
          </a:p>
        </p:txBody>
      </p:sp>
      <p:cxnSp>
        <p:nvCxnSpPr>
          <p:cNvPr id="129" name="Connector 128"/>
          <p:cNvCxnSpPr/>
          <p:nvPr/>
        </p:nvCxnSpPr>
        <p:spPr>
          <a:xfrm>
            <a:off x="1513332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a:off x="1513332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1" name="Rounded Rectangle 130"/>
          <p:cNvSpPr/>
          <p:nvPr/>
        </p:nvSpPr>
        <p:spPr>
          <a:xfrm>
            <a:off x="1655064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Context</a:t>
            </a:r>
          </a:p>
        </p:txBody>
      </p:sp>
      <p:sp>
        <p:nvSpPr>
          <p:cNvPr id="132" name="Rounded Rectangle 131"/>
          <p:cNvSpPr/>
          <p:nvPr/>
        </p:nvSpPr>
        <p:spPr>
          <a:xfrm>
            <a:off x="1655064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1,024</a:t>
            </a:r>
          </a:p>
        </p:txBody>
      </p:sp>
      <p:cxnSp>
        <p:nvCxnSpPr>
          <p:cNvPr id="133" name="Connector 132"/>
          <p:cNvCxnSpPr/>
          <p:nvPr/>
        </p:nvCxnSpPr>
        <p:spPr>
          <a:xfrm>
            <a:off x="1769364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1769364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5" name="Rounded Rectangle 134"/>
          <p:cNvSpPr/>
          <p:nvPr/>
        </p:nvSpPr>
        <p:spPr>
          <a:xfrm>
            <a:off x="886968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Projection</a:t>
            </a:r>
          </a:p>
          <a:p>
            <a:pPr algn="ctr"/>
            <a:r>
              <a:rPr sz="1800">
                <a:solidFill>
                  <a:srgbClr val="19324F"/>
                </a:solidFill>
                <a:latin typeface="Aptos"/>
              </a:rPr>
              <a:t>1,024 → 128</a:t>
            </a:r>
          </a:p>
        </p:txBody>
      </p:sp>
      <p:sp>
        <p:nvSpPr>
          <p:cNvPr id="138" name="Rounded Rectangle 137"/>
          <p:cNvSpPr/>
          <p:nvPr/>
        </p:nvSpPr>
        <p:spPr>
          <a:xfrm>
            <a:off x="11430000" y="3538728"/>
            <a:ext cx="484632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Shared projection: 1,024 → 128</a:t>
            </a:r>
          </a:p>
          <a:p>
            <a:pPr algn="ctr"/>
            <a:r>
              <a:rPr sz="1700">
                <a:solidFill>
                  <a:srgbClr val="19324F"/>
                </a:solidFill>
                <a:latin typeface="Aptos"/>
              </a:rPr>
              <a:t>+ entity / action node-type embedding</a:t>
            </a:r>
          </a:p>
        </p:txBody>
      </p:sp>
      <p:sp>
        <p:nvSpPr>
          <p:cNvPr id="139" name="Rounded Rectangle 138"/>
          <p:cNvSpPr/>
          <p:nvPr/>
        </p:nvSpPr>
        <p:spPr>
          <a:xfrm>
            <a:off x="1655064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Projection</a:t>
            </a:r>
          </a:p>
          <a:p>
            <a:pPr algn="ctr"/>
            <a:r>
              <a:rPr sz="1800">
                <a:solidFill>
                  <a:srgbClr val="19324F"/>
                </a:solidFill>
                <a:latin typeface="Aptos"/>
              </a:rPr>
              <a:t>1,024 → 128</a:t>
            </a:r>
          </a:p>
        </p:txBody>
      </p:sp>
      <p:sp>
        <p:nvSpPr>
          <p:cNvPr id="140" name="Rounded Rectangle 139"/>
          <p:cNvSpPr/>
          <p:nvPr/>
        </p:nvSpPr>
        <p:spPr>
          <a:xfrm>
            <a:off x="11430000" y="4462272"/>
            <a:ext cx="484632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900">
                <a:solidFill>
                  <a:srgbClr val="19324F"/>
                </a:solidFill>
                <a:latin typeface="Aptos"/>
              </a:rPr>
              <a:t>Role Graph Encoder</a:t>
            </a:r>
          </a:p>
          <a:p>
            <a:pPr algn="ctr"/>
            <a:r>
              <a:rPr sz="1900">
                <a:solidFill>
                  <a:srgbClr val="19324F"/>
                </a:solidFill>
                <a:latin typeface="Aptos"/>
              </a:rPr>
              <a:t>1 layer · hidden 128</a:t>
            </a:r>
          </a:p>
        </p:txBody>
      </p:sp>
      <p:cxnSp>
        <p:nvCxnSpPr>
          <p:cNvPr id="141" name="Connector 140"/>
          <p:cNvCxnSpPr/>
          <p:nvPr/>
        </p:nvCxnSpPr>
        <p:spPr>
          <a:xfrm>
            <a:off x="13853160" y="4206240"/>
            <a:ext cx="0" cy="25603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42" name="Rounded Rectangle 141"/>
          <p:cNvSpPr/>
          <p:nvPr/>
        </p:nvSpPr>
        <p:spPr>
          <a:xfrm>
            <a:off x="1143000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Entity mean: 128</a:t>
            </a:r>
          </a:p>
        </p:txBody>
      </p:sp>
      <p:cxnSp>
        <p:nvCxnSpPr>
          <p:cNvPr id="143" name="Connector 142"/>
          <p:cNvCxnSpPr/>
          <p:nvPr/>
        </p:nvCxnSpPr>
        <p:spPr>
          <a:xfrm>
            <a:off x="12573000" y="5129784"/>
            <a:ext cx="0" cy="26517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1257300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sp>
        <p:nvSpPr>
          <p:cNvPr id="145" name="Rounded Rectangle 144"/>
          <p:cNvSpPr/>
          <p:nvPr/>
        </p:nvSpPr>
        <p:spPr>
          <a:xfrm>
            <a:off x="1399032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Action mean: 128</a:t>
            </a:r>
          </a:p>
        </p:txBody>
      </p:sp>
      <p:cxnSp>
        <p:nvCxnSpPr>
          <p:cNvPr id="146" name="Connector 145"/>
          <p:cNvCxnSpPr/>
          <p:nvPr/>
        </p:nvCxnSpPr>
        <p:spPr>
          <a:xfrm>
            <a:off x="15133320" y="5129784"/>
            <a:ext cx="0" cy="26517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1513332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17693640" y="4206240"/>
            <a:ext cx="0" cy="184708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12573000" y="6053328"/>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15133320" y="6053328"/>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1" name="Rounded Rectangle 150"/>
          <p:cNvSpPr/>
          <p:nvPr/>
        </p:nvSpPr>
        <p:spPr>
          <a:xfrm>
            <a:off x="11430000" y="6217920"/>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Concat: 384  [Entity; Action; Context]</a:t>
            </a:r>
          </a:p>
        </p:txBody>
      </p:sp>
      <p:cxnSp>
        <p:nvCxnSpPr>
          <p:cNvPr id="152" name="Connector 151"/>
          <p:cNvCxnSpPr/>
          <p:nvPr/>
        </p:nvCxnSpPr>
        <p:spPr>
          <a:xfrm>
            <a:off x="15133320" y="6739128"/>
            <a:ext cx="0" cy="21945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3" name="Rounded Rectangle 152"/>
          <p:cNvSpPr/>
          <p:nvPr/>
        </p:nvSpPr>
        <p:spPr>
          <a:xfrm>
            <a:off x="11430000" y="6958584"/>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Scene pooling: mean / attention  •  S × 384 → 384</a:t>
            </a:r>
          </a:p>
        </p:txBody>
      </p:sp>
      <p:cxnSp>
        <p:nvCxnSpPr>
          <p:cNvPr id="155" name="Connector 154"/>
          <p:cNvCxnSpPr/>
          <p:nvPr/>
        </p:nvCxnSpPr>
        <p:spPr>
          <a:xfrm>
            <a:off x="15133320" y="7479792"/>
            <a:ext cx="0" cy="146304"/>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10012680" y="7626096"/>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13853160" y="7626096"/>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8" name="Rounded Rectangle 157"/>
          <p:cNvSpPr/>
          <p:nvPr/>
        </p:nvSpPr>
        <p:spPr>
          <a:xfrm>
            <a:off x="8869680" y="7790688"/>
            <a:ext cx="9966960" cy="585216"/>
          </a:xfrm>
          <a:prstGeom prst="roundRect">
            <a:avLst>
              <a:gd name="adj" fmla="val 8593"/>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Concat: [Title 128; Video 384] = 512</a:t>
            </a:r>
          </a:p>
        </p:txBody>
      </p:sp>
      <p:cxnSp>
        <p:nvCxnSpPr>
          <p:cNvPr id="159" name="Connector 158"/>
          <p:cNvCxnSpPr/>
          <p:nvPr/>
        </p:nvCxnSpPr>
        <p:spPr>
          <a:xfrm>
            <a:off x="10012680" y="4206240"/>
            <a:ext cx="0" cy="3419856"/>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5984748" y="8375904"/>
            <a:ext cx="0" cy="146304"/>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1" name="Rounded Rectangle 160"/>
          <p:cNvSpPr/>
          <p:nvPr/>
        </p:nvSpPr>
        <p:spPr>
          <a:xfrm>
            <a:off x="4087368" y="8522208"/>
            <a:ext cx="3794760" cy="457200"/>
          </a:xfrm>
          <a:prstGeom prst="roundRect">
            <a:avLst>
              <a:gd name="adj" fmla="val 11000"/>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2" name="Connector 161"/>
          <p:cNvCxnSpPr/>
          <p:nvPr/>
        </p:nvCxnSpPr>
        <p:spPr>
          <a:xfrm>
            <a:off x="5984748" y="8979408"/>
            <a:ext cx="0" cy="50292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a:off x="13853160" y="8375904"/>
            <a:ext cx="0" cy="146304"/>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4" name="Rounded Rectangle 163"/>
          <p:cNvSpPr/>
          <p:nvPr/>
        </p:nvSpPr>
        <p:spPr>
          <a:xfrm>
            <a:off x="8869680" y="8522208"/>
            <a:ext cx="9966960" cy="457200"/>
          </a:xfrm>
          <a:prstGeom prst="roundRect">
            <a:avLst>
              <a:gd name="adj" fmla="val 11000"/>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5" name="Connector 164"/>
          <p:cNvCxnSpPr/>
          <p:nvPr/>
        </p:nvCxnSpPr>
        <p:spPr>
          <a:xfrm>
            <a:off x="13853160" y="8979408"/>
            <a:ext cx="0" cy="50292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6" name="Rounded Rectangle 165"/>
          <p:cNvSpPr/>
          <p:nvPr/>
        </p:nvSpPr>
        <p:spPr>
          <a:xfrm>
            <a:off x="502920" y="1298448"/>
            <a:ext cx="2926080" cy="7973568"/>
          </a:xfrm>
          <a:prstGeom prst="roundRect">
            <a:avLst>
              <a:gd name="adj" fmla="val 4687"/>
            </a:avLst>
          </a:prstGeom>
          <a:solidFill>
            <a:srgbClr val="F5F6F7"/>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
            </a:r>
          </a:p>
        </p:txBody>
      </p:sp>
      <p:sp>
        <p:nvSpPr>
          <p:cNvPr id="167" name="TextBox 166"/>
          <p:cNvSpPr txBox="1"/>
          <p:nvPr/>
        </p:nvSpPr>
        <p:spPr>
          <a:xfrm>
            <a:off x="731520" y="1444752"/>
            <a:ext cx="2560320" cy="365760"/>
          </a:xfrm>
          <a:prstGeom prst="rect">
            <a:avLst/>
          </a:prstGeom>
          <a:noFill/>
        </p:spPr>
        <p:txBody>
          <a:bodyPr wrap="none" lIns="0" tIns="0">
            <a:spAutoFit/>
          </a:bodyPr>
          <a:lstStyle/>
          <a:p>
            <a:r>
              <a:rPr sz="2400" b="1">
                <a:solidFill>
                  <a:srgbClr val="626C78"/>
                </a:solidFill>
                <a:latin typeface="Aptos"/>
              </a:rPr>
              <a:t>Baseline</a:t>
            </a:r>
          </a:p>
        </p:txBody>
      </p:sp>
      <p:sp>
        <p:nvSpPr>
          <p:cNvPr id="168" name="Rounded Rectangle 167"/>
          <p:cNvSpPr/>
          <p:nvPr/>
        </p:nvSpPr>
        <p:spPr>
          <a:xfrm>
            <a:off x="822960" y="2057400"/>
            <a:ext cx="2286000" cy="685800"/>
          </a:xfrm>
          <a:prstGeom prst="roundRect">
            <a:avLst>
              <a:gd name="adj" fmla="val 7333"/>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Title</a:t>
            </a:r>
          </a:p>
        </p:txBody>
      </p:sp>
      <p:sp>
        <p:nvSpPr>
          <p:cNvPr id="169" name="Rounded Rectangle 168"/>
          <p:cNvSpPr/>
          <p:nvPr/>
        </p:nvSpPr>
        <p:spPr>
          <a:xfrm>
            <a:off x="822960" y="3291840"/>
            <a:ext cx="2286000" cy="731520"/>
          </a:xfrm>
          <a:prstGeom prst="roundRect">
            <a:avLst>
              <a:gd name="adj" fmla="val 6874"/>
            </a:avLst>
          </a:prstGeom>
          <a:solidFill>
            <a:srgbClr val="EEF0F2"/>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BGE [frozen]</a:t>
            </a:r>
          </a:p>
          <a:p>
            <a:pPr algn="ctr"/>
            <a:r>
              <a:rPr sz="1800">
                <a:solidFill>
                  <a:srgbClr val="19324F"/>
                </a:solidFill>
                <a:latin typeface="Aptos"/>
              </a:rPr>
              <a:t>1,024</a:t>
            </a:r>
          </a:p>
        </p:txBody>
      </p:sp>
      <p:sp>
        <p:nvSpPr>
          <p:cNvPr id="170" name="Rounded Rectangle 169"/>
          <p:cNvSpPr/>
          <p:nvPr/>
        </p:nvSpPr>
        <p:spPr>
          <a:xfrm>
            <a:off x="822960" y="4617720"/>
            <a:ext cx="2286000" cy="731520"/>
          </a:xfrm>
          <a:prstGeom prst="roundRect">
            <a:avLst>
              <a:gd name="adj" fmla="val 6874"/>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Linear projection</a:t>
            </a:r>
          </a:p>
          <a:p>
            <a:pPr algn="ctr"/>
            <a:r>
              <a:rPr sz="1800">
                <a:solidFill>
                  <a:srgbClr val="19324F"/>
                </a:solidFill>
                <a:latin typeface="Aptos"/>
              </a:rPr>
              <a:t>1,024 → 512</a:t>
            </a:r>
          </a:p>
        </p:txBody>
      </p:sp>
      <p:sp>
        <p:nvSpPr>
          <p:cNvPr id="171" name="Rounded Rectangle 170"/>
          <p:cNvSpPr/>
          <p:nvPr/>
        </p:nvSpPr>
        <p:spPr>
          <a:xfrm>
            <a:off x="822960" y="8522208"/>
            <a:ext cx="2286000" cy="457200"/>
          </a:xfrm>
          <a:prstGeom prst="roundRect">
            <a:avLst>
              <a:gd name="adj" fmla="val 11000"/>
            </a:avLst>
          </a:prstGeom>
          <a:solidFill>
            <a:srgbClr val="E9ECE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LayerNorm: 512</a:t>
            </a:r>
          </a:p>
        </p:txBody>
      </p:sp>
      <p:cxnSp>
        <p:nvCxnSpPr>
          <p:cNvPr id="172" name="Connector 171"/>
          <p:cNvCxnSpPr/>
          <p:nvPr/>
        </p:nvCxnSpPr>
        <p:spPr>
          <a:xfrm>
            <a:off x="1965960" y="2743200"/>
            <a:ext cx="0" cy="54864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a:off x="1965960" y="4023360"/>
            <a:ext cx="0" cy="59436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a:off x="1965960" y="5349240"/>
            <a:ext cx="0" cy="3172968"/>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a:off x="1965960" y="8979408"/>
            <a:ext cx="0" cy="50292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