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659600" cy="12070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 experiment: sasrec-role-graph/v8; aggregation=gnn. A DCGN-inspired recommendation variant, not a reproduction of hierarchical DCGN. X concatenates entity means, role-enriched action means and projected Context, before the Scene MLP and without Title. L2 normalization uses eps=1e-8; cosine weights are clamped at zero, with unit diagonal. D is the diagonal matrix of row sums of A. Similarity is recomputed each forward with gradients enabled. GCN messages use the existing 512-dimensional Scene Residual MLP output. Single scenes receive the self-loop transformation. No temporal convolution, hierarchy, gate, attention, GCN dropout or LayerNorm. BGE stays fixed; projections, role fusion, Scene MLP, GCN and SASRec train jointly. The Baseline, Text path and SASRec retain the existing v7 model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8562320" cy="50292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142B43"/>
                </a:solidFill>
                <a:latin typeface="Liberation Sans"/>
              </a:rPr>
              <a:t>Recommendation Architecture | Baseline vs. Text vs.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298448"/>
            <a:ext cx="4572000" cy="7973568"/>
          </a:xfrm>
          <a:prstGeom prst="roundRect">
            <a:avLst>
              <a:gd name="adj" fmla="val 3000"/>
            </a:avLst>
          </a:prstGeom>
          <a:solidFill>
            <a:srgbClr val="F7FAFF"/>
          </a:solidFill>
          <a:ln w="13335">
            <a:solidFill>
              <a:srgbClr val="CADA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35324" y="1312163"/>
            <a:ext cx="450799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8549640" y="1298448"/>
            <a:ext cx="10607040" cy="7973568"/>
          </a:xfrm>
          <a:prstGeom prst="roundRect">
            <a:avLst>
              <a:gd name="adj" fmla="val 1720"/>
            </a:avLst>
          </a:prstGeom>
          <a:solidFill>
            <a:srgbClr val="F5FBFA"/>
          </a:solidFill>
          <a:ln w="13335">
            <a:solidFill>
              <a:srgbClr val="BDDF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81644" y="1312163"/>
            <a:ext cx="10543032" cy="77815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931920" y="1444752"/>
            <a:ext cx="411480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864B7"/>
                </a:solidFill>
                <a:latin typeface="Liberation Sans"/>
              </a:rPr>
              <a:t>TEXT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444752"/>
            <a:ext cx="9966960" cy="36576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87E83"/>
                </a:solidFill>
                <a:latin typeface="Liberation Sans"/>
              </a:rPr>
              <a:t>GRAPH PATH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9482328"/>
            <a:ext cx="18653758" cy="1865376"/>
          </a:xfrm>
          <a:prstGeom prst="roundRect">
            <a:avLst>
              <a:gd name="adj" fmla="val 7352"/>
            </a:avLst>
          </a:prstGeom>
          <a:solidFill>
            <a:srgbClr val="F6F8FB"/>
          </a:solidFill>
          <a:ln w="13335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1552" y="9496044"/>
            <a:ext cx="18576494" cy="1837944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</a:p>
        </p:txBody>
      </p:sp>
      <p:sp>
        <p:nvSpPr>
          <p:cNvPr id="85" name="TextBox 84"/>
          <p:cNvSpPr txBox="1"/>
          <p:nvPr/>
        </p:nvSpPr>
        <p:spPr>
          <a:xfrm>
            <a:off x="834051" y="9601200"/>
            <a:ext cx="17881119" cy="31089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42B43"/>
                </a:solidFill>
                <a:latin typeface="Liberation Sans"/>
              </a:rPr>
              <a:t>SAME RECOMMENDER ARCHITECTURE  •  Trained independently for each path / arm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44429" y="10113264"/>
            <a:ext cx="3642450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3061" y="10126980"/>
            <a:ext cx="3565186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Video vectors: 512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History: up to 10 × 512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71218" y="10113264"/>
            <a:ext cx="3532072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09850" y="10126980"/>
            <a:ext cx="3454808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SASRec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142B43"/>
                </a:solidFill>
                <a:latin typeface="Liberation Sans"/>
              </a:rPr>
              <a:t>2 blocks · 2 heads · 512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498666" y="10113264"/>
            <a:ext cx="3476884" cy="704088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37299" y="10126980"/>
            <a:ext cx="3399620" cy="676656"/>
          </a:xfrm>
          <a:prstGeom prst="rect">
            <a:avLst/>
          </a:prstGeom>
          <a:noFill/>
          <a:effectLst/>
        </p:spPr>
        <p:txBody>
          <a:bodyPr wrap="none" lIns="54864" rIns="54864" t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Last valid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User Residual MLP · GELU + LN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3858570" y="10113264"/>
            <a:ext cx="4525467" cy="704088"/>
          </a:xfrm>
          <a:prstGeom prst="roundRect">
            <a:avLst>
              <a:gd name="adj" fmla="val 7142"/>
            </a:avLst>
          </a:prstGeom>
          <a:solidFill>
            <a:srgbClr val="E5EBF2"/>
          </a:solidFill>
          <a:ln w="14604">
            <a:solidFill>
              <a:srgbClr val="AAB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3897202" y="10126980"/>
            <a:ext cx="4448203" cy="676656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Dot product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142B43"/>
                </a:solidFill>
                <a:latin typeface="Liberation Sans"/>
              </a:rPr>
              <a:t>User 512 · Candidate 512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586879" y="10465308"/>
            <a:ext cx="684339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03291" y="10465308"/>
            <a:ext cx="695375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975552" y="10465308"/>
            <a:ext cx="883018" cy="0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76565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765654" y="11201400"/>
            <a:ext cx="13355650" cy="0"/>
          </a:xfrm>
          <a:prstGeom prst="line">
            <a:avLst/>
          </a:prstGeom>
          <a:ln w="17780">
            <a:solidFill>
              <a:srgbClr val="6172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6121304" y="10817352"/>
            <a:ext cx="0" cy="384048"/>
          </a:xfrm>
          <a:prstGeom prst="line">
            <a:avLst/>
          </a:prstGeom>
          <a:ln w="17780">
            <a:solidFill>
              <a:srgbClr val="61728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525086" y="10908792"/>
            <a:ext cx="7284900" cy="228600"/>
          </a:xfrm>
          <a:prstGeom prst="rect">
            <a:avLst/>
          </a:prstGeom>
          <a:noFill/>
          <a:effectLst/>
        </p:spPr>
        <p:txBody>
          <a:bodyPr wrap="square" lIns="54864" rIns="54864" tIns="18288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617286"/>
                </a:solidFill>
                <a:latin typeface="Liberation Sans"/>
              </a:rPr>
              <a:t>Candidate video vectors bypass the sequence encoder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8736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08736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08736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128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978907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978907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6053328" y="2057400"/>
            <a:ext cx="178308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Video Summary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053328" y="329184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EFF3F7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7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053328" y="4617720"/>
            <a:ext cx="1783080" cy="731520"/>
          </a:xfrm>
          <a:prstGeom prst="roundRect">
            <a:avLst>
              <a:gd name="adj" fmla="val 6875"/>
            </a:avLst>
          </a:prstGeom>
          <a:solidFill>
            <a:srgbClr val="FFFF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600">
                <a:solidFill>
                  <a:srgbClr val="19324F"/>
                </a:solidFill>
                <a:latin typeface="Aptos"/>
              </a:rPr>
              <a:t>1,024 → 384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6944868" y="2743200"/>
            <a:ext cx="0" cy="54864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944868" y="4023360"/>
            <a:ext cx="0" cy="594360"/>
          </a:xfrm>
          <a:prstGeom prst="line">
            <a:avLst/>
          </a:prstGeom>
          <a:ln w="15875">
            <a:solidFill>
              <a:srgbClr val="2465C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4087368" y="7406640"/>
            <a:ext cx="3794760" cy="621792"/>
          </a:xfrm>
          <a:prstGeom prst="roundRect">
            <a:avLst>
              <a:gd name="adj" fmla="val 7857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Concat: [Title 128; Summary 384]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512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087368" y="8183879"/>
            <a:ext cx="3794760" cy="786384"/>
          </a:xfrm>
          <a:prstGeom prst="roundRect">
            <a:avLst>
              <a:gd name="adj" fmla="val 11000"/>
            </a:avLst>
          </a:prstGeom>
          <a:solidFill>
            <a:srgbClr val="E7F0FF"/>
          </a:solidFill>
          <a:ln w="14604">
            <a:solidFill>
              <a:srgbClr val="246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27432" bIns="27432" wrap="none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 · no LayerNorm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502920" y="1298448"/>
            <a:ext cx="2926080" cy="7973568"/>
          </a:xfrm>
          <a:prstGeom prst="roundRect">
            <a:avLst>
              <a:gd name="adj" fmla="val 4687"/>
            </a:avLst>
          </a:prstGeom>
          <a:solidFill>
            <a:srgbClr val="F5F6F7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/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1520" y="1444752"/>
            <a:ext cx="2560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626C78"/>
                </a:solidFill>
                <a:latin typeface="Aptos"/>
              </a:rPr>
              <a:t>Baseline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22960" y="2057400"/>
            <a:ext cx="2286000" cy="6858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Title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22960" y="329184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EEF0F2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BGE [frozen]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22960" y="4617720"/>
            <a:ext cx="2286000" cy="731520"/>
          </a:xfrm>
          <a:prstGeom prst="roundRect">
            <a:avLst>
              <a:gd name="adj" fmla="val 6874"/>
            </a:avLst>
          </a:prstGeom>
          <a:solidFill>
            <a:srgbClr val="FFFFF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Linear projection</a:t>
            </a:r>
          </a:p>
          <a:p>
            <a:pPr algn="ctr"/>
            <a:r>
              <a:rPr sz="1800">
                <a:solidFill>
                  <a:srgbClr val="19324F"/>
                </a:solidFill>
                <a:latin typeface="Aptos"/>
              </a:rPr>
              <a:t>1,024 → 512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22960" y="8183879"/>
            <a:ext cx="2286000" cy="786384"/>
          </a:xfrm>
          <a:prstGeom prst="roundRect">
            <a:avLst>
              <a:gd name="adj" fmla="val 11000"/>
            </a:avLst>
          </a:prstGeom>
          <a:solidFill>
            <a:srgbClr val="E9ECEF"/>
          </a:solidFill>
          <a:ln w="14604">
            <a:solidFill>
              <a:srgbClr val="AAB1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tIns="27432" bIns="27432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Item Residual MLP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512 → 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9324F"/>
                </a:solidFill>
                <a:latin typeface="Liberation Sans"/>
              </a:rPr>
              <a:t>ReLU · no LayerNorm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1965960" y="2743200"/>
            <a:ext cx="0" cy="54864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965960" y="4023360"/>
            <a:ext cx="0" cy="594360"/>
          </a:xfrm>
          <a:prstGeom prst="line">
            <a:avLst/>
          </a:prstGeom>
          <a:ln w="15875">
            <a:solidFill>
              <a:srgbClr val="7F899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Baseline projection to MLP segment 1"/>
          <p:cNvCxnSpPr/>
          <p:nvPr/>
        </p:nvCxnSpPr>
        <p:spPr>
          <a:xfrm>
            <a:off x="1965960" y="5349240"/>
            <a:ext cx="0" cy="2834639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Baseline item output segment 1"/>
          <p:cNvCxnSpPr/>
          <p:nvPr/>
        </p:nvCxnSpPr>
        <p:spPr>
          <a:xfrm>
            <a:off x="1965960" y="8970264"/>
            <a:ext cx="0" cy="512064"/>
          </a:xfrm>
          <a:prstGeom prst="line">
            <a:avLst/>
          </a:prstGeom>
          <a:ln w="22860">
            <a:solidFill>
              <a:srgbClr val="AAB1B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Text component to concat segment 1"/>
          <p:cNvCxnSpPr/>
          <p:nvPr/>
        </p:nvCxnSpPr>
        <p:spPr>
          <a:xfrm>
            <a:off x="497890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Text component to concat segment 2"/>
          <p:cNvCxnSpPr/>
          <p:nvPr/>
        </p:nvCxnSpPr>
        <p:spPr>
          <a:xfrm>
            <a:off x="4978908" y="6995160"/>
            <a:ext cx="100584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Text component to concat segment 1"/>
          <p:cNvCxnSpPr/>
          <p:nvPr/>
        </p:nvCxnSpPr>
        <p:spPr>
          <a:xfrm>
            <a:off x="6944868" y="5349240"/>
            <a:ext cx="0" cy="164592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Text component to concat segment 2"/>
          <p:cNvCxnSpPr/>
          <p:nvPr/>
        </p:nvCxnSpPr>
        <p:spPr>
          <a:xfrm flipH="1">
            <a:off x="5984748" y="6995160"/>
            <a:ext cx="960120" cy="0"/>
          </a:xfrm>
          <a:prstGeom prst="line">
            <a:avLst/>
          </a:prstGeom>
          <a:ln w="22860">
            <a:solidFill>
              <a:srgbClr val="246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Text concat input segment 1"/>
          <p:cNvCxnSpPr/>
          <p:nvPr/>
        </p:nvCxnSpPr>
        <p:spPr>
          <a:xfrm>
            <a:off x="5984748" y="6995160"/>
            <a:ext cx="0" cy="411480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Text concat to MLP segment 1"/>
          <p:cNvCxnSpPr/>
          <p:nvPr/>
        </p:nvCxnSpPr>
        <p:spPr>
          <a:xfrm>
            <a:off x="5984748" y="8028431"/>
            <a:ext cx="0" cy="155448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Text item output segment 1"/>
          <p:cNvCxnSpPr/>
          <p:nvPr/>
        </p:nvCxnSpPr>
        <p:spPr>
          <a:xfrm>
            <a:off x="5984748" y="8970264"/>
            <a:ext cx="0" cy="512064"/>
          </a:xfrm>
          <a:prstGeom prst="line">
            <a:avLst/>
          </a:prstGeom>
          <a:ln w="22860">
            <a:solidFill>
              <a:srgbClr val="2465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GNN model subtitle"/>
          <p:cNvSpPr txBox="1"/>
          <p:nvPr/>
        </p:nvSpPr>
        <p:spPr>
          <a:xfrm>
            <a:off x="594360" y="850392"/>
            <a:ext cx="18379440" cy="27432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2768D"/>
                </a:solidFill>
                <a:latin typeface="Liberation Sans"/>
              </a:rPr>
              <a:t>DCGN-inspired scene GCN  |  Similarity excludes Title  |  Frozen BGE Large: 1,024</a:t>
            </a:r>
          </a:p>
        </p:txBody>
      </p:sp>
      <p:sp>
        <p:nvSpPr>
          <p:cNvPr id="184" name="Graph Title"/>
          <p:cNvSpPr/>
          <p:nvPr/>
        </p:nvSpPr>
        <p:spPr>
          <a:xfrm>
            <a:off x="886968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Graph Title text"/>
          <p:cNvSpPr txBox="1"/>
          <p:nvPr/>
        </p:nvSpPr>
        <p:spPr>
          <a:xfrm>
            <a:off x="893368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Title</a:t>
            </a:r>
          </a:p>
        </p:txBody>
      </p:sp>
      <p:sp>
        <p:nvSpPr>
          <p:cNvPr id="186" name="Graph Title BGE"/>
          <p:cNvSpPr/>
          <p:nvPr/>
        </p:nvSpPr>
        <p:spPr>
          <a:xfrm>
            <a:off x="886968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Graph Title BGE text"/>
          <p:cNvSpPr txBox="1"/>
          <p:nvPr/>
        </p:nvSpPr>
        <p:spPr>
          <a:xfrm>
            <a:off x="893368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188" name="Graph Title projection"/>
          <p:cNvSpPr/>
          <p:nvPr/>
        </p:nvSpPr>
        <p:spPr>
          <a:xfrm>
            <a:off x="886968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Graph Title projection text"/>
          <p:cNvSpPr txBox="1"/>
          <p:nvPr/>
        </p:nvSpPr>
        <p:spPr>
          <a:xfrm>
            <a:off x="893368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90" name="Title to BGE segment 1"/>
          <p:cNvCxnSpPr/>
          <p:nvPr/>
        </p:nvCxnSpPr>
        <p:spPr>
          <a:xfrm>
            <a:off x="1001268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Title to projection segment 1"/>
          <p:cNvCxnSpPr/>
          <p:nvPr/>
        </p:nvCxnSpPr>
        <p:spPr>
          <a:xfrm>
            <a:off x="1001268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Graph Entities"/>
          <p:cNvSpPr/>
          <p:nvPr/>
        </p:nvSpPr>
        <p:spPr>
          <a:xfrm>
            <a:off x="1143000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Graph Entities text"/>
          <p:cNvSpPr txBox="1"/>
          <p:nvPr/>
        </p:nvSpPr>
        <p:spPr>
          <a:xfrm>
            <a:off x="1149400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Entities</a:t>
            </a:r>
          </a:p>
        </p:txBody>
      </p:sp>
      <p:sp>
        <p:nvSpPr>
          <p:cNvPr id="194" name="Graph Entities BGE"/>
          <p:cNvSpPr/>
          <p:nvPr/>
        </p:nvSpPr>
        <p:spPr>
          <a:xfrm>
            <a:off x="1143000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Graph Entities BGE text"/>
          <p:cNvSpPr txBox="1"/>
          <p:nvPr/>
        </p:nvSpPr>
        <p:spPr>
          <a:xfrm>
            <a:off x="1149400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E × 1,024</a:t>
            </a:r>
          </a:p>
        </p:txBody>
      </p:sp>
      <p:sp>
        <p:nvSpPr>
          <p:cNvPr id="196" name="Graph Entities projection"/>
          <p:cNvSpPr/>
          <p:nvPr/>
        </p:nvSpPr>
        <p:spPr>
          <a:xfrm>
            <a:off x="1143000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Graph Entities projection text"/>
          <p:cNvSpPr txBox="1"/>
          <p:nvPr/>
        </p:nvSpPr>
        <p:spPr>
          <a:xfrm>
            <a:off x="1149400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198" name="Entities to BGE segment 1"/>
          <p:cNvCxnSpPr/>
          <p:nvPr/>
        </p:nvCxnSpPr>
        <p:spPr>
          <a:xfrm>
            <a:off x="1257300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Entities to projection segment 1"/>
          <p:cNvCxnSpPr/>
          <p:nvPr/>
        </p:nvCxnSpPr>
        <p:spPr>
          <a:xfrm>
            <a:off x="1257300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Graph Actions"/>
          <p:cNvSpPr/>
          <p:nvPr/>
        </p:nvSpPr>
        <p:spPr>
          <a:xfrm>
            <a:off x="1399032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Graph Actions text"/>
          <p:cNvSpPr txBox="1"/>
          <p:nvPr/>
        </p:nvSpPr>
        <p:spPr>
          <a:xfrm>
            <a:off x="1405432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Actions</a:t>
            </a:r>
          </a:p>
        </p:txBody>
      </p:sp>
      <p:sp>
        <p:nvSpPr>
          <p:cNvPr id="202" name="Graph Actions BGE"/>
          <p:cNvSpPr/>
          <p:nvPr/>
        </p:nvSpPr>
        <p:spPr>
          <a:xfrm>
            <a:off x="1399032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Graph Actions BGE text"/>
          <p:cNvSpPr txBox="1"/>
          <p:nvPr/>
        </p:nvSpPr>
        <p:spPr>
          <a:xfrm>
            <a:off x="1405432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A × 1,024</a:t>
            </a:r>
          </a:p>
        </p:txBody>
      </p:sp>
      <p:sp>
        <p:nvSpPr>
          <p:cNvPr id="204" name="Graph Actions projection"/>
          <p:cNvSpPr/>
          <p:nvPr/>
        </p:nvSpPr>
        <p:spPr>
          <a:xfrm>
            <a:off x="1399032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Graph Actions projection text"/>
          <p:cNvSpPr txBox="1"/>
          <p:nvPr/>
        </p:nvSpPr>
        <p:spPr>
          <a:xfrm>
            <a:off x="1405432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06" name="Actions to BGE segment 1"/>
          <p:cNvCxnSpPr/>
          <p:nvPr/>
        </p:nvCxnSpPr>
        <p:spPr>
          <a:xfrm>
            <a:off x="1513332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Actions to projection segment 1"/>
          <p:cNvCxnSpPr/>
          <p:nvPr/>
        </p:nvCxnSpPr>
        <p:spPr>
          <a:xfrm>
            <a:off x="1513332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Graph Context"/>
          <p:cNvSpPr/>
          <p:nvPr/>
        </p:nvSpPr>
        <p:spPr>
          <a:xfrm>
            <a:off x="16550640" y="201168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Graph Context text"/>
          <p:cNvSpPr txBox="1"/>
          <p:nvPr/>
        </p:nvSpPr>
        <p:spPr>
          <a:xfrm>
            <a:off x="16614648" y="2039112"/>
            <a:ext cx="2157984" cy="44805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9324F"/>
                </a:solidFill>
                <a:latin typeface="Liberation Sans"/>
              </a:rPr>
              <a:t>Context</a:t>
            </a:r>
          </a:p>
        </p:txBody>
      </p:sp>
      <p:sp>
        <p:nvSpPr>
          <p:cNvPr id="210" name="Graph Context BGE"/>
          <p:cNvSpPr/>
          <p:nvPr/>
        </p:nvSpPr>
        <p:spPr>
          <a:xfrm>
            <a:off x="16550640" y="2688336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EFF3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Graph Context BGE text"/>
          <p:cNvSpPr txBox="1"/>
          <p:nvPr/>
        </p:nvSpPr>
        <p:spPr>
          <a:xfrm>
            <a:off x="16614648" y="2715768"/>
            <a:ext cx="2157984" cy="49377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BGE [frozen]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1,024</a:t>
            </a:r>
          </a:p>
        </p:txBody>
      </p:sp>
      <p:sp>
        <p:nvSpPr>
          <p:cNvPr id="212" name="Graph Context projection"/>
          <p:cNvSpPr/>
          <p:nvPr/>
        </p:nvSpPr>
        <p:spPr>
          <a:xfrm>
            <a:off x="16550640" y="3429000"/>
            <a:ext cx="22860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Graph Context projection text"/>
          <p:cNvSpPr txBox="1"/>
          <p:nvPr/>
        </p:nvSpPr>
        <p:spPr>
          <a:xfrm>
            <a:off x="16614648" y="3456432"/>
            <a:ext cx="215798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Linear Projection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1,024 → 128</a:t>
            </a:r>
          </a:p>
        </p:txBody>
      </p:sp>
      <p:cxnSp>
        <p:nvCxnSpPr>
          <p:cNvPr id="214" name="Context to BGE segment 1"/>
          <p:cNvCxnSpPr/>
          <p:nvPr/>
        </p:nvCxnSpPr>
        <p:spPr>
          <a:xfrm>
            <a:off x="17693640" y="2514600"/>
            <a:ext cx="0" cy="173736"/>
          </a:xfrm>
          <a:prstGeom prst="line">
            <a:avLst/>
          </a:prstGeom>
          <a:ln w="22860">
            <a:solidFill>
              <a:srgbClr val="6276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text to projection segment 1"/>
          <p:cNvCxnSpPr/>
          <p:nvPr/>
        </p:nvCxnSpPr>
        <p:spPr>
          <a:xfrm>
            <a:off x="17693640" y="3236976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Graph Action role fusion"/>
          <p:cNvSpPr/>
          <p:nvPr/>
        </p:nvSpPr>
        <p:spPr>
          <a:xfrm>
            <a:off x="11430000" y="4261104"/>
            <a:ext cx="48463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Graph Action role fusion text"/>
          <p:cNvSpPr txBox="1"/>
          <p:nvPr/>
        </p:nvSpPr>
        <p:spPr>
          <a:xfrm>
            <a:off x="11503152" y="4297680"/>
            <a:ext cx="4700016" cy="65836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9324F"/>
                </a:solidFill>
                <a:latin typeface="Liberation Sans"/>
              </a:rPr>
              <a:t>Entity → Action role fusion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actor · target · tool · location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Action + ReLU(Linear 640 → 128)</a:t>
            </a:r>
          </a:p>
        </p:txBody>
      </p:sp>
      <p:cxnSp>
        <p:nvCxnSpPr>
          <p:cNvPr id="218" name="Entity projection to role fusion segment 1"/>
          <p:cNvCxnSpPr/>
          <p:nvPr/>
        </p:nvCxnSpPr>
        <p:spPr>
          <a:xfrm>
            <a:off x="12573000" y="4023360"/>
            <a:ext cx="0" cy="23774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Action projection to role fusion segment 1"/>
          <p:cNvCxnSpPr/>
          <p:nvPr/>
        </p:nvCxnSpPr>
        <p:spPr>
          <a:xfrm>
            <a:off x="15133320" y="4023360"/>
            <a:ext cx="0" cy="23774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Entity projection to mean segment 1"/>
          <p:cNvCxnSpPr/>
          <p:nvPr/>
        </p:nvCxnSpPr>
        <p:spPr>
          <a:xfrm flipH="1">
            <a:off x="11228832" y="4142232"/>
            <a:ext cx="1344168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Entity projection to mean segment 2"/>
          <p:cNvCxnSpPr/>
          <p:nvPr/>
        </p:nvCxnSpPr>
        <p:spPr>
          <a:xfrm>
            <a:off x="11228832" y="4142232"/>
            <a:ext cx="0" cy="1252728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Entity projection to mean segment 3"/>
          <p:cNvCxnSpPr/>
          <p:nvPr/>
        </p:nvCxnSpPr>
        <p:spPr>
          <a:xfrm>
            <a:off x="11228832" y="5394960"/>
            <a:ext cx="201168" cy="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Entity forward fork"/>
          <p:cNvSpPr/>
          <p:nvPr/>
        </p:nvSpPr>
        <p:spPr>
          <a:xfrm>
            <a:off x="12540996" y="4110228"/>
            <a:ext cx="64008" cy="64008"/>
          </a:xfrm>
          <a:prstGeom prst="ellips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Graph Entity mean"/>
          <p:cNvSpPr/>
          <p:nvPr/>
        </p:nvSpPr>
        <p:spPr>
          <a:xfrm>
            <a:off x="11430000" y="5184648"/>
            <a:ext cx="228600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Graph Entity mean text"/>
          <p:cNvSpPr txBox="1"/>
          <p:nvPr/>
        </p:nvSpPr>
        <p:spPr>
          <a:xfrm>
            <a:off x="11494008" y="5212080"/>
            <a:ext cx="2157984" cy="3657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Entity mean: 128</a:t>
            </a:r>
          </a:p>
        </p:txBody>
      </p:sp>
      <p:sp>
        <p:nvSpPr>
          <p:cNvPr id="226" name="Graph Action mean"/>
          <p:cNvSpPr/>
          <p:nvPr/>
        </p:nvSpPr>
        <p:spPr>
          <a:xfrm>
            <a:off x="13990320" y="5184648"/>
            <a:ext cx="228600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Graph Action mean text"/>
          <p:cNvSpPr txBox="1"/>
          <p:nvPr/>
        </p:nvSpPr>
        <p:spPr>
          <a:xfrm>
            <a:off x="14054328" y="5212080"/>
            <a:ext cx="2157984" cy="365760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Action mean: 128</a:t>
            </a:r>
          </a:p>
        </p:txBody>
      </p:sp>
      <p:cxnSp>
        <p:nvCxnSpPr>
          <p:cNvPr id="228" name="Enriched Actions to mean segment 1"/>
          <p:cNvCxnSpPr/>
          <p:nvPr/>
        </p:nvCxnSpPr>
        <p:spPr>
          <a:xfrm>
            <a:off x="15133320" y="4992624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Graph Content concat"/>
          <p:cNvSpPr/>
          <p:nvPr/>
        </p:nvSpPr>
        <p:spPr>
          <a:xfrm>
            <a:off x="11430000" y="5833872"/>
            <a:ext cx="7406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Graph Content concat text"/>
          <p:cNvSpPr txBox="1"/>
          <p:nvPr/>
        </p:nvSpPr>
        <p:spPr>
          <a:xfrm>
            <a:off x="11494008" y="5861304"/>
            <a:ext cx="727862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Content X: [Entity mean 128; Action mean 128; Context 128] = 384</a:t>
            </a:r>
          </a:p>
        </p:txBody>
      </p:sp>
      <p:cxnSp>
        <p:nvCxnSpPr>
          <p:cNvPr id="231" name="Entities to Content concat segment 1"/>
          <p:cNvCxnSpPr/>
          <p:nvPr/>
        </p:nvCxnSpPr>
        <p:spPr>
          <a:xfrm>
            <a:off x="12573000" y="5605272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Actions to Content concat segment 1"/>
          <p:cNvCxnSpPr/>
          <p:nvPr/>
        </p:nvCxnSpPr>
        <p:spPr>
          <a:xfrm>
            <a:off x="15133320" y="5605272"/>
            <a:ext cx="0" cy="22860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text to Content concat segment 1"/>
          <p:cNvCxnSpPr/>
          <p:nvPr/>
        </p:nvCxnSpPr>
        <p:spPr>
          <a:xfrm>
            <a:off x="17693640" y="4023360"/>
            <a:ext cx="0" cy="1810512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Graph Scene concat"/>
          <p:cNvSpPr/>
          <p:nvPr/>
        </p:nvSpPr>
        <p:spPr>
          <a:xfrm>
            <a:off x="8869680" y="649224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Graph Scene concat text"/>
          <p:cNvSpPr txBox="1"/>
          <p:nvPr/>
        </p:nvSpPr>
        <p:spPr>
          <a:xfrm>
            <a:off x="8933688" y="6519672"/>
            <a:ext cx="462686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9324F"/>
                </a:solidFill>
                <a:latin typeface="Liberation Sans"/>
              </a:rPr>
              <a:t>Scene concat: [Title 128; Content 384] = 512</a:t>
            </a:r>
          </a:p>
        </p:txBody>
      </p:sp>
      <p:cxnSp>
        <p:nvCxnSpPr>
          <p:cNvPr id="236" name="Title to Scene concat segment 1"/>
          <p:cNvCxnSpPr/>
          <p:nvPr/>
        </p:nvCxnSpPr>
        <p:spPr>
          <a:xfrm>
            <a:off x="10012680" y="4023360"/>
            <a:ext cx="0" cy="246888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tent to Scene concat segment 1"/>
          <p:cNvCxnSpPr/>
          <p:nvPr/>
        </p:nvCxnSpPr>
        <p:spPr>
          <a:xfrm>
            <a:off x="15133320" y="6291072"/>
            <a:ext cx="0" cy="109728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tent to Scene concat segment 2"/>
          <p:cNvCxnSpPr/>
          <p:nvPr/>
        </p:nvCxnSpPr>
        <p:spPr>
          <a:xfrm flipH="1">
            <a:off x="12984480" y="6400800"/>
            <a:ext cx="2148840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tent to Scene concat segment 3"/>
          <p:cNvCxnSpPr/>
          <p:nvPr/>
        </p:nvCxnSpPr>
        <p:spPr>
          <a:xfrm>
            <a:off x="12984480" y="6400800"/>
            <a:ext cx="0" cy="91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tent to Similarity segment 1"/>
          <p:cNvCxnSpPr/>
          <p:nvPr/>
        </p:nvCxnSpPr>
        <p:spPr>
          <a:xfrm>
            <a:off x="15133320" y="6400800"/>
            <a:ext cx="1280160" cy="0"/>
          </a:xfrm>
          <a:prstGeom prst="line">
            <a:avLst/>
          </a:prstGeom>
          <a:ln w="22860">
            <a:solidFill>
              <a:srgbClr val="00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tent to Similarity segment 2"/>
          <p:cNvCxnSpPr/>
          <p:nvPr/>
        </p:nvCxnSpPr>
        <p:spPr>
          <a:xfrm>
            <a:off x="16413480" y="6400800"/>
            <a:ext cx="0" cy="9144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Content forward fork"/>
          <p:cNvSpPr/>
          <p:nvPr/>
        </p:nvSpPr>
        <p:spPr>
          <a:xfrm>
            <a:off x="15101316" y="6368796"/>
            <a:ext cx="64008" cy="64008"/>
          </a:xfrm>
          <a:prstGeom prst="ellipse">
            <a:avLst/>
          </a:prstGeom>
          <a:solidFill>
            <a:srgbClr val="00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Graph Scene Residual MLP"/>
          <p:cNvSpPr/>
          <p:nvPr/>
        </p:nvSpPr>
        <p:spPr>
          <a:xfrm>
            <a:off x="8869680" y="7141464"/>
            <a:ext cx="4754880" cy="5669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Graph Scene Residual MLP text"/>
          <p:cNvSpPr txBox="1"/>
          <p:nvPr/>
        </p:nvSpPr>
        <p:spPr>
          <a:xfrm>
            <a:off x="8933688" y="7168896"/>
            <a:ext cx="4626864" cy="512064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Scene Residual MLP → H: S ×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24F"/>
                </a:solidFill>
                <a:latin typeface="Liberation Sans"/>
              </a:rPr>
              <a:t>512 → 512 → 512 · ReLU · no LN</a:t>
            </a:r>
          </a:p>
        </p:txBody>
      </p:sp>
      <p:cxnSp>
        <p:nvCxnSpPr>
          <p:cNvPr id="245" name="Concat to Scene MLP segment 1"/>
          <p:cNvCxnSpPr/>
          <p:nvPr/>
        </p:nvCxnSpPr>
        <p:spPr>
          <a:xfrm>
            <a:off x="11247120" y="6949440"/>
            <a:ext cx="0" cy="192024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Graph Scene similarity"/>
          <p:cNvSpPr/>
          <p:nvPr/>
        </p:nvSpPr>
        <p:spPr>
          <a:xfrm>
            <a:off x="13990320" y="6492240"/>
            <a:ext cx="4846320" cy="1216152"/>
          </a:xfrm>
          <a:prstGeom prst="roundRect">
            <a:avLst>
              <a:gd name="adj" fmla="val 12000"/>
            </a:avLst>
          </a:prstGeom>
          <a:solidFill>
            <a:srgbClr val="EFF8F7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Graph Scene similarity text"/>
          <p:cNvSpPr txBox="1"/>
          <p:nvPr/>
        </p:nvSpPr>
        <p:spPr>
          <a:xfrm>
            <a:off x="14063472" y="6537960"/>
            <a:ext cx="4700016" cy="1124712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Scene similarity → Â: S × 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2768D"/>
                </a:solidFill>
                <a:latin typeface="Liberation Sans"/>
              </a:rPr>
              <a:t>384-d X · all pairs within each video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9324F"/>
                </a:solidFill>
                <a:latin typeface="Liberation Sans"/>
              </a:rPr>
              <a:t>A = max(cos(X), 0); diagonal =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9324F"/>
                </a:solidFill>
                <a:latin typeface="Liberation Sans"/>
              </a:rPr>
              <a:t>Â = D</a:t>
            </a:r>
            <a:r>
              <a:rPr sz="1200" baseline="30000">
                <a:solidFill>
                  <a:srgbClr val="19324F"/>
                </a:solidFill>
                <a:latin typeface="Liberation Sans"/>
              </a:rPr>
              <a:t>-1/2</a:t>
            </a:r>
            <a:r>
              <a:rPr sz="1600">
                <a:solidFill>
                  <a:srgbClr val="19324F"/>
                </a:solidFill>
                <a:latin typeface="Liberation Sans"/>
              </a:rPr>
              <a:t> A D</a:t>
            </a:r>
            <a:r>
              <a:rPr sz="1200" baseline="30000">
                <a:solidFill>
                  <a:srgbClr val="19324F"/>
                </a:solidFill>
                <a:latin typeface="Liberation Sans"/>
              </a:rPr>
              <a:t>-1/2</a:t>
            </a:r>
          </a:p>
        </p:txBody>
      </p:sp>
      <p:sp>
        <p:nvSpPr>
          <p:cNvPr id="248" name="Graph Scene GCN"/>
          <p:cNvSpPr/>
          <p:nvPr/>
        </p:nvSpPr>
        <p:spPr>
          <a:xfrm>
            <a:off x="8869680" y="7882127"/>
            <a:ext cx="9966960" cy="59436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Graph Scene GCN text"/>
          <p:cNvSpPr txBox="1"/>
          <p:nvPr/>
        </p:nvSpPr>
        <p:spPr>
          <a:xfrm>
            <a:off x="8933688" y="7909559"/>
            <a:ext cx="9838944" cy="53949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Scene GCN · 1 layer · 512 → 512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H′ = H + ReLU(Â H W + b)</a:t>
            </a:r>
          </a:p>
        </p:txBody>
      </p:sp>
      <p:cxnSp>
        <p:nvCxnSpPr>
          <p:cNvPr id="250" name="Scene MLP messages to GCN segment 1"/>
          <p:cNvCxnSpPr/>
          <p:nvPr/>
        </p:nvCxnSpPr>
        <p:spPr>
          <a:xfrm>
            <a:off x="11247120" y="7708392"/>
            <a:ext cx="0" cy="173735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imilarity adjacency to GCN segment 1"/>
          <p:cNvCxnSpPr/>
          <p:nvPr/>
        </p:nvCxnSpPr>
        <p:spPr>
          <a:xfrm>
            <a:off x="16413480" y="7708392"/>
            <a:ext cx="0" cy="173735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Graph Mean Pooling"/>
          <p:cNvSpPr/>
          <p:nvPr/>
        </p:nvSpPr>
        <p:spPr>
          <a:xfrm>
            <a:off x="8869680" y="8659368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5240">
            <a:solidFill>
              <a:srgbClr val="008B9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Graph Mean Pooling text"/>
          <p:cNvSpPr txBox="1"/>
          <p:nvPr/>
        </p:nvSpPr>
        <p:spPr>
          <a:xfrm>
            <a:off x="8933688" y="8686800"/>
            <a:ext cx="9838944" cy="402336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9324F"/>
                </a:solidFill>
                <a:latin typeface="Liberation Sans"/>
              </a:rPr>
              <a:t>Mean Pooling over valid Scenes: S × 512 → Item 512</a:t>
            </a:r>
          </a:p>
        </p:txBody>
      </p:sp>
      <p:cxnSp>
        <p:nvCxnSpPr>
          <p:cNvPr id="254" name="Scene GCN to Mean segment 1"/>
          <p:cNvCxnSpPr/>
          <p:nvPr/>
        </p:nvCxnSpPr>
        <p:spPr>
          <a:xfrm>
            <a:off x="13853160" y="8476488"/>
            <a:ext cx="0" cy="18288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Graph item output segment 1"/>
          <p:cNvCxnSpPr/>
          <p:nvPr/>
        </p:nvCxnSpPr>
        <p:spPr>
          <a:xfrm>
            <a:off x="13853160" y="9116568"/>
            <a:ext cx="0" cy="365760"/>
          </a:xfrm>
          <a:prstGeom prst="line">
            <a:avLst/>
          </a:prstGeom>
          <a:ln w="22860">
            <a:solidFill>
              <a:srgbClr val="008B9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GNN diagram footnotes"/>
          <p:cNvSpPr txBox="1"/>
          <p:nvPr/>
        </p:nvSpPr>
        <p:spPr>
          <a:xfrm>
            <a:off x="594360" y="11503152"/>
            <a:ext cx="18379440" cy="475488"/>
          </a:xfrm>
          <a:prstGeom prst="rect">
            <a:avLst/>
          </a:prstGeom>
          <a:noFill/>
        </p:spPr>
        <p:txBody>
          <a:bodyPr wrap="none" lIns="22860" rIns="2286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E / A = entities / actions per scene; S = valid scenes  |  No scene-order encoding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68D"/>
                </a:solidFill>
                <a:latin typeface="Liberation Sans"/>
              </a:rPr>
              <a:t>Title-only: existing fallback (GCN skipped)  |  Meta: Baseline  |  Fully missing / padding: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