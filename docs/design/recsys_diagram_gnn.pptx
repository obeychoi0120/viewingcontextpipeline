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9659600" cy="1207008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Graph experiment: sasrec-role-graph/v10; aggregation=gnn. A DCGN-inspired recommendation variant, not a reproduction of hierarchical DCGN. X concatenates entity means, role-enriched action means and projected Context, before the Scene MLP and without Title. L2 normalization uses eps=1e-8; cosine weights are clamped at zero, with unit diagonal. D is the diagonal matrix of row sums of A. Similarity is recomputed each forward with gradients enabled. GCN messages use the existing 512-dimensional Scene Residual MLP output. Single scenes receive the self-loop transformation. No temporal convolution, hierarchy, gate, attention or GCN dropout. BGE stays fixed; projections, role fusion, Scene MLP, GCN and SASRec train jointly. Item/Scene residual blocks use x + ReLU(Linear(x)), with one Linear layer. Text uses sasrec-content-v8; mean uses sasrec-role-graph/v9. SASRec and its two-Linear GELU User MLP with LayerNorm remain unchanged.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56032"/>
            <a:ext cx="18562320" cy="502920"/>
          </a:xfrm>
          <a:prstGeom prst="rect">
            <a:avLst/>
          </a:prstGeom>
          <a:noFill/>
          <a:effectLst/>
        </p:spPr>
        <p:txBody>
          <a:bodyPr wrap="square" lIns="54864" rIns="54864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3000" b="1">
                <a:solidFill>
                  <a:srgbClr val="142B43"/>
                </a:solidFill>
                <a:latin typeface="Liberation Sans"/>
              </a:rPr>
              <a:t>Recommendation Architecture | Baseline vs. Text vs. Graph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703320" y="1298448"/>
            <a:ext cx="4572000" cy="7973568"/>
          </a:xfrm>
          <a:prstGeom prst="roundRect">
            <a:avLst>
              <a:gd name="adj" fmla="val 3000"/>
            </a:avLst>
          </a:prstGeom>
          <a:solidFill>
            <a:srgbClr val="F7FAFF"/>
          </a:solidFill>
          <a:ln w="13335">
            <a:solidFill>
              <a:srgbClr val="CADA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735324" y="1312163"/>
            <a:ext cx="4507992" cy="7781544"/>
          </a:xfrm>
          <a:prstGeom prst="rect">
            <a:avLst/>
          </a:prstGeom>
          <a:noFill/>
          <a:effectLst/>
        </p:spPr>
        <p:txBody>
          <a:bodyPr wrap="square" lIns="54864" rIns="54864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</a:p>
        </p:txBody>
      </p:sp>
      <p:sp>
        <p:nvSpPr>
          <p:cNvPr id="6" name="Rounded Rectangle 5"/>
          <p:cNvSpPr/>
          <p:nvPr/>
        </p:nvSpPr>
        <p:spPr>
          <a:xfrm>
            <a:off x="8549640" y="1298448"/>
            <a:ext cx="10607040" cy="7973568"/>
          </a:xfrm>
          <a:prstGeom prst="roundRect">
            <a:avLst>
              <a:gd name="adj" fmla="val 1720"/>
            </a:avLst>
          </a:prstGeom>
          <a:solidFill>
            <a:srgbClr val="F5FBFA"/>
          </a:solidFill>
          <a:ln w="13335">
            <a:solidFill>
              <a:srgbClr val="BDDF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81644" y="1312163"/>
            <a:ext cx="10543032" cy="7781544"/>
          </a:xfrm>
          <a:prstGeom prst="rect">
            <a:avLst/>
          </a:prstGeom>
          <a:noFill/>
          <a:effectLst/>
        </p:spPr>
        <p:txBody>
          <a:bodyPr wrap="square" lIns="54864" rIns="54864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3931920" y="1444752"/>
            <a:ext cx="4114800" cy="365760"/>
          </a:xfrm>
          <a:prstGeom prst="rect">
            <a:avLst/>
          </a:prstGeom>
          <a:noFill/>
          <a:effectLst/>
        </p:spPr>
        <p:txBody>
          <a:bodyPr wrap="square" lIns="54864" rIns="54864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300" b="1">
                <a:solidFill>
                  <a:srgbClr val="2864B7"/>
                </a:solidFill>
                <a:latin typeface="Liberation Sans"/>
              </a:rPr>
              <a:t>TEXT PATH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0" y="1444752"/>
            <a:ext cx="9966960" cy="365760"/>
          </a:xfrm>
          <a:prstGeom prst="rect">
            <a:avLst/>
          </a:prstGeom>
          <a:noFill/>
          <a:effectLst/>
        </p:spPr>
        <p:txBody>
          <a:bodyPr wrap="square" lIns="54864" rIns="54864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2300" b="1">
                <a:solidFill>
                  <a:srgbClr val="087E83"/>
                </a:solidFill>
                <a:latin typeface="Liberation Sans"/>
              </a:rPr>
              <a:t>GRAPH PATH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02920" y="9482328"/>
            <a:ext cx="18653758" cy="1865376"/>
          </a:xfrm>
          <a:prstGeom prst="roundRect">
            <a:avLst>
              <a:gd name="adj" fmla="val 7352"/>
            </a:avLst>
          </a:prstGeom>
          <a:solidFill>
            <a:srgbClr val="F6F8FB"/>
          </a:solidFill>
          <a:ln w="13335">
            <a:solidFill>
              <a:srgbClr val="AAB9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41552" y="9496044"/>
            <a:ext cx="18576494" cy="1837944"/>
          </a:xfrm>
          <a:prstGeom prst="rect">
            <a:avLst/>
          </a:prstGeom>
          <a:noFill/>
          <a:effectLst/>
        </p:spPr>
        <p:txBody>
          <a:bodyPr wrap="square" lIns="54864" rIns="54864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</a:p>
        </p:txBody>
      </p:sp>
      <p:sp>
        <p:nvSpPr>
          <p:cNvPr id="85" name="TextBox 84"/>
          <p:cNvSpPr txBox="1"/>
          <p:nvPr/>
        </p:nvSpPr>
        <p:spPr>
          <a:xfrm>
            <a:off x="834051" y="9601200"/>
            <a:ext cx="17881119" cy="310896"/>
          </a:xfrm>
          <a:prstGeom prst="rect">
            <a:avLst/>
          </a:prstGeom>
          <a:noFill/>
          <a:effectLst/>
        </p:spPr>
        <p:txBody>
          <a:bodyPr wrap="square" lIns="54864" rIns="54864" tIns="18288" bIns="18288" anchor="ctr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142B43"/>
                </a:solidFill>
                <a:latin typeface="Liberation Sans"/>
              </a:rPr>
              <a:t>SAME RECOMMENDER ARCHITECTURE  •  Trained independently for each path / arm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944429" y="10113264"/>
            <a:ext cx="3642450" cy="704088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4604">
            <a:solidFill>
              <a:srgbClr val="AAB9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83061" y="10126980"/>
            <a:ext cx="3565186" cy="676656"/>
          </a:xfrm>
          <a:prstGeom prst="rect">
            <a:avLst/>
          </a:prstGeom>
          <a:noFill/>
          <a:effectLst/>
        </p:spPr>
        <p:txBody>
          <a:bodyPr wrap="square" lIns="54864" rIns="54864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0">
                <a:solidFill>
                  <a:srgbClr val="142B43"/>
                </a:solidFill>
                <a:latin typeface="Liberation Sans"/>
              </a:rPr>
              <a:t>Video vectors: 512</a:t>
            </a:r>
          </a:p>
          <a:p>
            <a:pPr algn="ctr">
              <a:spcAft>
                <a:spcPts val="200"/>
              </a:spcAft>
            </a:pPr>
            <a:r>
              <a:rPr sz="1800" b="0">
                <a:solidFill>
                  <a:srgbClr val="142B43"/>
                </a:solidFill>
                <a:latin typeface="Liberation Sans"/>
              </a:rPr>
              <a:t>History: up to 10 × 512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5271218" y="10113264"/>
            <a:ext cx="3532072" cy="704088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4604">
            <a:solidFill>
              <a:srgbClr val="AAB9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309850" y="10126980"/>
            <a:ext cx="3454808" cy="676656"/>
          </a:xfrm>
          <a:prstGeom prst="rect">
            <a:avLst/>
          </a:prstGeom>
          <a:noFill/>
          <a:effectLst/>
        </p:spPr>
        <p:txBody>
          <a:bodyPr wrap="square" lIns="54864" rIns="54864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0">
                <a:solidFill>
                  <a:srgbClr val="142B43"/>
                </a:solidFill>
                <a:latin typeface="Liberation Sans"/>
              </a:rPr>
              <a:t>SASRec</a:t>
            </a:r>
          </a:p>
          <a:p>
            <a:pPr algn="ctr">
              <a:spcAft>
                <a:spcPts val="200"/>
              </a:spcAft>
            </a:pPr>
            <a:r>
              <a:rPr sz="1800" b="0">
                <a:solidFill>
                  <a:srgbClr val="142B43"/>
                </a:solidFill>
                <a:latin typeface="Liberation Sans"/>
              </a:rPr>
              <a:t>2 blocks · 2 heads · 512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9498666" y="10113264"/>
            <a:ext cx="3476884" cy="704088"/>
          </a:xfrm>
          <a:prstGeom prst="roundRect">
            <a:avLst>
              <a:gd name="adj" fmla="val 7142"/>
            </a:avLst>
          </a:prstGeom>
          <a:solidFill>
            <a:srgbClr val="FFFFFF"/>
          </a:solidFill>
          <a:ln w="14604">
            <a:solidFill>
              <a:srgbClr val="AAB9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537299" y="10126980"/>
            <a:ext cx="3399620" cy="676656"/>
          </a:xfrm>
          <a:prstGeom prst="rect">
            <a:avLst/>
          </a:prstGeom>
          <a:noFill/>
          <a:effectLst/>
        </p:spPr>
        <p:txBody>
          <a:bodyPr wrap="none" lIns="54864" rIns="54864" tIns="18288" bIns="18288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9324F"/>
                </a:solidFill>
                <a:latin typeface="Liberation Sans"/>
              </a:rPr>
              <a:t>Last valid position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9324F"/>
                </a:solidFill>
                <a:latin typeface="Liberation Sans"/>
              </a:rPr>
              <a:t>User Residual MLP · GELU + LN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13858570" y="10113264"/>
            <a:ext cx="4525467" cy="704088"/>
          </a:xfrm>
          <a:prstGeom prst="roundRect">
            <a:avLst>
              <a:gd name="adj" fmla="val 7142"/>
            </a:avLst>
          </a:prstGeom>
          <a:solidFill>
            <a:srgbClr val="E5EBF2"/>
          </a:solidFill>
          <a:ln w="14604">
            <a:solidFill>
              <a:srgbClr val="AAB9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3897202" y="10126980"/>
            <a:ext cx="4448203" cy="676656"/>
          </a:xfrm>
          <a:prstGeom prst="rect">
            <a:avLst/>
          </a:prstGeom>
          <a:noFill/>
          <a:effectLst/>
        </p:spPr>
        <p:txBody>
          <a:bodyPr wrap="square" lIns="54864" rIns="54864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42B43"/>
                </a:solidFill>
                <a:latin typeface="Liberation Sans"/>
              </a:rPr>
              <a:t>Dot product</a:t>
            </a:r>
          </a:p>
          <a:p>
            <a:pPr algn="ctr">
              <a:spcAft>
                <a:spcPts val="200"/>
              </a:spcAft>
            </a:pPr>
            <a:r>
              <a:rPr sz="1800" b="1">
                <a:solidFill>
                  <a:srgbClr val="142B43"/>
                </a:solidFill>
                <a:latin typeface="Liberation Sans"/>
              </a:rPr>
              <a:t>User 512 · Candidate 512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4586879" y="10465308"/>
            <a:ext cx="684339" cy="0"/>
          </a:xfrm>
          <a:prstGeom prst="line">
            <a:avLst/>
          </a:prstGeom>
          <a:ln w="17780">
            <a:solidFill>
              <a:srgbClr val="61728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Connector 94"/>
          <p:cNvCxnSpPr/>
          <p:nvPr/>
        </p:nvCxnSpPr>
        <p:spPr>
          <a:xfrm>
            <a:off x="8803291" y="10465308"/>
            <a:ext cx="695375" cy="0"/>
          </a:xfrm>
          <a:prstGeom prst="line">
            <a:avLst/>
          </a:prstGeom>
          <a:ln w="17780">
            <a:solidFill>
              <a:srgbClr val="61728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Connector 95"/>
          <p:cNvCxnSpPr/>
          <p:nvPr/>
        </p:nvCxnSpPr>
        <p:spPr>
          <a:xfrm>
            <a:off x="12975552" y="10465308"/>
            <a:ext cx="883018" cy="0"/>
          </a:xfrm>
          <a:prstGeom prst="line">
            <a:avLst/>
          </a:prstGeom>
          <a:ln w="17780">
            <a:solidFill>
              <a:srgbClr val="61728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Connector 96"/>
          <p:cNvCxnSpPr/>
          <p:nvPr/>
        </p:nvCxnSpPr>
        <p:spPr>
          <a:xfrm>
            <a:off x="2765654" y="10817352"/>
            <a:ext cx="0" cy="384048"/>
          </a:xfrm>
          <a:prstGeom prst="line">
            <a:avLst/>
          </a:prstGeom>
          <a:ln w="17780">
            <a:solidFill>
              <a:srgbClr val="6172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8" name="Connector 97"/>
          <p:cNvCxnSpPr/>
          <p:nvPr/>
        </p:nvCxnSpPr>
        <p:spPr>
          <a:xfrm>
            <a:off x="2765654" y="11201400"/>
            <a:ext cx="13355650" cy="0"/>
          </a:xfrm>
          <a:prstGeom prst="line">
            <a:avLst/>
          </a:prstGeom>
          <a:ln w="17780">
            <a:solidFill>
              <a:srgbClr val="61728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 flipV="1">
            <a:off x="16121304" y="10817352"/>
            <a:ext cx="0" cy="384048"/>
          </a:xfrm>
          <a:prstGeom prst="line">
            <a:avLst/>
          </a:prstGeom>
          <a:ln w="17780">
            <a:solidFill>
              <a:srgbClr val="617286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0" name="TextBox 99"/>
          <p:cNvSpPr txBox="1"/>
          <p:nvPr/>
        </p:nvSpPr>
        <p:spPr>
          <a:xfrm>
            <a:off x="5525086" y="10908792"/>
            <a:ext cx="7284900" cy="228600"/>
          </a:xfrm>
          <a:prstGeom prst="rect">
            <a:avLst/>
          </a:prstGeom>
          <a:noFill/>
          <a:effectLst/>
        </p:spPr>
        <p:txBody>
          <a:bodyPr wrap="square" lIns="54864" rIns="54864" tIns="18288" bIns="18288" anchor="ctr">
            <a:spAutoFit/>
          </a:bodyPr>
          <a:lstStyle/>
          <a:p>
            <a:pPr algn="ctr">
              <a:spcAft>
                <a:spcPts val="200"/>
              </a:spcAft>
            </a:pPr>
            <a:r>
              <a:rPr sz="1200" b="0">
                <a:solidFill>
                  <a:srgbClr val="617286"/>
                </a:solidFill>
                <a:latin typeface="Liberation Sans"/>
              </a:rPr>
              <a:t>Candidate video vectors bypass the sequence encoder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4087368" y="2057400"/>
            <a:ext cx="1783080" cy="685800"/>
          </a:xfrm>
          <a:prstGeom prst="roundRect">
            <a:avLst>
              <a:gd name="adj" fmla="val 7333"/>
            </a:avLst>
          </a:prstGeom>
          <a:solidFill>
            <a:srgbClr val="FFFFFF"/>
          </a:solidFill>
          <a:ln w="14604">
            <a:solidFill>
              <a:srgbClr val="2465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800">
                <a:solidFill>
                  <a:srgbClr val="19324F"/>
                </a:solidFill>
                <a:latin typeface="Aptos"/>
              </a:rPr>
              <a:t>Title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4087368" y="3291840"/>
            <a:ext cx="1783080" cy="731520"/>
          </a:xfrm>
          <a:prstGeom prst="roundRect">
            <a:avLst>
              <a:gd name="adj" fmla="val 6875"/>
            </a:avLst>
          </a:prstGeom>
          <a:solidFill>
            <a:srgbClr val="EFF3F7"/>
          </a:solidFill>
          <a:ln w="14604">
            <a:solidFill>
              <a:srgbClr val="2465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700">
                <a:solidFill>
                  <a:srgbClr val="19324F"/>
                </a:solidFill>
                <a:latin typeface="Aptos"/>
              </a:rPr>
              <a:t>BGE [frozen]</a:t>
            </a:r>
          </a:p>
          <a:p>
            <a:pPr algn="ctr"/>
            <a:r>
              <a:rPr sz="1700">
                <a:solidFill>
                  <a:srgbClr val="19324F"/>
                </a:solidFill>
                <a:latin typeface="Aptos"/>
              </a:rPr>
              <a:t>1,024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4087368" y="4617720"/>
            <a:ext cx="1783080" cy="731520"/>
          </a:xfrm>
          <a:prstGeom prst="roundRect">
            <a:avLst>
              <a:gd name="adj" fmla="val 6875"/>
            </a:avLst>
          </a:prstGeom>
          <a:solidFill>
            <a:srgbClr val="FFFFFF"/>
          </a:solidFill>
          <a:ln w="14604">
            <a:solidFill>
              <a:srgbClr val="2465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>
                <a:solidFill>
                  <a:srgbClr val="19324F"/>
                </a:solidFill>
                <a:latin typeface="Aptos"/>
              </a:rPr>
              <a:t>Linear projection</a:t>
            </a:r>
          </a:p>
          <a:p>
            <a:pPr algn="ctr"/>
            <a:r>
              <a:rPr sz="1600">
                <a:solidFill>
                  <a:srgbClr val="19324F"/>
                </a:solidFill>
                <a:latin typeface="Aptos"/>
              </a:rPr>
              <a:t>1,024 → 128</a:t>
            </a:r>
          </a:p>
        </p:txBody>
      </p:sp>
      <p:cxnSp>
        <p:nvCxnSpPr>
          <p:cNvPr id="105" name="Connector 104"/>
          <p:cNvCxnSpPr/>
          <p:nvPr/>
        </p:nvCxnSpPr>
        <p:spPr>
          <a:xfrm>
            <a:off x="4978907" y="2743200"/>
            <a:ext cx="0" cy="548640"/>
          </a:xfrm>
          <a:prstGeom prst="line">
            <a:avLst/>
          </a:prstGeom>
          <a:ln w="15875">
            <a:solidFill>
              <a:srgbClr val="2465C4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Connector 105"/>
          <p:cNvCxnSpPr/>
          <p:nvPr/>
        </p:nvCxnSpPr>
        <p:spPr>
          <a:xfrm>
            <a:off x="4978907" y="4023360"/>
            <a:ext cx="0" cy="594360"/>
          </a:xfrm>
          <a:prstGeom prst="line">
            <a:avLst/>
          </a:prstGeom>
          <a:ln w="15875">
            <a:solidFill>
              <a:srgbClr val="2465C4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Rounded Rectangle 108"/>
          <p:cNvSpPr/>
          <p:nvPr/>
        </p:nvSpPr>
        <p:spPr>
          <a:xfrm>
            <a:off x="6053328" y="2057400"/>
            <a:ext cx="1783080" cy="685800"/>
          </a:xfrm>
          <a:prstGeom prst="roundRect">
            <a:avLst>
              <a:gd name="adj" fmla="val 7333"/>
            </a:avLst>
          </a:prstGeom>
          <a:solidFill>
            <a:srgbClr val="FFFFFF"/>
          </a:solidFill>
          <a:ln w="14604">
            <a:solidFill>
              <a:srgbClr val="2465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800">
                <a:solidFill>
                  <a:srgbClr val="19324F"/>
                </a:solidFill>
                <a:latin typeface="Aptos"/>
              </a:rPr>
              <a:t>Video Summary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6053328" y="3291840"/>
            <a:ext cx="1783080" cy="731520"/>
          </a:xfrm>
          <a:prstGeom prst="roundRect">
            <a:avLst>
              <a:gd name="adj" fmla="val 6875"/>
            </a:avLst>
          </a:prstGeom>
          <a:solidFill>
            <a:srgbClr val="EFF3F7"/>
          </a:solidFill>
          <a:ln w="14604">
            <a:solidFill>
              <a:srgbClr val="2465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700">
                <a:solidFill>
                  <a:srgbClr val="19324F"/>
                </a:solidFill>
                <a:latin typeface="Aptos"/>
              </a:rPr>
              <a:t>BGE [frozen]</a:t>
            </a:r>
          </a:p>
          <a:p>
            <a:pPr algn="ctr"/>
            <a:r>
              <a:rPr sz="1700">
                <a:solidFill>
                  <a:srgbClr val="19324F"/>
                </a:solidFill>
                <a:latin typeface="Aptos"/>
              </a:rPr>
              <a:t>1,024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6053328" y="4617720"/>
            <a:ext cx="1783080" cy="731520"/>
          </a:xfrm>
          <a:prstGeom prst="roundRect">
            <a:avLst>
              <a:gd name="adj" fmla="val 6875"/>
            </a:avLst>
          </a:prstGeom>
          <a:solidFill>
            <a:srgbClr val="FFFFFF"/>
          </a:solidFill>
          <a:ln w="14604">
            <a:solidFill>
              <a:srgbClr val="2465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1600">
                <a:solidFill>
                  <a:srgbClr val="19324F"/>
                </a:solidFill>
                <a:latin typeface="Aptos"/>
              </a:rPr>
              <a:t>Linear projection</a:t>
            </a:r>
          </a:p>
          <a:p>
            <a:pPr algn="ctr"/>
            <a:r>
              <a:rPr sz="1600">
                <a:solidFill>
                  <a:srgbClr val="19324F"/>
                </a:solidFill>
                <a:latin typeface="Aptos"/>
              </a:rPr>
              <a:t>1,024 → 384</a:t>
            </a:r>
          </a:p>
        </p:txBody>
      </p:sp>
      <p:cxnSp>
        <p:nvCxnSpPr>
          <p:cNvPr id="112" name="Connector 111"/>
          <p:cNvCxnSpPr/>
          <p:nvPr/>
        </p:nvCxnSpPr>
        <p:spPr>
          <a:xfrm>
            <a:off x="6944868" y="2743200"/>
            <a:ext cx="0" cy="548640"/>
          </a:xfrm>
          <a:prstGeom prst="line">
            <a:avLst/>
          </a:prstGeom>
          <a:ln w="15875">
            <a:solidFill>
              <a:srgbClr val="2465C4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3" name="Connector 112"/>
          <p:cNvCxnSpPr/>
          <p:nvPr/>
        </p:nvCxnSpPr>
        <p:spPr>
          <a:xfrm>
            <a:off x="6944868" y="4023360"/>
            <a:ext cx="0" cy="594360"/>
          </a:xfrm>
          <a:prstGeom prst="line">
            <a:avLst/>
          </a:prstGeom>
          <a:ln w="15875">
            <a:solidFill>
              <a:srgbClr val="2465C4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Rounded Rectangle 116"/>
          <p:cNvSpPr/>
          <p:nvPr/>
        </p:nvSpPr>
        <p:spPr>
          <a:xfrm>
            <a:off x="4087368" y="7406640"/>
            <a:ext cx="3794760" cy="621792"/>
          </a:xfrm>
          <a:prstGeom prst="roundRect">
            <a:avLst>
              <a:gd name="adj" fmla="val 7857"/>
            </a:avLst>
          </a:prstGeom>
          <a:solidFill>
            <a:srgbClr val="E7F0FF"/>
          </a:solidFill>
          <a:ln w="14604">
            <a:solidFill>
              <a:srgbClr val="2465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lIns="54864" rIns="54864" tIns="27432" bIns="27432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9324F"/>
                </a:solidFill>
                <a:latin typeface="Liberation Sans"/>
              </a:rPr>
              <a:t>Concat: [Title 128; Summary 384]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9324F"/>
                </a:solidFill>
                <a:latin typeface="Liberation Sans"/>
              </a:rPr>
              <a:t>512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4087368" y="8183879"/>
            <a:ext cx="3794760" cy="786384"/>
          </a:xfrm>
          <a:prstGeom prst="roundRect">
            <a:avLst>
              <a:gd name="adj" fmla="val 11000"/>
            </a:avLst>
          </a:prstGeom>
          <a:solidFill>
            <a:srgbClr val="E7F0FF"/>
          </a:solidFill>
          <a:ln w="14604">
            <a:solidFill>
              <a:srgbClr val="2465C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tIns="27432" bIns="27432" wrap="none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>
                <a:solidFill>
                  <a:srgbClr val="19324F"/>
                </a:solidFill>
                <a:latin typeface="Liberation Sans"/>
              </a:rPr>
              <a:t>1-layer Item Residual MLP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>
                <a:solidFill>
                  <a:srgbClr val="19324F"/>
                </a:solidFill>
                <a:latin typeface="Liberation Sans"/>
              </a:rPr>
              <a:t>512 → 512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>
                <a:solidFill>
                  <a:srgbClr val="19324F"/>
                </a:solidFill>
                <a:latin typeface="Liberation Sans"/>
              </a:rPr>
              <a:t>ReLU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502920" y="1298448"/>
            <a:ext cx="2926080" cy="7973568"/>
          </a:xfrm>
          <a:prstGeom prst="roundRect">
            <a:avLst>
              <a:gd name="adj" fmla="val 4687"/>
            </a:avLst>
          </a:prstGeom>
          <a:solidFill>
            <a:srgbClr val="F5F6F7"/>
          </a:solidFill>
          <a:ln w="14604">
            <a:solidFill>
              <a:srgbClr val="AAB1B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ctr"/>
            <a:r>
              <a:rPr sz="1800">
                <a:solidFill>
                  <a:srgbClr val="19324F"/>
                </a:solidFill>
                <a:latin typeface="Aptos"/>
              </a:rPr>
              <a:t/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31520" y="1444752"/>
            <a:ext cx="2560320" cy="36576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2400" b="1">
                <a:solidFill>
                  <a:srgbClr val="626C78"/>
                </a:solidFill>
                <a:latin typeface="Aptos"/>
              </a:rPr>
              <a:t>Baseline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822960" y="2057400"/>
            <a:ext cx="2286000" cy="685800"/>
          </a:xfrm>
          <a:prstGeom prst="roundRect">
            <a:avLst>
              <a:gd name="adj" fmla="val 7333"/>
            </a:avLst>
          </a:prstGeom>
          <a:solidFill>
            <a:srgbClr val="FFFFFF"/>
          </a:solidFill>
          <a:ln w="14604">
            <a:solidFill>
              <a:srgbClr val="AAB1B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ctr"/>
            <a:r>
              <a:rPr sz="1800">
                <a:solidFill>
                  <a:srgbClr val="19324F"/>
                </a:solidFill>
                <a:latin typeface="Aptos"/>
              </a:rPr>
              <a:t>Title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822960" y="3291840"/>
            <a:ext cx="2286000" cy="731520"/>
          </a:xfrm>
          <a:prstGeom prst="roundRect">
            <a:avLst>
              <a:gd name="adj" fmla="val 6874"/>
            </a:avLst>
          </a:prstGeom>
          <a:solidFill>
            <a:srgbClr val="EEF0F2"/>
          </a:solidFill>
          <a:ln w="14604">
            <a:solidFill>
              <a:srgbClr val="AAB1B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ctr"/>
            <a:r>
              <a:rPr sz="1800">
                <a:solidFill>
                  <a:srgbClr val="19324F"/>
                </a:solidFill>
                <a:latin typeface="Aptos"/>
              </a:rPr>
              <a:t>BGE [frozen]</a:t>
            </a:r>
          </a:p>
          <a:p>
            <a:pPr algn="ctr"/>
            <a:r>
              <a:rPr sz="1800">
                <a:solidFill>
                  <a:srgbClr val="19324F"/>
                </a:solidFill>
                <a:latin typeface="Aptos"/>
              </a:rPr>
              <a:t>1,024</a:t>
            </a:r>
          </a:p>
        </p:txBody>
      </p:sp>
      <p:sp>
        <p:nvSpPr>
          <p:cNvPr id="170" name="Rounded Rectangle 169"/>
          <p:cNvSpPr/>
          <p:nvPr/>
        </p:nvSpPr>
        <p:spPr>
          <a:xfrm>
            <a:off x="822960" y="4617720"/>
            <a:ext cx="2286000" cy="731520"/>
          </a:xfrm>
          <a:prstGeom prst="roundRect">
            <a:avLst>
              <a:gd name="adj" fmla="val 6874"/>
            </a:avLst>
          </a:prstGeom>
          <a:solidFill>
            <a:srgbClr val="FFFFFF"/>
          </a:solidFill>
          <a:ln w="14604">
            <a:solidFill>
              <a:srgbClr val="AAB1B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tIns="27432" bIns="27432"/>
          <a:lstStyle/>
          <a:p>
            <a:pPr algn="ctr"/>
            <a:r>
              <a:rPr sz="1800">
                <a:solidFill>
                  <a:srgbClr val="19324F"/>
                </a:solidFill>
                <a:latin typeface="Aptos"/>
              </a:rPr>
              <a:t>Linear projection</a:t>
            </a:r>
          </a:p>
          <a:p>
            <a:pPr algn="ctr"/>
            <a:r>
              <a:rPr sz="1800">
                <a:solidFill>
                  <a:srgbClr val="19324F"/>
                </a:solidFill>
                <a:latin typeface="Aptos"/>
              </a:rPr>
              <a:t>1,024 → 512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822960" y="8183879"/>
            <a:ext cx="2286000" cy="786384"/>
          </a:xfrm>
          <a:prstGeom prst="roundRect">
            <a:avLst>
              <a:gd name="adj" fmla="val 11000"/>
            </a:avLst>
          </a:prstGeom>
          <a:solidFill>
            <a:srgbClr val="E9ECEF"/>
          </a:solidFill>
          <a:ln w="14604">
            <a:solidFill>
              <a:srgbClr val="AAB1B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none" tIns="27432" bIns="27432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>
                <a:solidFill>
                  <a:srgbClr val="19324F"/>
                </a:solidFill>
                <a:latin typeface="Liberation Sans"/>
              </a:rPr>
              <a:t>1-layer Item Residual MLP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>
                <a:solidFill>
                  <a:srgbClr val="19324F"/>
                </a:solidFill>
                <a:latin typeface="Liberation Sans"/>
              </a:rPr>
              <a:t>512 → 512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>
                <a:solidFill>
                  <a:srgbClr val="19324F"/>
                </a:solidFill>
                <a:latin typeface="Liberation Sans"/>
              </a:rPr>
              <a:t>ReLU</a:t>
            </a:r>
          </a:p>
        </p:txBody>
      </p:sp>
      <p:cxnSp>
        <p:nvCxnSpPr>
          <p:cNvPr id="172" name="Connector 171"/>
          <p:cNvCxnSpPr/>
          <p:nvPr/>
        </p:nvCxnSpPr>
        <p:spPr>
          <a:xfrm>
            <a:off x="1965960" y="2743200"/>
            <a:ext cx="0" cy="548640"/>
          </a:xfrm>
          <a:prstGeom prst="line">
            <a:avLst/>
          </a:prstGeom>
          <a:ln w="15875">
            <a:solidFill>
              <a:srgbClr val="7F8995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Connector 172"/>
          <p:cNvCxnSpPr/>
          <p:nvPr/>
        </p:nvCxnSpPr>
        <p:spPr>
          <a:xfrm>
            <a:off x="1965960" y="4023360"/>
            <a:ext cx="0" cy="594360"/>
          </a:xfrm>
          <a:prstGeom prst="line">
            <a:avLst/>
          </a:prstGeom>
          <a:ln w="15875">
            <a:solidFill>
              <a:srgbClr val="7F8995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Baseline projection to MLP segment 1"/>
          <p:cNvCxnSpPr/>
          <p:nvPr/>
        </p:nvCxnSpPr>
        <p:spPr>
          <a:xfrm>
            <a:off x="1965960" y="5349240"/>
            <a:ext cx="0" cy="2834639"/>
          </a:xfrm>
          <a:prstGeom prst="line">
            <a:avLst/>
          </a:prstGeom>
          <a:ln w="22860">
            <a:solidFill>
              <a:srgbClr val="AAB1B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5" name="Baseline item output segment 1"/>
          <p:cNvCxnSpPr/>
          <p:nvPr/>
        </p:nvCxnSpPr>
        <p:spPr>
          <a:xfrm>
            <a:off x="1965960" y="8970264"/>
            <a:ext cx="0" cy="512064"/>
          </a:xfrm>
          <a:prstGeom prst="line">
            <a:avLst/>
          </a:prstGeom>
          <a:ln w="22860">
            <a:solidFill>
              <a:srgbClr val="AAB1B9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6" name="Text component to concat segment 1"/>
          <p:cNvCxnSpPr/>
          <p:nvPr/>
        </p:nvCxnSpPr>
        <p:spPr>
          <a:xfrm>
            <a:off x="4978908" y="5349240"/>
            <a:ext cx="0" cy="1645920"/>
          </a:xfrm>
          <a:prstGeom prst="line">
            <a:avLst/>
          </a:prstGeom>
          <a:ln w="22860">
            <a:solidFill>
              <a:srgbClr val="246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7" name="Text component to concat segment 2"/>
          <p:cNvCxnSpPr/>
          <p:nvPr/>
        </p:nvCxnSpPr>
        <p:spPr>
          <a:xfrm>
            <a:off x="4978908" y="6995160"/>
            <a:ext cx="1005840" cy="0"/>
          </a:xfrm>
          <a:prstGeom prst="line">
            <a:avLst/>
          </a:prstGeom>
          <a:ln w="22860">
            <a:solidFill>
              <a:srgbClr val="246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8" name="Text component to concat segment 1"/>
          <p:cNvCxnSpPr/>
          <p:nvPr/>
        </p:nvCxnSpPr>
        <p:spPr>
          <a:xfrm>
            <a:off x="6944868" y="5349240"/>
            <a:ext cx="0" cy="1645920"/>
          </a:xfrm>
          <a:prstGeom prst="line">
            <a:avLst/>
          </a:prstGeom>
          <a:ln w="22860">
            <a:solidFill>
              <a:srgbClr val="246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9" name="Text component to concat segment 2"/>
          <p:cNvCxnSpPr/>
          <p:nvPr/>
        </p:nvCxnSpPr>
        <p:spPr>
          <a:xfrm flipH="1">
            <a:off x="5984748" y="6995160"/>
            <a:ext cx="960120" cy="0"/>
          </a:xfrm>
          <a:prstGeom prst="line">
            <a:avLst/>
          </a:prstGeom>
          <a:ln w="22860">
            <a:solidFill>
              <a:srgbClr val="2465C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0" name="Text concat input segment 1"/>
          <p:cNvCxnSpPr/>
          <p:nvPr/>
        </p:nvCxnSpPr>
        <p:spPr>
          <a:xfrm>
            <a:off x="5984748" y="6995160"/>
            <a:ext cx="0" cy="411480"/>
          </a:xfrm>
          <a:prstGeom prst="line">
            <a:avLst/>
          </a:prstGeom>
          <a:ln w="22860">
            <a:solidFill>
              <a:srgbClr val="2465C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1" name="Text concat to MLP segment 1"/>
          <p:cNvCxnSpPr/>
          <p:nvPr/>
        </p:nvCxnSpPr>
        <p:spPr>
          <a:xfrm>
            <a:off x="5984748" y="8028431"/>
            <a:ext cx="0" cy="155448"/>
          </a:xfrm>
          <a:prstGeom prst="line">
            <a:avLst/>
          </a:prstGeom>
          <a:ln w="22860">
            <a:solidFill>
              <a:srgbClr val="2465C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2" name="Text item output segment 1"/>
          <p:cNvCxnSpPr/>
          <p:nvPr/>
        </p:nvCxnSpPr>
        <p:spPr>
          <a:xfrm>
            <a:off x="5984748" y="8970264"/>
            <a:ext cx="0" cy="512064"/>
          </a:xfrm>
          <a:prstGeom prst="line">
            <a:avLst/>
          </a:prstGeom>
          <a:ln w="22860">
            <a:solidFill>
              <a:srgbClr val="2465C4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3" name="GNN model subtitle"/>
          <p:cNvSpPr txBox="1"/>
          <p:nvPr/>
        </p:nvSpPr>
        <p:spPr>
          <a:xfrm>
            <a:off x="594360" y="850392"/>
            <a:ext cx="18379440" cy="274320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62768D"/>
                </a:solidFill>
                <a:latin typeface="Liberation Sans"/>
              </a:rPr>
              <a:t>DCGN-inspired scene GCN  |  Similarity excludes Title  |  Frozen BGE Large: 1,024</a:t>
            </a:r>
          </a:p>
        </p:txBody>
      </p:sp>
      <p:sp>
        <p:nvSpPr>
          <p:cNvPr id="184" name="Graph Title"/>
          <p:cNvSpPr/>
          <p:nvPr/>
        </p:nvSpPr>
        <p:spPr>
          <a:xfrm>
            <a:off x="8869680" y="2011680"/>
            <a:ext cx="2286000" cy="5029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08B9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5" name="Graph Title text"/>
          <p:cNvSpPr txBox="1"/>
          <p:nvPr/>
        </p:nvSpPr>
        <p:spPr>
          <a:xfrm>
            <a:off x="8933688" y="2039112"/>
            <a:ext cx="2157984" cy="448056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24F"/>
                </a:solidFill>
                <a:latin typeface="Liberation Sans"/>
              </a:rPr>
              <a:t>Title</a:t>
            </a:r>
          </a:p>
        </p:txBody>
      </p:sp>
      <p:sp>
        <p:nvSpPr>
          <p:cNvPr id="186" name="Graph Title BGE"/>
          <p:cNvSpPr/>
          <p:nvPr/>
        </p:nvSpPr>
        <p:spPr>
          <a:xfrm>
            <a:off x="8869680" y="2688336"/>
            <a:ext cx="2286000" cy="548640"/>
          </a:xfrm>
          <a:prstGeom prst="roundRect">
            <a:avLst>
              <a:gd name="adj" fmla="val 12000"/>
            </a:avLst>
          </a:prstGeom>
          <a:solidFill>
            <a:srgbClr val="EFF3F7"/>
          </a:solidFill>
          <a:ln w="15240">
            <a:solidFill>
              <a:srgbClr val="008B9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7" name="Graph Title BGE text"/>
          <p:cNvSpPr txBox="1"/>
          <p:nvPr/>
        </p:nvSpPr>
        <p:spPr>
          <a:xfrm>
            <a:off x="8933688" y="2715768"/>
            <a:ext cx="2157984" cy="493776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9324F"/>
                </a:solidFill>
                <a:latin typeface="Liberation Sans"/>
              </a:rPr>
              <a:t>BGE [frozen]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9324F"/>
                </a:solidFill>
                <a:latin typeface="Liberation Sans"/>
              </a:rPr>
              <a:t>1,024</a:t>
            </a:r>
          </a:p>
        </p:txBody>
      </p:sp>
      <p:sp>
        <p:nvSpPr>
          <p:cNvPr id="188" name="Graph Title projection"/>
          <p:cNvSpPr/>
          <p:nvPr/>
        </p:nvSpPr>
        <p:spPr>
          <a:xfrm>
            <a:off x="8869680" y="3429000"/>
            <a:ext cx="2286000" cy="594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08B9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9" name="Graph Title projection text"/>
          <p:cNvSpPr txBox="1"/>
          <p:nvPr/>
        </p:nvSpPr>
        <p:spPr>
          <a:xfrm>
            <a:off x="8933688" y="3456432"/>
            <a:ext cx="2157984" cy="539496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24F"/>
                </a:solidFill>
                <a:latin typeface="Liberation Sans"/>
              </a:rPr>
              <a:t>Linear Projection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24F"/>
                </a:solidFill>
                <a:latin typeface="Liberation Sans"/>
              </a:rPr>
              <a:t>1,024 → 128</a:t>
            </a:r>
          </a:p>
        </p:txBody>
      </p:sp>
      <p:cxnSp>
        <p:nvCxnSpPr>
          <p:cNvPr id="190" name="Title to BGE segment 1"/>
          <p:cNvCxnSpPr/>
          <p:nvPr/>
        </p:nvCxnSpPr>
        <p:spPr>
          <a:xfrm>
            <a:off x="10012680" y="2514600"/>
            <a:ext cx="0" cy="173736"/>
          </a:xfrm>
          <a:prstGeom prst="line">
            <a:avLst/>
          </a:prstGeom>
          <a:ln w="22860">
            <a:solidFill>
              <a:srgbClr val="62768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1" name="Title to projection segment 1"/>
          <p:cNvCxnSpPr/>
          <p:nvPr/>
        </p:nvCxnSpPr>
        <p:spPr>
          <a:xfrm>
            <a:off x="10012680" y="3236976"/>
            <a:ext cx="0" cy="192024"/>
          </a:xfrm>
          <a:prstGeom prst="line">
            <a:avLst/>
          </a:prstGeom>
          <a:ln w="22860">
            <a:solidFill>
              <a:srgbClr val="008B9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2" name="Graph Entities"/>
          <p:cNvSpPr/>
          <p:nvPr/>
        </p:nvSpPr>
        <p:spPr>
          <a:xfrm>
            <a:off x="11430000" y="2011680"/>
            <a:ext cx="2286000" cy="5029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08B9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3" name="Graph Entities text"/>
          <p:cNvSpPr txBox="1"/>
          <p:nvPr/>
        </p:nvSpPr>
        <p:spPr>
          <a:xfrm>
            <a:off x="11494008" y="2039112"/>
            <a:ext cx="2157984" cy="448056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24F"/>
                </a:solidFill>
                <a:latin typeface="Liberation Sans"/>
              </a:rPr>
              <a:t>Entities</a:t>
            </a:r>
          </a:p>
        </p:txBody>
      </p:sp>
      <p:sp>
        <p:nvSpPr>
          <p:cNvPr id="194" name="Graph Entities BGE"/>
          <p:cNvSpPr/>
          <p:nvPr/>
        </p:nvSpPr>
        <p:spPr>
          <a:xfrm>
            <a:off x="11430000" y="2688336"/>
            <a:ext cx="2286000" cy="548640"/>
          </a:xfrm>
          <a:prstGeom prst="roundRect">
            <a:avLst>
              <a:gd name="adj" fmla="val 12000"/>
            </a:avLst>
          </a:prstGeom>
          <a:solidFill>
            <a:srgbClr val="EFF3F7"/>
          </a:solidFill>
          <a:ln w="15240">
            <a:solidFill>
              <a:srgbClr val="008B9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5" name="Graph Entities BGE text"/>
          <p:cNvSpPr txBox="1"/>
          <p:nvPr/>
        </p:nvSpPr>
        <p:spPr>
          <a:xfrm>
            <a:off x="11494008" y="2715768"/>
            <a:ext cx="2157984" cy="493776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9324F"/>
                </a:solidFill>
                <a:latin typeface="Liberation Sans"/>
              </a:rPr>
              <a:t>BGE [frozen]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9324F"/>
                </a:solidFill>
                <a:latin typeface="Liberation Sans"/>
              </a:rPr>
              <a:t>E × 1,024</a:t>
            </a:r>
          </a:p>
        </p:txBody>
      </p:sp>
      <p:sp>
        <p:nvSpPr>
          <p:cNvPr id="196" name="Graph Entities projection"/>
          <p:cNvSpPr/>
          <p:nvPr/>
        </p:nvSpPr>
        <p:spPr>
          <a:xfrm>
            <a:off x="11430000" y="3429000"/>
            <a:ext cx="2286000" cy="594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08B9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7" name="Graph Entities projection text"/>
          <p:cNvSpPr txBox="1"/>
          <p:nvPr/>
        </p:nvSpPr>
        <p:spPr>
          <a:xfrm>
            <a:off x="11494008" y="3456432"/>
            <a:ext cx="2157984" cy="539496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24F"/>
                </a:solidFill>
                <a:latin typeface="Liberation Sans"/>
              </a:rPr>
              <a:t>Linear Projection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24F"/>
                </a:solidFill>
                <a:latin typeface="Liberation Sans"/>
              </a:rPr>
              <a:t>1,024 → 128</a:t>
            </a:r>
          </a:p>
        </p:txBody>
      </p:sp>
      <p:cxnSp>
        <p:nvCxnSpPr>
          <p:cNvPr id="198" name="Entities to BGE segment 1"/>
          <p:cNvCxnSpPr/>
          <p:nvPr/>
        </p:nvCxnSpPr>
        <p:spPr>
          <a:xfrm>
            <a:off x="12573000" y="2514600"/>
            <a:ext cx="0" cy="173736"/>
          </a:xfrm>
          <a:prstGeom prst="line">
            <a:avLst/>
          </a:prstGeom>
          <a:ln w="22860">
            <a:solidFill>
              <a:srgbClr val="62768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9" name="Entities to projection segment 1"/>
          <p:cNvCxnSpPr/>
          <p:nvPr/>
        </p:nvCxnSpPr>
        <p:spPr>
          <a:xfrm>
            <a:off x="12573000" y="3236976"/>
            <a:ext cx="0" cy="192024"/>
          </a:xfrm>
          <a:prstGeom prst="line">
            <a:avLst/>
          </a:prstGeom>
          <a:ln w="22860">
            <a:solidFill>
              <a:srgbClr val="008B9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0" name="Graph Actions"/>
          <p:cNvSpPr/>
          <p:nvPr/>
        </p:nvSpPr>
        <p:spPr>
          <a:xfrm>
            <a:off x="13990320" y="2011680"/>
            <a:ext cx="2286000" cy="5029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08B9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1" name="Graph Actions text"/>
          <p:cNvSpPr txBox="1"/>
          <p:nvPr/>
        </p:nvSpPr>
        <p:spPr>
          <a:xfrm>
            <a:off x="14054328" y="2039112"/>
            <a:ext cx="2157984" cy="448056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24F"/>
                </a:solidFill>
                <a:latin typeface="Liberation Sans"/>
              </a:rPr>
              <a:t>Actions</a:t>
            </a:r>
          </a:p>
        </p:txBody>
      </p:sp>
      <p:sp>
        <p:nvSpPr>
          <p:cNvPr id="202" name="Graph Actions BGE"/>
          <p:cNvSpPr/>
          <p:nvPr/>
        </p:nvSpPr>
        <p:spPr>
          <a:xfrm>
            <a:off x="13990320" y="2688336"/>
            <a:ext cx="2286000" cy="548640"/>
          </a:xfrm>
          <a:prstGeom prst="roundRect">
            <a:avLst>
              <a:gd name="adj" fmla="val 12000"/>
            </a:avLst>
          </a:prstGeom>
          <a:solidFill>
            <a:srgbClr val="EFF3F7"/>
          </a:solidFill>
          <a:ln w="15240">
            <a:solidFill>
              <a:srgbClr val="008B9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3" name="Graph Actions BGE text"/>
          <p:cNvSpPr txBox="1"/>
          <p:nvPr/>
        </p:nvSpPr>
        <p:spPr>
          <a:xfrm>
            <a:off x="14054328" y="2715768"/>
            <a:ext cx="2157984" cy="493776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9324F"/>
                </a:solidFill>
                <a:latin typeface="Liberation Sans"/>
              </a:rPr>
              <a:t>BGE [frozen]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9324F"/>
                </a:solidFill>
                <a:latin typeface="Liberation Sans"/>
              </a:rPr>
              <a:t>A × 1,024</a:t>
            </a:r>
          </a:p>
        </p:txBody>
      </p:sp>
      <p:sp>
        <p:nvSpPr>
          <p:cNvPr id="204" name="Graph Actions projection"/>
          <p:cNvSpPr/>
          <p:nvPr/>
        </p:nvSpPr>
        <p:spPr>
          <a:xfrm>
            <a:off x="13990320" y="3429000"/>
            <a:ext cx="2286000" cy="594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08B9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5" name="Graph Actions projection text"/>
          <p:cNvSpPr txBox="1"/>
          <p:nvPr/>
        </p:nvSpPr>
        <p:spPr>
          <a:xfrm>
            <a:off x="14054328" y="3456432"/>
            <a:ext cx="2157984" cy="539496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24F"/>
                </a:solidFill>
                <a:latin typeface="Liberation Sans"/>
              </a:rPr>
              <a:t>Linear Projection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24F"/>
                </a:solidFill>
                <a:latin typeface="Liberation Sans"/>
              </a:rPr>
              <a:t>1,024 → 128</a:t>
            </a:r>
          </a:p>
        </p:txBody>
      </p:sp>
      <p:cxnSp>
        <p:nvCxnSpPr>
          <p:cNvPr id="206" name="Actions to BGE segment 1"/>
          <p:cNvCxnSpPr/>
          <p:nvPr/>
        </p:nvCxnSpPr>
        <p:spPr>
          <a:xfrm>
            <a:off x="15133320" y="2514600"/>
            <a:ext cx="0" cy="173736"/>
          </a:xfrm>
          <a:prstGeom prst="line">
            <a:avLst/>
          </a:prstGeom>
          <a:ln w="22860">
            <a:solidFill>
              <a:srgbClr val="62768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7" name="Actions to projection segment 1"/>
          <p:cNvCxnSpPr/>
          <p:nvPr/>
        </p:nvCxnSpPr>
        <p:spPr>
          <a:xfrm>
            <a:off x="15133320" y="3236976"/>
            <a:ext cx="0" cy="192024"/>
          </a:xfrm>
          <a:prstGeom prst="line">
            <a:avLst/>
          </a:prstGeom>
          <a:ln w="22860">
            <a:solidFill>
              <a:srgbClr val="008B9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8" name="Graph Context"/>
          <p:cNvSpPr/>
          <p:nvPr/>
        </p:nvSpPr>
        <p:spPr>
          <a:xfrm>
            <a:off x="16550640" y="2011680"/>
            <a:ext cx="2286000" cy="5029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08B9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9" name="Graph Context text"/>
          <p:cNvSpPr txBox="1"/>
          <p:nvPr/>
        </p:nvSpPr>
        <p:spPr>
          <a:xfrm>
            <a:off x="16614648" y="2039112"/>
            <a:ext cx="2157984" cy="448056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9324F"/>
                </a:solidFill>
                <a:latin typeface="Liberation Sans"/>
              </a:rPr>
              <a:t>Context</a:t>
            </a:r>
          </a:p>
        </p:txBody>
      </p:sp>
      <p:sp>
        <p:nvSpPr>
          <p:cNvPr id="210" name="Graph Context BGE"/>
          <p:cNvSpPr/>
          <p:nvPr/>
        </p:nvSpPr>
        <p:spPr>
          <a:xfrm>
            <a:off x="16550640" y="2688336"/>
            <a:ext cx="2286000" cy="548640"/>
          </a:xfrm>
          <a:prstGeom prst="roundRect">
            <a:avLst>
              <a:gd name="adj" fmla="val 12000"/>
            </a:avLst>
          </a:prstGeom>
          <a:solidFill>
            <a:srgbClr val="EFF3F7"/>
          </a:solidFill>
          <a:ln w="15240">
            <a:solidFill>
              <a:srgbClr val="008B9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1" name="Graph Context BGE text"/>
          <p:cNvSpPr txBox="1"/>
          <p:nvPr/>
        </p:nvSpPr>
        <p:spPr>
          <a:xfrm>
            <a:off x="16614648" y="2715768"/>
            <a:ext cx="2157984" cy="493776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9324F"/>
                </a:solidFill>
                <a:latin typeface="Liberation Sans"/>
              </a:rPr>
              <a:t>BGE [frozen]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9324F"/>
                </a:solidFill>
                <a:latin typeface="Liberation Sans"/>
              </a:rPr>
              <a:t>1,024</a:t>
            </a:r>
          </a:p>
        </p:txBody>
      </p:sp>
      <p:sp>
        <p:nvSpPr>
          <p:cNvPr id="212" name="Graph Context projection"/>
          <p:cNvSpPr/>
          <p:nvPr/>
        </p:nvSpPr>
        <p:spPr>
          <a:xfrm>
            <a:off x="16550640" y="3429000"/>
            <a:ext cx="2286000" cy="5943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08B9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3" name="Graph Context projection text"/>
          <p:cNvSpPr txBox="1"/>
          <p:nvPr/>
        </p:nvSpPr>
        <p:spPr>
          <a:xfrm>
            <a:off x="16614648" y="3456432"/>
            <a:ext cx="2157984" cy="539496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24F"/>
                </a:solidFill>
                <a:latin typeface="Liberation Sans"/>
              </a:rPr>
              <a:t>Linear Projection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24F"/>
                </a:solidFill>
                <a:latin typeface="Liberation Sans"/>
              </a:rPr>
              <a:t>1,024 → 128</a:t>
            </a:r>
          </a:p>
        </p:txBody>
      </p:sp>
      <p:cxnSp>
        <p:nvCxnSpPr>
          <p:cNvPr id="214" name="Context to BGE segment 1"/>
          <p:cNvCxnSpPr/>
          <p:nvPr/>
        </p:nvCxnSpPr>
        <p:spPr>
          <a:xfrm>
            <a:off x="17693640" y="2514600"/>
            <a:ext cx="0" cy="173736"/>
          </a:xfrm>
          <a:prstGeom prst="line">
            <a:avLst/>
          </a:prstGeom>
          <a:ln w="22860">
            <a:solidFill>
              <a:srgbClr val="62768D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5" name="Context to projection segment 1"/>
          <p:cNvCxnSpPr/>
          <p:nvPr/>
        </p:nvCxnSpPr>
        <p:spPr>
          <a:xfrm>
            <a:off x="17693640" y="3236976"/>
            <a:ext cx="0" cy="192024"/>
          </a:xfrm>
          <a:prstGeom prst="line">
            <a:avLst/>
          </a:prstGeom>
          <a:ln w="22860">
            <a:solidFill>
              <a:srgbClr val="008B9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6" name="Graph Action role fusion"/>
          <p:cNvSpPr/>
          <p:nvPr/>
        </p:nvSpPr>
        <p:spPr>
          <a:xfrm>
            <a:off x="11430000" y="4261104"/>
            <a:ext cx="484632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08B9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7" name="Graph Action role fusion text"/>
          <p:cNvSpPr txBox="1"/>
          <p:nvPr/>
        </p:nvSpPr>
        <p:spPr>
          <a:xfrm>
            <a:off x="11503152" y="4297680"/>
            <a:ext cx="4700016" cy="658368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9324F"/>
                </a:solidFill>
                <a:latin typeface="Liberation Sans"/>
              </a:rPr>
              <a:t>Entity → Action role fusion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2768D"/>
                </a:solidFill>
                <a:latin typeface="Liberation Sans"/>
              </a:rPr>
              <a:t>actor · target · tool · location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2768D"/>
                </a:solidFill>
                <a:latin typeface="Liberation Sans"/>
              </a:rPr>
              <a:t>Action + ReLU(Linear 640 → 128)</a:t>
            </a:r>
          </a:p>
        </p:txBody>
      </p:sp>
      <p:cxnSp>
        <p:nvCxnSpPr>
          <p:cNvPr id="218" name="Entity projection to role fusion segment 1"/>
          <p:cNvCxnSpPr/>
          <p:nvPr/>
        </p:nvCxnSpPr>
        <p:spPr>
          <a:xfrm>
            <a:off x="12573000" y="4023360"/>
            <a:ext cx="0" cy="237744"/>
          </a:xfrm>
          <a:prstGeom prst="line">
            <a:avLst/>
          </a:prstGeom>
          <a:ln w="22860">
            <a:solidFill>
              <a:srgbClr val="008B9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9" name="Action projection to role fusion segment 1"/>
          <p:cNvCxnSpPr/>
          <p:nvPr/>
        </p:nvCxnSpPr>
        <p:spPr>
          <a:xfrm>
            <a:off x="15133320" y="4023360"/>
            <a:ext cx="0" cy="237744"/>
          </a:xfrm>
          <a:prstGeom prst="line">
            <a:avLst/>
          </a:prstGeom>
          <a:ln w="22860">
            <a:solidFill>
              <a:srgbClr val="008B9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0" name="Entity projection to mean segment 1"/>
          <p:cNvCxnSpPr/>
          <p:nvPr/>
        </p:nvCxnSpPr>
        <p:spPr>
          <a:xfrm flipH="1">
            <a:off x="11228832" y="4142232"/>
            <a:ext cx="1344168" cy="0"/>
          </a:xfrm>
          <a:prstGeom prst="line">
            <a:avLst/>
          </a:prstGeom>
          <a:ln w="22860">
            <a:solidFill>
              <a:srgbClr val="008B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1" name="Entity projection to mean segment 2"/>
          <p:cNvCxnSpPr/>
          <p:nvPr/>
        </p:nvCxnSpPr>
        <p:spPr>
          <a:xfrm>
            <a:off x="11228832" y="4142232"/>
            <a:ext cx="0" cy="1252728"/>
          </a:xfrm>
          <a:prstGeom prst="line">
            <a:avLst/>
          </a:prstGeom>
          <a:ln w="22860">
            <a:solidFill>
              <a:srgbClr val="008B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Entity projection to mean segment 3"/>
          <p:cNvCxnSpPr/>
          <p:nvPr/>
        </p:nvCxnSpPr>
        <p:spPr>
          <a:xfrm>
            <a:off x="11228832" y="5394960"/>
            <a:ext cx="201168" cy="0"/>
          </a:xfrm>
          <a:prstGeom prst="line">
            <a:avLst/>
          </a:prstGeom>
          <a:ln w="22860">
            <a:solidFill>
              <a:srgbClr val="008B9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3" name="Entity forward fork"/>
          <p:cNvSpPr/>
          <p:nvPr/>
        </p:nvSpPr>
        <p:spPr>
          <a:xfrm>
            <a:off x="12540996" y="4110228"/>
            <a:ext cx="64008" cy="64008"/>
          </a:xfrm>
          <a:prstGeom prst="ellipse">
            <a:avLst/>
          </a:prstGeom>
          <a:solidFill>
            <a:srgbClr val="008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Graph Entity mean"/>
          <p:cNvSpPr/>
          <p:nvPr/>
        </p:nvSpPr>
        <p:spPr>
          <a:xfrm>
            <a:off x="11430000" y="5184648"/>
            <a:ext cx="2286000" cy="4206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08B9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5" name="Graph Entity mean text"/>
          <p:cNvSpPr txBox="1"/>
          <p:nvPr/>
        </p:nvSpPr>
        <p:spPr>
          <a:xfrm>
            <a:off x="11494008" y="5212080"/>
            <a:ext cx="2157984" cy="365760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9324F"/>
                </a:solidFill>
                <a:latin typeface="Liberation Sans"/>
              </a:rPr>
              <a:t>Entity mean: 128</a:t>
            </a:r>
          </a:p>
        </p:txBody>
      </p:sp>
      <p:sp>
        <p:nvSpPr>
          <p:cNvPr id="226" name="Graph Action mean"/>
          <p:cNvSpPr/>
          <p:nvPr/>
        </p:nvSpPr>
        <p:spPr>
          <a:xfrm>
            <a:off x="13990320" y="5184648"/>
            <a:ext cx="2286000" cy="4206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08B9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7" name="Graph Action mean text"/>
          <p:cNvSpPr txBox="1"/>
          <p:nvPr/>
        </p:nvSpPr>
        <p:spPr>
          <a:xfrm>
            <a:off x="14054328" y="5212080"/>
            <a:ext cx="2157984" cy="365760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9324F"/>
                </a:solidFill>
                <a:latin typeface="Liberation Sans"/>
              </a:rPr>
              <a:t>Action mean: 128</a:t>
            </a:r>
          </a:p>
        </p:txBody>
      </p:sp>
      <p:cxnSp>
        <p:nvCxnSpPr>
          <p:cNvPr id="228" name="Enriched Actions to mean segment 1"/>
          <p:cNvCxnSpPr/>
          <p:nvPr/>
        </p:nvCxnSpPr>
        <p:spPr>
          <a:xfrm>
            <a:off x="15133320" y="4992624"/>
            <a:ext cx="0" cy="192024"/>
          </a:xfrm>
          <a:prstGeom prst="line">
            <a:avLst/>
          </a:prstGeom>
          <a:ln w="22860">
            <a:solidFill>
              <a:srgbClr val="008B9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9" name="Graph Content concat"/>
          <p:cNvSpPr/>
          <p:nvPr/>
        </p:nvSpPr>
        <p:spPr>
          <a:xfrm>
            <a:off x="11430000" y="5833872"/>
            <a:ext cx="740664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08B9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0" name="Graph Content concat text"/>
          <p:cNvSpPr txBox="1"/>
          <p:nvPr/>
        </p:nvSpPr>
        <p:spPr>
          <a:xfrm>
            <a:off x="11494008" y="5861304"/>
            <a:ext cx="7278624" cy="402336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9324F"/>
                </a:solidFill>
                <a:latin typeface="Liberation Sans"/>
              </a:rPr>
              <a:t>Content X: [Entity mean 128; Action mean 128; Context 128] = 384</a:t>
            </a:r>
          </a:p>
        </p:txBody>
      </p:sp>
      <p:cxnSp>
        <p:nvCxnSpPr>
          <p:cNvPr id="231" name="Entities to Content concat segment 1"/>
          <p:cNvCxnSpPr/>
          <p:nvPr/>
        </p:nvCxnSpPr>
        <p:spPr>
          <a:xfrm>
            <a:off x="12573000" y="5605272"/>
            <a:ext cx="0" cy="228600"/>
          </a:xfrm>
          <a:prstGeom prst="line">
            <a:avLst/>
          </a:prstGeom>
          <a:ln w="22860">
            <a:solidFill>
              <a:srgbClr val="008B9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2" name="Actions to Content concat segment 1"/>
          <p:cNvCxnSpPr/>
          <p:nvPr/>
        </p:nvCxnSpPr>
        <p:spPr>
          <a:xfrm>
            <a:off x="15133320" y="5605272"/>
            <a:ext cx="0" cy="228600"/>
          </a:xfrm>
          <a:prstGeom prst="line">
            <a:avLst/>
          </a:prstGeom>
          <a:ln w="22860">
            <a:solidFill>
              <a:srgbClr val="008B9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3" name="Context to Content concat segment 1"/>
          <p:cNvCxnSpPr/>
          <p:nvPr/>
        </p:nvCxnSpPr>
        <p:spPr>
          <a:xfrm>
            <a:off x="17693640" y="4023360"/>
            <a:ext cx="0" cy="1810512"/>
          </a:xfrm>
          <a:prstGeom prst="line">
            <a:avLst/>
          </a:prstGeom>
          <a:ln w="22860">
            <a:solidFill>
              <a:srgbClr val="008B9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4" name="Graph Scene concat"/>
          <p:cNvSpPr/>
          <p:nvPr/>
        </p:nvSpPr>
        <p:spPr>
          <a:xfrm>
            <a:off x="8869680" y="6492240"/>
            <a:ext cx="475488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240">
            <a:solidFill>
              <a:srgbClr val="008B9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35" name="Graph Scene concat text"/>
          <p:cNvSpPr txBox="1"/>
          <p:nvPr/>
        </p:nvSpPr>
        <p:spPr>
          <a:xfrm>
            <a:off x="8933688" y="6519672"/>
            <a:ext cx="4626864" cy="402336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9324F"/>
                </a:solidFill>
                <a:latin typeface="Liberation Sans"/>
              </a:rPr>
              <a:t>Scene concat: [Title 128; Content 384] = 512</a:t>
            </a:r>
          </a:p>
        </p:txBody>
      </p:sp>
      <p:cxnSp>
        <p:nvCxnSpPr>
          <p:cNvPr id="236" name="Title to Scene concat segment 1"/>
          <p:cNvCxnSpPr/>
          <p:nvPr/>
        </p:nvCxnSpPr>
        <p:spPr>
          <a:xfrm>
            <a:off x="10012680" y="4023360"/>
            <a:ext cx="0" cy="2468880"/>
          </a:xfrm>
          <a:prstGeom prst="line">
            <a:avLst/>
          </a:prstGeom>
          <a:ln w="22860">
            <a:solidFill>
              <a:srgbClr val="008B9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7" name="Content to Scene concat segment 1"/>
          <p:cNvCxnSpPr/>
          <p:nvPr/>
        </p:nvCxnSpPr>
        <p:spPr>
          <a:xfrm>
            <a:off x="15133320" y="6291072"/>
            <a:ext cx="0" cy="109728"/>
          </a:xfrm>
          <a:prstGeom prst="line">
            <a:avLst/>
          </a:prstGeom>
          <a:ln w="22860">
            <a:solidFill>
              <a:srgbClr val="008B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8" name="Content to Scene concat segment 2"/>
          <p:cNvCxnSpPr/>
          <p:nvPr/>
        </p:nvCxnSpPr>
        <p:spPr>
          <a:xfrm flipH="1">
            <a:off x="12984480" y="6400800"/>
            <a:ext cx="2148840" cy="0"/>
          </a:xfrm>
          <a:prstGeom prst="line">
            <a:avLst/>
          </a:prstGeom>
          <a:ln w="22860">
            <a:solidFill>
              <a:srgbClr val="008B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9" name="Content to Scene concat segment 3"/>
          <p:cNvCxnSpPr/>
          <p:nvPr/>
        </p:nvCxnSpPr>
        <p:spPr>
          <a:xfrm>
            <a:off x="12984480" y="6400800"/>
            <a:ext cx="0" cy="91440"/>
          </a:xfrm>
          <a:prstGeom prst="line">
            <a:avLst/>
          </a:prstGeom>
          <a:ln w="22860">
            <a:solidFill>
              <a:srgbClr val="008B9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0" name="Content to Similarity segment 1"/>
          <p:cNvCxnSpPr/>
          <p:nvPr/>
        </p:nvCxnSpPr>
        <p:spPr>
          <a:xfrm>
            <a:off x="15133320" y="6400800"/>
            <a:ext cx="1280160" cy="0"/>
          </a:xfrm>
          <a:prstGeom prst="line">
            <a:avLst/>
          </a:prstGeom>
          <a:ln w="22860">
            <a:solidFill>
              <a:srgbClr val="008B9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1" name="Content to Similarity segment 2"/>
          <p:cNvCxnSpPr/>
          <p:nvPr/>
        </p:nvCxnSpPr>
        <p:spPr>
          <a:xfrm>
            <a:off x="16413480" y="6400800"/>
            <a:ext cx="0" cy="91440"/>
          </a:xfrm>
          <a:prstGeom prst="line">
            <a:avLst/>
          </a:prstGeom>
          <a:ln w="22860">
            <a:solidFill>
              <a:srgbClr val="008B9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2" name="Content forward fork"/>
          <p:cNvSpPr/>
          <p:nvPr/>
        </p:nvSpPr>
        <p:spPr>
          <a:xfrm>
            <a:off x="15101316" y="6368796"/>
            <a:ext cx="64008" cy="64008"/>
          </a:xfrm>
          <a:prstGeom prst="ellipse">
            <a:avLst/>
          </a:prstGeom>
          <a:solidFill>
            <a:srgbClr val="008B9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Graph Scene Residual MLP"/>
          <p:cNvSpPr/>
          <p:nvPr/>
        </p:nvSpPr>
        <p:spPr>
          <a:xfrm>
            <a:off x="8869680" y="7141464"/>
            <a:ext cx="4754880" cy="566928"/>
          </a:xfrm>
          <a:prstGeom prst="roundRect">
            <a:avLst>
              <a:gd name="adj" fmla="val 12000"/>
            </a:avLst>
          </a:prstGeom>
          <a:solidFill>
            <a:srgbClr val="DFF3F1"/>
          </a:solidFill>
          <a:ln w="15240">
            <a:solidFill>
              <a:srgbClr val="008B9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4" name="Graph Scene Residual MLP text"/>
          <p:cNvSpPr txBox="1"/>
          <p:nvPr/>
        </p:nvSpPr>
        <p:spPr>
          <a:xfrm>
            <a:off x="8933688" y="7168896"/>
            <a:ext cx="4626864" cy="512064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9324F"/>
                </a:solidFill>
                <a:latin typeface="Liberation Sans"/>
              </a:rPr>
              <a:t>1-layer Scene Residual MLP → H: S × 512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9324F"/>
                </a:solidFill>
                <a:latin typeface="Liberation Sans"/>
              </a:rPr>
              <a:t>512 → 512 · ReLU</a:t>
            </a:r>
          </a:p>
        </p:txBody>
      </p:sp>
      <p:cxnSp>
        <p:nvCxnSpPr>
          <p:cNvPr id="245" name="Concat to Scene MLP segment 1"/>
          <p:cNvCxnSpPr/>
          <p:nvPr/>
        </p:nvCxnSpPr>
        <p:spPr>
          <a:xfrm>
            <a:off x="11247120" y="6949440"/>
            <a:ext cx="0" cy="192024"/>
          </a:xfrm>
          <a:prstGeom prst="line">
            <a:avLst/>
          </a:prstGeom>
          <a:ln w="22860">
            <a:solidFill>
              <a:srgbClr val="008B9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6" name="Graph Scene similarity"/>
          <p:cNvSpPr/>
          <p:nvPr/>
        </p:nvSpPr>
        <p:spPr>
          <a:xfrm>
            <a:off x="13990320" y="6492240"/>
            <a:ext cx="4846320" cy="1216152"/>
          </a:xfrm>
          <a:prstGeom prst="roundRect">
            <a:avLst>
              <a:gd name="adj" fmla="val 12000"/>
            </a:avLst>
          </a:prstGeom>
          <a:solidFill>
            <a:srgbClr val="EFF8F7"/>
          </a:solidFill>
          <a:ln w="15240">
            <a:solidFill>
              <a:srgbClr val="008B9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7" name="Graph Scene similarity text"/>
          <p:cNvSpPr txBox="1"/>
          <p:nvPr/>
        </p:nvSpPr>
        <p:spPr>
          <a:xfrm>
            <a:off x="14063472" y="6537960"/>
            <a:ext cx="4700016" cy="1124712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700" b="0">
                <a:solidFill>
                  <a:srgbClr val="19324F"/>
                </a:solidFill>
                <a:latin typeface="Liberation Sans"/>
              </a:rPr>
              <a:t>Scene similarity → Â: S × S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62768D"/>
                </a:solidFill>
                <a:latin typeface="Liberation Sans"/>
              </a:rPr>
              <a:t>384-d X · all pairs within each video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19324F"/>
                </a:solidFill>
                <a:latin typeface="Liberation Sans"/>
              </a:rPr>
              <a:t>A = max(cos(X), 0); diagonal = 1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600">
                <a:solidFill>
                  <a:srgbClr val="19324F"/>
                </a:solidFill>
                <a:latin typeface="Liberation Sans"/>
              </a:rPr>
              <a:t>Â = D</a:t>
            </a:r>
            <a:r>
              <a:rPr sz="1200" baseline="30000">
                <a:solidFill>
                  <a:srgbClr val="19324F"/>
                </a:solidFill>
                <a:latin typeface="Liberation Sans"/>
              </a:rPr>
              <a:t>-1/2</a:t>
            </a:r>
            <a:r>
              <a:rPr sz="1600">
                <a:solidFill>
                  <a:srgbClr val="19324F"/>
                </a:solidFill>
                <a:latin typeface="Liberation Sans"/>
              </a:rPr>
              <a:t> A D</a:t>
            </a:r>
            <a:r>
              <a:rPr sz="1200" baseline="30000">
                <a:solidFill>
                  <a:srgbClr val="19324F"/>
                </a:solidFill>
                <a:latin typeface="Liberation Sans"/>
              </a:rPr>
              <a:t>-1/2</a:t>
            </a:r>
          </a:p>
        </p:txBody>
      </p:sp>
      <p:sp>
        <p:nvSpPr>
          <p:cNvPr id="248" name="Graph Scene GCN"/>
          <p:cNvSpPr/>
          <p:nvPr/>
        </p:nvSpPr>
        <p:spPr>
          <a:xfrm>
            <a:off x="8869680" y="7882127"/>
            <a:ext cx="9966960" cy="594360"/>
          </a:xfrm>
          <a:prstGeom prst="roundRect">
            <a:avLst>
              <a:gd name="adj" fmla="val 12000"/>
            </a:avLst>
          </a:prstGeom>
          <a:solidFill>
            <a:srgbClr val="DFF3F1"/>
          </a:solidFill>
          <a:ln w="15240">
            <a:solidFill>
              <a:srgbClr val="008B9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49" name="Graph Scene GCN text"/>
          <p:cNvSpPr txBox="1"/>
          <p:nvPr/>
        </p:nvSpPr>
        <p:spPr>
          <a:xfrm>
            <a:off x="8933688" y="7909559"/>
            <a:ext cx="9838944" cy="539496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24F"/>
                </a:solidFill>
                <a:latin typeface="Liberation Sans"/>
              </a:rPr>
              <a:t>Scene GCN · 1 layer · 512 → 512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24F"/>
                </a:solidFill>
                <a:latin typeface="Liberation Sans"/>
              </a:rPr>
              <a:t>H′ = H + ReLU(Â H W + b)</a:t>
            </a:r>
          </a:p>
        </p:txBody>
      </p:sp>
      <p:cxnSp>
        <p:nvCxnSpPr>
          <p:cNvPr id="250" name="Scene MLP messages to GCN segment 1"/>
          <p:cNvCxnSpPr/>
          <p:nvPr/>
        </p:nvCxnSpPr>
        <p:spPr>
          <a:xfrm>
            <a:off x="11247120" y="7708392"/>
            <a:ext cx="0" cy="173735"/>
          </a:xfrm>
          <a:prstGeom prst="line">
            <a:avLst/>
          </a:prstGeom>
          <a:ln w="22860">
            <a:solidFill>
              <a:srgbClr val="008B9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1" name="Similarity adjacency to GCN segment 1"/>
          <p:cNvCxnSpPr/>
          <p:nvPr/>
        </p:nvCxnSpPr>
        <p:spPr>
          <a:xfrm>
            <a:off x="16413480" y="7708392"/>
            <a:ext cx="0" cy="173735"/>
          </a:xfrm>
          <a:prstGeom prst="line">
            <a:avLst/>
          </a:prstGeom>
          <a:ln w="22860">
            <a:solidFill>
              <a:srgbClr val="008B9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2" name="Graph Mean Pooling"/>
          <p:cNvSpPr/>
          <p:nvPr/>
        </p:nvSpPr>
        <p:spPr>
          <a:xfrm>
            <a:off x="8869680" y="8659368"/>
            <a:ext cx="9966960" cy="457200"/>
          </a:xfrm>
          <a:prstGeom prst="roundRect">
            <a:avLst>
              <a:gd name="adj" fmla="val 12000"/>
            </a:avLst>
          </a:prstGeom>
          <a:solidFill>
            <a:srgbClr val="DFF3F1"/>
          </a:solidFill>
          <a:ln w="15240">
            <a:solidFill>
              <a:srgbClr val="008B9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53" name="Graph Mean Pooling text"/>
          <p:cNvSpPr txBox="1"/>
          <p:nvPr/>
        </p:nvSpPr>
        <p:spPr>
          <a:xfrm>
            <a:off x="8933688" y="8686800"/>
            <a:ext cx="9838944" cy="402336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19324F"/>
                </a:solidFill>
                <a:latin typeface="Liberation Sans"/>
              </a:rPr>
              <a:t>Mean Pooling over valid Scenes: S × 512 → Item 512</a:t>
            </a:r>
          </a:p>
        </p:txBody>
      </p:sp>
      <p:cxnSp>
        <p:nvCxnSpPr>
          <p:cNvPr id="254" name="Scene GCN to Mean segment 1"/>
          <p:cNvCxnSpPr/>
          <p:nvPr/>
        </p:nvCxnSpPr>
        <p:spPr>
          <a:xfrm>
            <a:off x="13853160" y="8476488"/>
            <a:ext cx="0" cy="182880"/>
          </a:xfrm>
          <a:prstGeom prst="line">
            <a:avLst/>
          </a:prstGeom>
          <a:ln w="22860">
            <a:solidFill>
              <a:srgbClr val="008B9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5" name="Graph item output segment 1"/>
          <p:cNvCxnSpPr/>
          <p:nvPr/>
        </p:nvCxnSpPr>
        <p:spPr>
          <a:xfrm>
            <a:off x="13853160" y="9116568"/>
            <a:ext cx="0" cy="365760"/>
          </a:xfrm>
          <a:prstGeom prst="line">
            <a:avLst/>
          </a:prstGeom>
          <a:ln w="22860">
            <a:solidFill>
              <a:srgbClr val="008B91"/>
            </a:solidFill>
            <a:tailEnd type="triangle" w="sm" len="sm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6" name="GNN diagram footnotes"/>
          <p:cNvSpPr txBox="1"/>
          <p:nvPr/>
        </p:nvSpPr>
        <p:spPr>
          <a:xfrm>
            <a:off x="594360" y="11503152"/>
            <a:ext cx="18379440" cy="475488"/>
          </a:xfrm>
          <a:prstGeom prst="rect">
            <a:avLst/>
          </a:prstGeom>
          <a:noFill/>
        </p:spPr>
        <p:txBody>
          <a:bodyPr wrap="none" lIns="22860" rIns="22860" tIns="0" bIns="0" anchor="ctr">
            <a:no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62768D"/>
                </a:solidFill>
                <a:latin typeface="Liberation Sans"/>
              </a:rPr>
              <a:t>E / A = entities / actions per scene; S = valid scenes  |  No scene-order encoding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62768D"/>
                </a:solidFill>
                <a:latin typeface="Liberation Sans"/>
              </a:rPr>
              <a:t>Title-only: existing fallback (GCN skipped)  |  Meta: Baseline  |  Fully missing / padding: 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