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6c727bb2b64d7b" /><Relationship Type="http://schemas.openxmlformats.org/officeDocument/2006/relationships/extended-properties" Target="/docProps/app.xml" Id="Rbe64bae68a354cef" /><Relationship Type="http://schemas.openxmlformats.org/officeDocument/2006/relationships/officeDocument" Target="/ppt/presentation.xml" Id="Rf16491b72f1d49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d816c1bdbc4ae5"/>
  </p:sldMasterIdLst>
  <p:notesMasterIdLst>
    <p:notesMasterId xmlns:r="http://schemas.openxmlformats.org/officeDocument/2006/relationships" r:id="Rd4e777d7feef4488"/>
  </p:notesMasterIdLst>
  <p:sldIdLst>
    <p:sldId xmlns:r="http://schemas.openxmlformats.org/officeDocument/2006/relationships" id="256" r:id="R862154eb34e9445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0187d1194645ab" /><Relationship Type="http://schemas.openxmlformats.org/officeDocument/2006/relationships/slideMaster" Target="/ppt/slideMasters/slideMaster1.xml" Id="R6fd816c1bdbc4ae5" /><Relationship Type="http://schemas.openxmlformats.org/officeDocument/2006/relationships/notesMaster" Target="/ppt/notesMasters/notesMaster1.xml" Id="Rd4e777d7feef4488" /><Relationship Type="http://schemas.openxmlformats.org/officeDocument/2006/relationships/presProps" Target="/ppt/presProps.xml" Id="Reaaa92f203bf4f90" /><Relationship Type="http://schemas.openxmlformats.org/officeDocument/2006/relationships/tableStyles" Target="/ppt/tableStyles.xml" Id="R66f3de85fa6b4f06" /><Relationship Type="http://schemas.openxmlformats.org/officeDocument/2006/relationships/slide" Target="/ppt/slides/slide1.xml" Id="R862154eb34e944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ee5635b69c40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99b7f179ba4a8b" /><Relationship Type="http://schemas.openxmlformats.org/officeDocument/2006/relationships/notesMaster" Target="/ppt/notesMasters/notesMaster1.xml" Id="Re70511a6b0944a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repository config/pipeline.yaml, src/extraction/steps.py, src/validation/recommendation.py, and README.md (2026-08-27).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aa84b8180a49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c38ef7d13c4273" /><Relationship Type="http://schemas.openxmlformats.org/officeDocument/2006/relationships/slideLayout" Target="/ppt/slideLayouts/slideLayout1.xml" Id="R38127c28a79c4d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127c28a79c4d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eb8677067e46ae" /><Relationship Type="http://schemas.openxmlformats.org/officeDocument/2006/relationships/notesSlide" Target="/ppt/notesSlides/notesSlide1.xml" Id="R38030c347f964f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title">
            <a:extLst xmlns:a="http://schemas.openxmlformats.org/drawingml/2006/main">
              <a:ext uri="{FF2B5EF4-FFF2-40B4-BE49-F238E27FC236}">
                <a16:creationId xmlns:a16="http://schemas.microsoft.com/office/drawing/2014/main" id="{FDDB64F0-A6BD-4027-B4B0-DBEB18D4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7650"/>
            <a:ext cx="866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같은 visual evidence로 4개 SASRec arm을 공정 비교</a:t>
            </a:r>
          </a:p>
        </p:txBody>
      </p:sp>
      <p:sp>
        <p:nvSpPr>
          <p:cNvPr id="2" name="protocol">
            <a:extLst xmlns:a="http://schemas.openxmlformats.org/drawingml/2006/main">
              <a:ext uri="{FF2B5EF4-FFF2-40B4-BE49-F238E27FC236}">
                <a16:creationId xmlns:a16="http://schemas.microsoft.com/office/drawing/2014/main" id="{97B07524-91CE-4E5A-A48D-F7AC45EE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437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667085"/>
                </a:solidFill>
                <a:latin typeface="Arial"/>
                <a:ea typeface="Arial"/>
                <a:cs typeface="Arial"/>
              </a:rPr>
              <a:t>MicroLens-100K  ·  visual-only  ·  fixed 30s  ·  Qwen3-VL-2B + Gemini 3.7 Flash</a:t>
            </a:r>
          </a:p>
        </p:txBody>
      </p:sp>
      <p:sp>
        <p:nvSpPr>
          <p:cNvPr id="3" name="deck-label">
            <a:extLst xmlns:a="http://schemas.openxmlformats.org/drawingml/2006/main">
              <a:ext uri="{FF2B5EF4-FFF2-40B4-BE49-F238E27FC236}">
                <a16:creationId xmlns:a16="http://schemas.microsoft.com/office/drawing/2014/main" id="{44B6951F-106C-4352-9365-686F1E63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3850"/>
            <a:ext cx="2400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VIEWING CONTEXT PIPELINE</a:t>
            </a:r>
          </a:p>
        </p:txBody>
      </p:sp>
      <p:sp>
        <p:nvSpPr>
          <p:cNvPr id="4" name="section-01">
            <a:extLst xmlns:a="http://schemas.openxmlformats.org/drawingml/2006/main">
              <a:ext uri="{FF2B5EF4-FFF2-40B4-BE49-F238E27FC236}">
                <a16:creationId xmlns:a16="http://schemas.microsoft.com/office/drawing/2014/main" id="{0252CBB3-856F-40E1-890F-1AE09401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049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01  DATA &amp; EVIDENCE</a:t>
            </a:r>
          </a:p>
        </p:txBody>
      </p:sp>
      <p:sp>
        <p:nvSpPr>
          <p:cNvPr id="5" name="section-02">
            <a:extLst xmlns:a="http://schemas.openxmlformats.org/drawingml/2006/main">
              <a:ext uri="{FF2B5EF4-FFF2-40B4-BE49-F238E27FC236}">
                <a16:creationId xmlns:a16="http://schemas.microsoft.com/office/drawing/2014/main" id="{42E5CCB8-8CFE-4BB3-97BC-717CB42C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104900"/>
            <a:ext cx="462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02  VIEWING CONTEXT EXTRACTION</a:t>
            </a:r>
          </a:p>
        </p:txBody>
      </p:sp>
      <p:sp>
        <p:nvSpPr>
          <p:cNvPr id="6" name="section-03">
            <a:extLst xmlns:a="http://schemas.openxmlformats.org/drawingml/2006/main">
              <a:ext uri="{FF2B5EF4-FFF2-40B4-BE49-F238E27FC236}">
                <a16:creationId xmlns:a16="http://schemas.microsoft.com/office/drawing/2014/main" id="{DF3C3F2C-8084-4242-A49C-FF42CC9E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1049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03  EMBEDDING &amp; SASREC</a:t>
            </a:r>
          </a:p>
        </p:txBody>
      </p:sp>
      <p:sp>
        <p:nvSpPr>
          <p:cNvPr id="7" name="section-04">
            <a:extLst xmlns:a="http://schemas.openxmlformats.org/drawingml/2006/main">
              <a:ext uri="{FF2B5EF4-FFF2-40B4-BE49-F238E27FC236}">
                <a16:creationId xmlns:a16="http://schemas.microsoft.com/office/drawing/2014/main" id="{810A3CD4-4CCD-4BA6-83F1-DF91F0E4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1049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04  EVALUATION</a:t>
            </a:r>
          </a:p>
        </p:txBody>
      </p:sp>
      <p:sp>
        <p:nvSpPr>
          <p:cNvPr id="8" name="input-panel">
            <a:extLst xmlns:a="http://schemas.openxmlformats.org/drawingml/2006/main">
              <a:ext uri="{FF2B5EF4-FFF2-40B4-BE49-F238E27FC236}">
                <a16:creationId xmlns:a16="http://schemas.microsoft.com/office/drawing/2014/main" id="{16AE7EDA-79CA-434C-83E6-482482B8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905000" cy="4191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11430">
            <a:solidFill>
              <a:srgbClr val="C8CDD5"/>
            </a:solidFill>
            <a:prstDash val="solid"/>
          </a:ln>
        </p:spPr>
      </p:sp>
      <p:sp>
        <p:nvSpPr>
          <p:cNvPr id="9" name="extraction-panel">
            <a:extLst xmlns:a="http://schemas.openxmlformats.org/drawingml/2006/main">
              <a:ext uri="{FF2B5EF4-FFF2-40B4-BE49-F238E27FC236}">
                <a16:creationId xmlns:a16="http://schemas.microsoft.com/office/drawing/2014/main" id="{90C188D0-8E46-4641-A962-B882A117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504950"/>
            <a:ext cx="462915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8CDD5"/>
            </a:solidFill>
            <a:prstDash val="solid"/>
          </a:ln>
        </p:spPr>
      </p:sp>
      <p:sp>
        <p:nvSpPr>
          <p:cNvPr id="10" name="recommendation-panel">
            <a:extLst xmlns:a="http://schemas.openxmlformats.org/drawingml/2006/main">
              <a:ext uri="{FF2B5EF4-FFF2-40B4-BE49-F238E27FC236}">
                <a16:creationId xmlns:a16="http://schemas.microsoft.com/office/drawing/2014/main" id="{5955693F-22A4-4729-93F2-0816A339A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504950"/>
            <a:ext cx="2133600" cy="41910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8CDD5"/>
            </a:solidFill>
            <a:prstDash val="solid"/>
          </a:ln>
        </p:spPr>
      </p:sp>
      <p:sp>
        <p:nvSpPr>
          <p:cNvPr id="11" name="evaluation-panel">
            <a:extLst xmlns:a="http://schemas.openxmlformats.org/drawingml/2006/main">
              <a:ext uri="{FF2B5EF4-FFF2-40B4-BE49-F238E27FC236}">
                <a16:creationId xmlns:a16="http://schemas.microsoft.com/office/drawing/2014/main" id="{7FD8791D-E128-4337-84FD-31E3DC9E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504950"/>
            <a:ext cx="1695450" cy="419100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2DD"/>
          </a:solidFill>
          <a:ln xmlns:a="http://schemas.openxmlformats.org/drawingml/2006/main" w="11430">
            <a:solidFill>
              <a:srgbClr val="E2B476"/>
            </a:solidFill>
            <a:prstDash val="solid"/>
          </a:ln>
        </p:spPr>
      </p:sp>
      <p:sp>
        <p:nvSpPr>
          <p:cNvPr id="12" name="shared-evidence-band">
            <a:extLst xmlns:a="http://schemas.openxmlformats.org/drawingml/2006/main">
              <a:ext uri="{FF2B5EF4-FFF2-40B4-BE49-F238E27FC236}">
                <a16:creationId xmlns:a16="http://schemas.microsoft.com/office/drawing/2014/main" id="{BBE2A2EA-C6E4-4899-A832-10D0B119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657350"/>
            <a:ext cx="43243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11430">
            <a:solidFill>
              <a:srgbClr val="C8CDD5"/>
            </a:solidFill>
            <a:prstDash val="solid"/>
          </a:ln>
        </p:spPr>
      </p:sp>
      <p:sp>
        <p:nvSpPr>
          <p:cNvPr id="13" name="graph-lane">
            <a:extLst xmlns:a="http://schemas.openxmlformats.org/drawingml/2006/main">
              <a:ext uri="{FF2B5EF4-FFF2-40B4-BE49-F238E27FC236}">
                <a16:creationId xmlns:a16="http://schemas.microsoft.com/office/drawing/2014/main" id="{31115EA7-FB7B-46FC-B2AE-FF2173C8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190750"/>
            <a:ext cx="43243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7F5F0"/>
          </a:solidFill>
          <a:ln xmlns:a="http://schemas.openxmlformats.org/drawingml/2006/main" w="11430">
            <a:solidFill>
              <a:srgbClr val="A8D8C8"/>
            </a:solidFill>
            <a:prstDash val="solid"/>
          </a:ln>
        </p:spPr>
      </p:sp>
      <p:sp>
        <p:nvSpPr>
          <p:cNvPr id="14" name="description-lane">
            <a:extLst xmlns:a="http://schemas.openxmlformats.org/drawingml/2006/main">
              <a:ext uri="{FF2B5EF4-FFF2-40B4-BE49-F238E27FC236}">
                <a16:creationId xmlns:a16="http://schemas.microsoft.com/office/drawing/2014/main" id="{1827CCB7-AB96-4EE2-AD61-4ECC500B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95750"/>
            <a:ext cx="43243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1430">
            <a:solidFill>
              <a:srgbClr val="B7CEF5"/>
            </a:solidFill>
            <a:prstDash val="solid"/>
          </a:ln>
        </p:spPr>
      </p:sp>
      <p:sp>
        <p:nvSpPr>
          <p:cNvPr id="15" name="input-to-graph">
            <a:extLst xmlns:a="http://schemas.openxmlformats.org/drawingml/2006/main">
              <a:ext uri="{FF2B5EF4-FFF2-40B4-BE49-F238E27FC236}">
                <a16:creationId xmlns:a16="http://schemas.microsoft.com/office/drawing/2014/main" id="{9EEDFC3E-AE6C-4D72-A9DF-69BB9D5F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90800"/>
            <a:ext cx="685800" cy="85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765"/>
          </a:solidFill>
          <a:ln xmlns:a="http://schemas.openxmlformats.org/drawingml/2006/main" w="0">
            <a:solidFill>
              <a:srgbClr val="168765"/>
            </a:solidFill>
            <a:prstDash val="solid"/>
          </a:ln>
        </p:spPr>
      </p:sp>
      <p:sp>
        <p:nvSpPr>
          <p:cNvPr id="17" name="graph-step-1">
            <a:extLst xmlns:a="http://schemas.openxmlformats.org/drawingml/2006/main">
              <a:ext uri="{FF2B5EF4-FFF2-40B4-BE49-F238E27FC236}">
                <a16:creationId xmlns:a16="http://schemas.microsoft.com/office/drawing/2014/main" id="{6D9ED615-98FC-46CD-95A8-5DD1B70A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90800"/>
            <a:ext cx="142875" cy="666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765"/>
          </a:solidFill>
          <a:ln xmlns:a="http://schemas.openxmlformats.org/drawingml/2006/main" w="0">
            <a:solidFill>
              <a:srgbClr val="168765"/>
            </a:solidFill>
            <a:prstDash val="solid"/>
          </a:ln>
        </p:spPr>
      </p:sp>
      <p:sp>
        <p:nvSpPr>
          <p:cNvPr id="18" name="graph-step-2">
            <a:extLst xmlns:a="http://schemas.openxmlformats.org/drawingml/2006/main">
              <a:ext uri="{FF2B5EF4-FFF2-40B4-BE49-F238E27FC236}">
                <a16:creationId xmlns:a16="http://schemas.microsoft.com/office/drawing/2014/main" id="{6B8D9688-B4B5-486B-9C47-9A700535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90800"/>
            <a:ext cx="142875" cy="666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765"/>
          </a:solidFill>
          <a:ln xmlns:a="http://schemas.openxmlformats.org/drawingml/2006/main" w="0">
            <a:solidFill>
              <a:srgbClr val="168765"/>
            </a:solidFill>
            <a:prstDash val="solid"/>
          </a:ln>
        </p:spPr>
      </p:sp>
      <p:sp>
        <p:nvSpPr>
          <p:cNvPr id="19" name="graph-step-3">
            <a:extLst xmlns:a="http://schemas.openxmlformats.org/drawingml/2006/main">
              <a:ext uri="{FF2B5EF4-FFF2-40B4-BE49-F238E27FC236}">
                <a16:creationId xmlns:a16="http://schemas.microsoft.com/office/drawing/2014/main" id="{1BB46EDE-A0F1-48F0-8427-CD75F551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90800"/>
            <a:ext cx="142875" cy="666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765"/>
          </a:solidFill>
          <a:ln xmlns:a="http://schemas.openxmlformats.org/drawingml/2006/main" w="0">
            <a:solidFill>
              <a:srgbClr val="168765"/>
            </a:solidFill>
            <a:prstDash val="solid"/>
          </a:ln>
        </p:spPr>
      </p:sp>
      <p:sp>
        <p:nvSpPr>
          <p:cNvPr id="20" name="desc-step-1">
            <a:extLst xmlns:a="http://schemas.openxmlformats.org/drawingml/2006/main">
              <a:ext uri="{FF2B5EF4-FFF2-40B4-BE49-F238E27FC236}">
                <a16:creationId xmlns:a16="http://schemas.microsoft.com/office/drawing/2014/main" id="{2BE8BD4D-1620-40B4-82F5-2B2A932E0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657725"/>
            <a:ext cx="142875" cy="85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78E8"/>
          </a:solidFill>
          <a:ln xmlns:a="http://schemas.openxmlformats.org/drawingml/2006/main" w="0">
            <a:solidFill>
              <a:srgbClr val="2F78E8"/>
            </a:solidFill>
            <a:prstDash val="solid"/>
          </a:ln>
        </p:spPr>
      </p:sp>
      <p:sp>
        <p:nvSpPr>
          <p:cNvPr id="21" name="desc-step-2">
            <a:extLst xmlns:a="http://schemas.openxmlformats.org/drawingml/2006/main">
              <a:ext uri="{FF2B5EF4-FFF2-40B4-BE49-F238E27FC236}">
                <a16:creationId xmlns:a16="http://schemas.microsoft.com/office/drawing/2014/main" id="{3597897F-5478-43E6-AD68-704E8DBB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657725"/>
            <a:ext cx="142875" cy="85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78E8"/>
          </a:solidFill>
          <a:ln xmlns:a="http://schemas.openxmlformats.org/drawingml/2006/main" w="0">
            <a:solidFill>
              <a:srgbClr val="2F78E8"/>
            </a:solidFill>
            <a:prstDash val="solid"/>
          </a:ln>
        </p:spPr>
      </p:sp>
      <p:sp>
        <p:nvSpPr>
          <p:cNvPr id="22" name="desc-step-3">
            <a:extLst xmlns:a="http://schemas.openxmlformats.org/drawingml/2006/main">
              <a:ext uri="{FF2B5EF4-FFF2-40B4-BE49-F238E27FC236}">
                <a16:creationId xmlns:a16="http://schemas.microsoft.com/office/drawing/2014/main" id="{C1E7ABB8-8F7D-4B69-AC2F-68339272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657725"/>
            <a:ext cx="142875" cy="85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78E8"/>
          </a:solidFill>
          <a:ln xmlns:a="http://schemas.openxmlformats.org/drawingml/2006/main" w="0">
            <a:solidFill>
              <a:srgbClr val="2F78E8"/>
            </a:solidFill>
            <a:prstDash val="solid"/>
          </a:ln>
        </p:spPr>
      </p:sp>
      <p:sp>
        <p:nvSpPr>
          <p:cNvPr id="23" name="graph-to-rec">
            <a:extLst xmlns:a="http://schemas.openxmlformats.org/drawingml/2006/main">
              <a:ext uri="{FF2B5EF4-FFF2-40B4-BE49-F238E27FC236}">
                <a16:creationId xmlns:a16="http://schemas.microsoft.com/office/drawing/2014/main" id="{CDF23197-584B-4946-B28B-EF4FCCCD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62225"/>
            <a:ext cx="723900" cy="85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765"/>
          </a:solidFill>
          <a:ln xmlns:a="http://schemas.openxmlformats.org/drawingml/2006/main" w="0">
            <a:solidFill>
              <a:srgbClr val="168765"/>
            </a:solidFill>
            <a:prstDash val="solid"/>
          </a:ln>
        </p:spPr>
      </p:sp>
      <p:sp>
        <p:nvSpPr>
          <p:cNvPr id="24" name="desc-to-rec">
            <a:extLst xmlns:a="http://schemas.openxmlformats.org/drawingml/2006/main">
              <a:ext uri="{FF2B5EF4-FFF2-40B4-BE49-F238E27FC236}">
                <a16:creationId xmlns:a16="http://schemas.microsoft.com/office/drawing/2014/main" id="{ADE6D2A2-682B-4499-B3DF-B415A7ED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629150"/>
            <a:ext cx="723900" cy="85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78E8"/>
          </a:solidFill>
          <a:ln xmlns:a="http://schemas.openxmlformats.org/drawingml/2006/main" w="0">
            <a:solidFill>
              <a:srgbClr val="2F78E8"/>
            </a:solidFill>
            <a:prstDash val="solid"/>
          </a:ln>
        </p:spPr>
      </p:sp>
      <p:sp>
        <p:nvSpPr>
          <p:cNvPr id="25" name="id-bypass">
            <a:extLst xmlns:a="http://schemas.openxmlformats.org/drawingml/2006/main">
              <a:ext uri="{FF2B5EF4-FFF2-40B4-BE49-F238E27FC236}">
                <a16:creationId xmlns:a16="http://schemas.microsoft.com/office/drawing/2014/main" id="{2538F674-78DB-45BB-A9DB-75F9B952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000500"/>
            <a:ext cx="5467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D95A1"/>
          </a:solidFill>
          <a:ln xmlns:a="http://schemas.openxmlformats.org/drawingml/2006/main" w="0">
            <a:solidFill>
              <a:srgbClr val="8D95A1"/>
            </a:solidFill>
            <a:prstDash val="solid"/>
          </a:ln>
        </p:spPr>
      </p:sp>
      <p:sp>
        <p:nvSpPr>
          <p:cNvPr id="26" name="graph-embed-to-sasrec">
            <a:extLst xmlns:a="http://schemas.openxmlformats.org/drawingml/2006/main">
              <a:ext uri="{FF2B5EF4-FFF2-40B4-BE49-F238E27FC236}">
                <a16:creationId xmlns:a16="http://schemas.microsoft.com/office/drawing/2014/main" id="{A3716D83-10C6-4AEF-B2EF-282DC8C3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52725"/>
            <a:ext cx="95250" cy="571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8765"/>
          </a:solidFill>
          <a:ln xmlns:a="http://schemas.openxmlformats.org/drawingml/2006/main" w="0">
            <a:solidFill>
              <a:srgbClr val="168765"/>
            </a:solidFill>
            <a:prstDash val="solid"/>
          </a:ln>
        </p:spPr>
      </p:sp>
      <p:sp>
        <p:nvSpPr>
          <p:cNvPr id="27" name="desc-embed-to-sasrec">
            <a:extLst xmlns:a="http://schemas.openxmlformats.org/drawingml/2006/main">
              <a:ext uri="{FF2B5EF4-FFF2-40B4-BE49-F238E27FC236}">
                <a16:creationId xmlns:a16="http://schemas.microsoft.com/office/drawing/2014/main" id="{A8FFFB18-CE68-4F3F-9524-574789F37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800600"/>
            <a:ext cx="95250" cy="571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F78E8"/>
          </a:solidFill>
          <a:ln xmlns:a="http://schemas.openxmlformats.org/drawingml/2006/main" w="0">
            <a:solidFill>
              <a:srgbClr val="2F78E8"/>
            </a:solidFill>
            <a:prstDash val="solid"/>
          </a:ln>
        </p:spPr>
      </p:sp>
      <p:cxnSp>
        <p:nvCxnSpPr>
          <p:cNvPr id="337" name="graph-to-evaluation-collector"/>
          <p:cNvCxnSpPr/>
          <p:nvPr/>
        </p:nvCxnSpPr>
        <p:spPr>
          <a:xfrm xmlns:a="http://schemas.openxmlformats.org/drawingml/2006/main">
            <a:off x="9601200" y="298132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765"/>
            </a:solidFill>
            <a:prstDash val="solid"/>
          </a:ln>
        </p:spPr>
      </p:cxnSp>
      <p:cxnSp>
        <p:nvCxnSpPr>
          <p:cNvPr id="338" name="id-to-evaluation-collector"/>
          <p:cNvCxnSpPr/>
          <p:nvPr/>
        </p:nvCxnSpPr>
        <p:spPr>
          <a:xfrm xmlns:a="http://schemas.openxmlformats.org/drawingml/2006/main">
            <a:off x="9601200" y="41433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B7280"/>
            </a:solidFill>
            <a:prstDash val="solid"/>
          </a:ln>
        </p:spPr>
      </p:cxnSp>
      <p:cxnSp>
        <p:nvCxnSpPr>
          <p:cNvPr id="339" name="desc-to-evaluation-collector"/>
          <p:cNvCxnSpPr/>
          <p:nvPr/>
        </p:nvCxnSpPr>
        <p:spPr>
          <a:xfrm xmlns:a="http://schemas.openxmlformats.org/drawingml/2006/main">
            <a:off x="9601200" y="50292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F78E8"/>
            </a:solidFill>
            <a:prstDash val="solid"/>
          </a:ln>
        </p:spPr>
      </p:cxnSp>
      <p:cxnSp>
        <p:nvCxnSpPr>
          <p:cNvPr id="340" name="evaluation-collector"/>
          <p:cNvCxnSpPr/>
          <p:nvPr/>
        </p:nvCxnSpPr>
        <p:spPr>
          <a:xfrm xmlns:a="http://schemas.openxmlformats.org/drawingml/2006/main">
            <a:off x="9886950" y="2162175"/>
            <a:ext cx="0" cy="28670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A85D00"/>
            </a:solidFill>
            <a:prstDash val="solid"/>
          </a:ln>
        </p:spPr>
      </p:cxnSp>
      <p:sp>
        <p:nvSpPr>
          <p:cNvPr id="32" name="collector-to-evaluation">
            <a:extLst xmlns:a="http://schemas.openxmlformats.org/drawingml/2006/main">
              <a:ext uri="{FF2B5EF4-FFF2-40B4-BE49-F238E27FC236}">
                <a16:creationId xmlns:a16="http://schemas.microsoft.com/office/drawing/2014/main" id="{CAC833E5-425F-4A3E-8064-B5F3825A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114550"/>
            <a:ext cx="323850" cy="1047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85D00"/>
          </a:solidFill>
          <a:ln xmlns:a="http://schemas.openxmlformats.org/drawingml/2006/main" w="0">
            <a:solidFill>
              <a:srgbClr val="A85D00"/>
            </a:solidFill>
            <a:prstDash val="solid"/>
          </a:ln>
        </p:spPr>
      </p:sp>
      <p:sp>
        <p:nvSpPr>
          <p:cNvPr id="33" name="input-title">
            <a:extLst xmlns:a="http://schemas.openxmlformats.org/drawingml/2006/main">
              <a:ext uri="{FF2B5EF4-FFF2-40B4-BE49-F238E27FC236}">
                <a16:creationId xmlns:a16="http://schemas.microsoft.com/office/drawing/2014/main" id="{73234CBA-FB1B-4F4D-9D8A-EFE5B347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156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MicroLens-100K</a:t>
            </a:r>
          </a:p>
        </p:txBody>
      </p:sp>
      <p:sp>
        <p:nvSpPr>
          <p:cNvPr id="34" name="input-subtitle">
            <a:extLst xmlns:a="http://schemas.openxmlformats.org/drawingml/2006/main">
              <a:ext uri="{FF2B5EF4-FFF2-40B4-BE49-F238E27FC236}">
                <a16:creationId xmlns:a16="http://schemas.microsoft.com/office/drawing/2014/main" id="{C01EFCF7-C926-42B5-B1C8-EB8DF1A6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28825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667085"/>
                </a:solidFill>
                <a:latin typeface="Arial"/>
                <a:ea typeface="Arial"/>
                <a:cs typeface="Arial"/>
              </a:rPr>
              <a:t>video_id 기준으로 정렬</a:t>
            </a:r>
          </a:p>
        </p:txBody>
      </p:sp>
      <p:sp>
        <p:nvSpPr>
          <p:cNvPr id="35" name="interactions-box">
            <a:extLst xmlns:a="http://schemas.openxmlformats.org/drawingml/2006/main">
              <a:ext uri="{FF2B5EF4-FFF2-40B4-BE49-F238E27FC236}">
                <a16:creationId xmlns:a16="http://schemas.microsoft.com/office/drawing/2014/main" id="{8F303A24-B502-47F6-86B0-F2830D25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48075"/>
            <a:ext cx="15621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8CDD5"/>
            </a:solidFill>
            <a:prstDash val="solid"/>
          </a:ln>
        </p:spPr>
      </p:sp>
      <p:sp>
        <p:nvSpPr>
          <p:cNvPr id="36" name="interactions-title">
            <a:extLst xmlns:a="http://schemas.openxmlformats.org/drawingml/2006/main">
              <a:ext uri="{FF2B5EF4-FFF2-40B4-BE49-F238E27FC236}">
                <a16:creationId xmlns:a16="http://schemas.microsoft.com/office/drawing/2014/main" id="{0AFE26AF-0F34-45BE-B49A-DD370FBC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425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Interaction sequence</a:t>
            </a:r>
          </a:p>
        </p:txBody>
      </p:sp>
      <p:sp>
        <p:nvSpPr>
          <p:cNvPr id="37" name="interactions-subtitle">
            <a:extLst xmlns:a="http://schemas.openxmlformats.org/drawingml/2006/main">
              <a:ext uri="{FF2B5EF4-FFF2-40B4-BE49-F238E27FC236}">
                <a16:creationId xmlns:a16="http://schemas.microsoft.com/office/drawing/2014/main" id="{CE9297C0-2A82-4873-9234-B415A174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1409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cohort + Leave-Two-Out</a:t>
            </a:r>
          </a:p>
        </p:txBody>
      </p:sp>
      <p:sp>
        <p:nvSpPr>
          <p:cNvPr id="38" name="local-video-box">
            <a:extLst xmlns:a="http://schemas.openxmlformats.org/drawingml/2006/main">
              <a:ext uri="{FF2B5EF4-FFF2-40B4-BE49-F238E27FC236}">
                <a16:creationId xmlns:a16="http://schemas.microsoft.com/office/drawing/2014/main" id="{50DE83A1-9A5E-4B5D-AA15-BCAB661E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5621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8CDD5"/>
            </a:solidFill>
            <a:prstDash val="solid"/>
          </a:ln>
        </p:spPr>
      </p:sp>
      <p:sp>
        <p:nvSpPr>
          <p:cNvPr id="39" name="local-video-title">
            <a:extLst xmlns:a="http://schemas.openxmlformats.org/drawingml/2006/main">
              <a:ext uri="{FF2B5EF4-FFF2-40B4-BE49-F238E27FC236}">
                <a16:creationId xmlns:a16="http://schemas.microsoft.com/office/drawing/2014/main" id="{4A4B89C7-EBF2-493D-805F-D360BC4B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Local MP4</a:t>
            </a:r>
          </a:p>
        </p:txBody>
      </p:sp>
      <p:sp>
        <p:nvSpPr>
          <p:cNvPr id="40" name="local-video-subtitle">
            <a:extLst xmlns:a="http://schemas.openxmlformats.org/drawingml/2006/main">
              <a:ext uri="{FF2B5EF4-FFF2-40B4-BE49-F238E27FC236}">
                <a16:creationId xmlns:a16="http://schemas.microsoft.com/office/drawing/2014/main" id="{9D62F71C-FE74-4E9C-9A9C-6A5F9C6C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1409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5s · 15s · 25s keyframes</a:t>
            </a:r>
          </a:p>
        </p:txBody>
      </p:sp>
      <p:sp>
        <p:nvSpPr>
          <p:cNvPr id="41" name="fresh-run">
            <a:extLst xmlns:a="http://schemas.openxmlformats.org/drawingml/2006/main">
              <a:ext uri="{FF2B5EF4-FFF2-40B4-BE49-F238E27FC236}">
                <a16:creationId xmlns:a16="http://schemas.microsoft.com/office/drawing/2014/main" id="{4331E193-A4BB-4F7A-83A9-3EC89C2A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959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fresh artifacts/&lt;run_id&gt;/</a:t>
            </a:r>
          </a:p>
        </p:txBody>
      </p:sp>
      <p:sp>
        <p:nvSpPr>
          <p:cNvPr id="42" name="shared-evidence">
            <a:extLst xmlns:a="http://schemas.openxmlformats.org/drawingml/2006/main">
              <a:ext uri="{FF2B5EF4-FFF2-40B4-BE49-F238E27FC236}">
                <a16:creationId xmlns:a16="http://schemas.microsoft.com/office/drawing/2014/main" id="{10E4D51E-4774-4448-9F8E-161CC6AC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714500"/>
            <a:ext cx="401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831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SHARED INPUT  ·  same cohort  ·  same keyframes  ·  same scene order</a:t>
            </a:r>
          </a:p>
        </p:txBody>
      </p:sp>
      <p:sp>
        <p:nvSpPr>
          <p:cNvPr id="43" name="graph-arm-label">
            <a:extLst xmlns:a="http://schemas.openxmlformats.org/drawingml/2006/main">
              <a:ext uri="{FF2B5EF4-FFF2-40B4-BE49-F238E27FC236}">
                <a16:creationId xmlns:a16="http://schemas.microsoft.com/office/drawing/2014/main" id="{BA60B006-72BC-49DA-864C-7646BD50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479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7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68765"/>
                </a:solidFill>
                <a:latin typeface="Arial"/>
                <a:ea typeface="Arial"/>
                <a:cs typeface="Arial"/>
              </a:rPr>
              <a:t>GRAPH ARMS  ·  QWEN + GEMINI</a:t>
            </a:r>
          </a:p>
        </p:txBody>
      </p:sp>
      <p:sp>
        <p:nvSpPr>
          <p:cNvPr id="44" name="desc-arm-label">
            <a:extLst xmlns:a="http://schemas.openxmlformats.org/drawingml/2006/main">
              <a:ext uri="{FF2B5EF4-FFF2-40B4-BE49-F238E27FC236}">
                <a16:creationId xmlns:a16="http://schemas.microsoft.com/office/drawing/2014/main" id="{7D806474-5DE8-4DC9-AA96-8A03C4DB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719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F78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F78E8"/>
                </a:solidFill>
                <a:latin typeface="Arial"/>
                <a:ea typeface="Arial"/>
                <a:cs typeface="Arial"/>
              </a:rPr>
              <a:t>DESCRIPTION ARM</a:t>
            </a:r>
          </a:p>
        </p:txBody>
      </p:sp>
      <p:sp>
        <p:nvSpPr>
          <p:cNvPr id="45" name="graph-extract-box">
            <a:extLst xmlns:a="http://schemas.openxmlformats.org/drawingml/2006/main">
              <a:ext uri="{FF2B5EF4-FFF2-40B4-BE49-F238E27FC236}">
                <a16:creationId xmlns:a16="http://schemas.microsoft.com/office/drawing/2014/main" id="{83D8D0B7-A012-4912-95E0-4A2070A3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28875"/>
            <a:ext cx="781050" cy="400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D8C8"/>
            </a:solidFill>
            <a:prstDash val="solid"/>
          </a:ln>
        </p:spPr>
      </p:sp>
      <p:sp>
        <p:nvSpPr>
          <p:cNvPr id="46" name="graph-extract-title">
            <a:extLst xmlns:a="http://schemas.openxmlformats.org/drawingml/2006/main">
              <a:ext uri="{FF2B5EF4-FFF2-40B4-BE49-F238E27FC236}">
                <a16:creationId xmlns:a16="http://schemas.microsoft.com/office/drawing/2014/main" id="{99C8C7EF-81AE-4FF0-A654-CC928CE0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384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876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68765"/>
                </a:solidFill>
                <a:latin typeface="Arial"/>
                <a:ea typeface="Arial"/>
                <a:cs typeface="Arial"/>
              </a:rPr>
              <a:t>Qwen</a:t>
            </a:r>
          </a:p>
        </p:txBody>
      </p:sp>
      <p:sp>
        <p:nvSpPr>
          <p:cNvPr id="47" name="graph-extract-subtitle">
            <a:extLst xmlns:a="http://schemas.openxmlformats.org/drawingml/2006/main">
              <a:ext uri="{FF2B5EF4-FFF2-40B4-BE49-F238E27FC236}">
                <a16:creationId xmlns:a16="http://schemas.microsoft.com/office/drawing/2014/main" id="{5A9CD7F7-6269-4ED1-801C-09A24069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628900"/>
            <a:ext cx="6858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scene graph</a:t>
            </a:r>
          </a:p>
        </p:txBody>
      </p:sp>
      <p:sp>
        <p:nvSpPr>
          <p:cNvPr id="48" name="scg-box">
            <a:extLst xmlns:a="http://schemas.openxmlformats.org/drawingml/2006/main">
              <a:ext uri="{FF2B5EF4-FFF2-40B4-BE49-F238E27FC236}">
                <a16:creationId xmlns:a16="http://schemas.microsoft.com/office/drawing/2014/main" id="{2A219219-E378-4C94-9851-F4053ABC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428875"/>
            <a:ext cx="781050" cy="400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D8C8"/>
            </a:solidFill>
            <a:prstDash val="solid"/>
          </a:ln>
        </p:spPr>
      </p:sp>
      <p:sp>
        <p:nvSpPr>
          <p:cNvPr id="49" name="scg-title">
            <a:extLst xmlns:a="http://schemas.openxmlformats.org/drawingml/2006/main">
              <a:ext uri="{FF2B5EF4-FFF2-40B4-BE49-F238E27FC236}">
                <a16:creationId xmlns:a16="http://schemas.microsoft.com/office/drawing/2014/main" id="{5F2AFBBE-FED1-411C-AB8C-BD0868DD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384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93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876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8765"/>
                </a:solidFill>
                <a:latin typeface="Arial"/>
                <a:ea typeface="Arial"/>
                <a:cs typeface="Arial"/>
              </a:rPr>
              <a:t>SCG</a:t>
            </a:r>
          </a:p>
        </p:txBody>
      </p:sp>
      <p:sp>
        <p:nvSpPr>
          <p:cNvPr id="50" name="scg-subtitle">
            <a:extLst xmlns:a="http://schemas.openxmlformats.org/drawingml/2006/main">
              <a:ext uri="{FF2B5EF4-FFF2-40B4-BE49-F238E27FC236}">
                <a16:creationId xmlns:a16="http://schemas.microsoft.com/office/drawing/2014/main" id="{0F2EAB76-4259-48B0-87DF-D7003EC8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6858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Qwen source</a:t>
            </a:r>
          </a:p>
        </p:txBody>
      </p:sp>
      <p:sp>
        <p:nvSpPr>
          <p:cNvPr id="51" name="graph-summarize-box">
            <a:extLst xmlns:a="http://schemas.openxmlformats.org/drawingml/2006/main">
              <a:ext uri="{FF2B5EF4-FFF2-40B4-BE49-F238E27FC236}">
                <a16:creationId xmlns:a16="http://schemas.microsoft.com/office/drawing/2014/main" id="{B1A3F3D6-C818-4B9D-AA26-CBBE6180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428875"/>
            <a:ext cx="781050" cy="400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D8C8"/>
            </a:solidFill>
            <a:prstDash val="solid"/>
          </a:ln>
        </p:spPr>
      </p:sp>
      <p:sp>
        <p:nvSpPr>
          <p:cNvPr id="52" name="graph-summarize-title">
            <a:extLst xmlns:a="http://schemas.openxmlformats.org/drawingml/2006/main">
              <a:ext uri="{FF2B5EF4-FFF2-40B4-BE49-F238E27FC236}">
                <a16:creationId xmlns:a16="http://schemas.microsoft.com/office/drawing/2014/main" id="{4BE61D50-19CF-44A1-8A1E-3473BEC3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4384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876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68765"/>
                </a:solidFill>
                <a:latin typeface="Arial"/>
                <a:ea typeface="Arial"/>
                <a:cs typeface="Arial"/>
              </a:rPr>
              <a:t>Qwen</a:t>
            </a:r>
          </a:p>
        </p:txBody>
      </p:sp>
      <p:sp>
        <p:nvSpPr>
          <p:cNvPr id="53" name="graph-summarize-subtitle">
            <a:extLst xmlns:a="http://schemas.openxmlformats.org/drawingml/2006/main">
              <a:ext uri="{FF2B5EF4-FFF2-40B4-BE49-F238E27FC236}">
                <a16:creationId xmlns:a16="http://schemas.microsoft.com/office/drawing/2014/main" id="{4B106C94-7A1A-4CFE-9AE9-68E2D0DA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628900"/>
            <a:ext cx="6858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66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video summary</a:t>
            </a:r>
          </a:p>
        </p:txBody>
      </p:sp>
      <p:sp>
        <p:nvSpPr>
          <p:cNvPr id="54" name="vs-graph-box">
            <a:extLst xmlns:a="http://schemas.openxmlformats.org/drawingml/2006/main">
              <a:ext uri="{FF2B5EF4-FFF2-40B4-BE49-F238E27FC236}">
                <a16:creationId xmlns:a16="http://schemas.microsoft.com/office/drawing/2014/main" id="{DD94FE2A-994A-482E-B2AC-6CD01E51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2428875"/>
            <a:ext cx="1285875" cy="400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68765"/>
          </a:solidFill>
          <a:ln xmlns:a="http://schemas.openxmlformats.org/drawingml/2006/main" w="11430">
            <a:solidFill>
              <a:srgbClr val="168765"/>
            </a:solidFill>
            <a:prstDash val="solid"/>
          </a:ln>
        </p:spPr>
      </p:sp>
      <p:sp>
        <p:nvSpPr>
          <p:cNvPr id="55" name="vs-graph-title">
            <a:extLst xmlns:a="http://schemas.openxmlformats.org/drawingml/2006/main">
              <a:ext uri="{FF2B5EF4-FFF2-40B4-BE49-F238E27FC236}">
                <a16:creationId xmlns:a16="http://schemas.microsoft.com/office/drawing/2014/main" id="{F1A347AB-5E37-4954-B4DE-B899E21F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428875"/>
            <a:ext cx="109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VS_GRAPH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QWEN</a:t>
            </a:r>
          </a:p>
        </p:txBody>
      </p:sp>
      <p:sp>
        <p:nvSpPr>
          <p:cNvPr id="56" name="desc-extract-box">
            <a:extLst xmlns:a="http://schemas.openxmlformats.org/drawingml/2006/main">
              <a:ext uri="{FF2B5EF4-FFF2-40B4-BE49-F238E27FC236}">
                <a16:creationId xmlns:a16="http://schemas.microsoft.com/office/drawing/2014/main" id="{AC1B8A87-C81E-439D-A337-719A8432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448175"/>
            <a:ext cx="7810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7CEF5"/>
            </a:solidFill>
            <a:prstDash val="solid"/>
          </a:ln>
        </p:spPr>
      </p:sp>
      <p:sp>
        <p:nvSpPr>
          <p:cNvPr id="57" name="desc-extract-title">
            <a:extLst xmlns:a="http://schemas.openxmlformats.org/drawingml/2006/main">
              <a:ext uri="{FF2B5EF4-FFF2-40B4-BE49-F238E27FC236}">
                <a16:creationId xmlns:a16="http://schemas.microsoft.com/office/drawing/2014/main" id="{25315ED2-1343-43D9-9CAD-59680CE9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24375"/>
            <a:ext cx="59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F78E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F78E8"/>
                </a:solidFill>
                <a:latin typeface="Arial"/>
                <a:ea typeface="Arial"/>
                <a:cs typeface="Arial"/>
              </a:rPr>
              <a:t>Qwen</a:t>
            </a:r>
          </a:p>
        </p:txBody>
      </p:sp>
      <p:sp>
        <p:nvSpPr>
          <p:cNvPr id="58" name="desc-extract-subtitle">
            <a:extLst xmlns:a="http://schemas.openxmlformats.org/drawingml/2006/main">
              <a:ext uri="{FF2B5EF4-FFF2-40B4-BE49-F238E27FC236}">
                <a16:creationId xmlns:a16="http://schemas.microsoft.com/office/drawing/2014/main" id="{33072E79-9F3D-48CD-B9AB-0A8B2D9C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19650"/>
            <a:ext cx="62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035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scene description</a:t>
            </a:r>
          </a:p>
        </p:txBody>
      </p:sp>
      <p:sp>
        <p:nvSpPr>
          <p:cNvPr id="59" name="sd-box">
            <a:extLst xmlns:a="http://schemas.openxmlformats.org/drawingml/2006/main">
              <a:ext uri="{FF2B5EF4-FFF2-40B4-BE49-F238E27FC236}">
                <a16:creationId xmlns:a16="http://schemas.microsoft.com/office/drawing/2014/main" id="{7C8DB0FD-DE39-46A3-A8FC-22430EFE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448175"/>
            <a:ext cx="7810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7CEF5"/>
            </a:solidFill>
            <a:prstDash val="solid"/>
          </a:ln>
        </p:spPr>
      </p:sp>
      <p:sp>
        <p:nvSpPr>
          <p:cNvPr id="60" name="sd-title">
            <a:extLst xmlns:a="http://schemas.openxmlformats.org/drawingml/2006/main">
              <a:ext uri="{FF2B5EF4-FFF2-40B4-BE49-F238E27FC236}">
                <a16:creationId xmlns:a16="http://schemas.microsoft.com/office/drawing/2014/main" id="{4CDD24C1-CE05-488D-9F3F-6E551520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4524375"/>
            <a:ext cx="59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F78E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E8"/>
                </a:solidFill>
                <a:latin typeface="Arial"/>
                <a:ea typeface="Arial"/>
                <a:cs typeface="Arial"/>
              </a:rPr>
              <a:t>SD</a:t>
            </a:r>
          </a:p>
        </p:txBody>
      </p:sp>
      <p:sp>
        <p:nvSpPr>
          <p:cNvPr id="61" name="sd-subtitle">
            <a:extLst xmlns:a="http://schemas.openxmlformats.org/drawingml/2006/main">
              <a:ext uri="{FF2B5EF4-FFF2-40B4-BE49-F238E27FC236}">
                <a16:creationId xmlns:a16="http://schemas.microsoft.com/office/drawing/2014/main" id="{7707E5E8-F998-467E-BBC3-2F16EB5E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19650"/>
            <a:ext cx="62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scene text</a:t>
            </a:r>
          </a:p>
        </p:txBody>
      </p:sp>
      <p:sp>
        <p:nvSpPr>
          <p:cNvPr id="62" name="desc-summarize-box">
            <a:extLst xmlns:a="http://schemas.openxmlformats.org/drawingml/2006/main">
              <a:ext uri="{FF2B5EF4-FFF2-40B4-BE49-F238E27FC236}">
                <a16:creationId xmlns:a16="http://schemas.microsoft.com/office/drawing/2014/main" id="{E75ABAAE-09F8-4374-A491-8B1B47C0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448175"/>
            <a:ext cx="7810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7CEF5"/>
            </a:solidFill>
            <a:prstDash val="solid"/>
          </a:ln>
        </p:spPr>
      </p:sp>
      <p:sp>
        <p:nvSpPr>
          <p:cNvPr id="63" name="desc-summarize-title">
            <a:extLst xmlns:a="http://schemas.openxmlformats.org/drawingml/2006/main">
              <a:ext uri="{FF2B5EF4-FFF2-40B4-BE49-F238E27FC236}">
                <a16:creationId xmlns:a16="http://schemas.microsoft.com/office/drawing/2014/main" id="{E0BBCFE2-025E-4E20-924D-F8D48F1F0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524375"/>
            <a:ext cx="59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F78E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F78E8"/>
                </a:solidFill>
                <a:latin typeface="Arial"/>
                <a:ea typeface="Arial"/>
                <a:cs typeface="Arial"/>
              </a:rPr>
              <a:t>Qwen</a:t>
            </a:r>
          </a:p>
        </p:txBody>
      </p:sp>
      <p:sp>
        <p:nvSpPr>
          <p:cNvPr id="64" name="desc-summarize-subtitle">
            <a:extLst xmlns:a="http://schemas.openxmlformats.org/drawingml/2006/main">
              <a:ext uri="{FF2B5EF4-FFF2-40B4-BE49-F238E27FC236}">
                <a16:creationId xmlns:a16="http://schemas.microsoft.com/office/drawing/2014/main" id="{F2C52146-5C7F-4BE9-82DD-F839E022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819650"/>
            <a:ext cx="62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035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video summary</a:t>
            </a:r>
          </a:p>
        </p:txBody>
      </p:sp>
      <p:sp>
        <p:nvSpPr>
          <p:cNvPr id="65" name="vs-desc-box">
            <a:extLst xmlns:a="http://schemas.openxmlformats.org/drawingml/2006/main">
              <a:ext uri="{FF2B5EF4-FFF2-40B4-BE49-F238E27FC236}">
                <a16:creationId xmlns:a16="http://schemas.microsoft.com/office/drawing/2014/main" id="{6DC3F05C-CBA1-4F14-93E5-4FCD9DE7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448175"/>
            <a:ext cx="128587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F78E8"/>
          </a:solidFill>
          <a:ln xmlns:a="http://schemas.openxmlformats.org/drawingml/2006/main" w="11430">
            <a:solidFill>
              <a:srgbClr val="2F78E8"/>
            </a:solidFill>
            <a:prstDash val="solid"/>
          </a:ln>
        </p:spPr>
      </p:sp>
      <p:sp>
        <p:nvSpPr>
          <p:cNvPr id="66" name="vs-desc-title">
            <a:extLst xmlns:a="http://schemas.openxmlformats.org/drawingml/2006/main">
              <a:ext uri="{FF2B5EF4-FFF2-40B4-BE49-F238E27FC236}">
                <a16:creationId xmlns:a16="http://schemas.microsoft.com/office/drawing/2014/main" id="{917C9E44-D42C-4630-AC6D-00795658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448175"/>
            <a:ext cx="1095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VS_desc</a:t>
            </a:r>
          </a:p>
        </p:txBody>
      </p:sp>
      <p:sp>
        <p:nvSpPr>
          <p:cNvPr id="67" name="id-baseline-label">
            <a:extLst xmlns:a="http://schemas.openxmlformats.org/drawingml/2006/main">
              <a:ext uri="{FF2B5EF4-FFF2-40B4-BE49-F238E27FC236}">
                <a16:creationId xmlns:a16="http://schemas.microsoft.com/office/drawing/2014/main" id="{E822ED0D-E034-47DA-97D2-848C3CEB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724275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ID BASELINE  ·  same interaction sequence</a:t>
            </a:r>
          </a:p>
        </p:txBody>
      </p:sp>
      <p:sp>
        <p:nvSpPr>
          <p:cNvPr id="68" name="graph-embed-box">
            <a:extLst xmlns:a="http://schemas.openxmlformats.org/drawingml/2006/main">
              <a:ext uri="{FF2B5EF4-FFF2-40B4-BE49-F238E27FC236}">
                <a16:creationId xmlns:a16="http://schemas.microsoft.com/office/drawing/2014/main" id="{52D1BB73-E7AD-4FA1-8BE6-0DDE4319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28875"/>
            <a:ext cx="1866900" cy="3238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7F5F0"/>
          </a:solidFill>
          <a:ln xmlns:a="http://schemas.openxmlformats.org/drawingml/2006/main" w="11430">
            <a:solidFill>
              <a:srgbClr val="A8D8C8"/>
            </a:solidFill>
            <a:prstDash val="solid"/>
          </a:ln>
        </p:spPr>
      </p:sp>
      <p:sp>
        <p:nvSpPr>
          <p:cNvPr id="69" name="graph-embed-title">
            <a:extLst xmlns:a="http://schemas.openxmlformats.org/drawingml/2006/main">
              <a:ext uri="{FF2B5EF4-FFF2-40B4-BE49-F238E27FC236}">
                <a16:creationId xmlns:a16="http://schemas.microsoft.com/office/drawing/2014/main" id="{2964591D-3A8B-4C75-8BAD-C8C00BC0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28875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876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68765"/>
                </a:solidFill>
                <a:latin typeface="Arial"/>
                <a:ea typeface="Arial"/>
                <a:cs typeface="Arial"/>
              </a:rPr>
              <a:t>BGE 1024D  ·  QWEN</a:t>
            </a:r>
          </a:p>
        </p:txBody>
      </p:sp>
      <p:sp>
        <p:nvSpPr>
          <p:cNvPr id="70" name="sasrec-graph-box">
            <a:extLst xmlns:a="http://schemas.openxmlformats.org/drawingml/2006/main">
              <a:ext uri="{FF2B5EF4-FFF2-40B4-BE49-F238E27FC236}">
                <a16:creationId xmlns:a16="http://schemas.microsoft.com/office/drawing/2014/main" id="{B1400DF1-76E6-4B84-ACAB-86C617D0B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09875"/>
            <a:ext cx="1866900" cy="3429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68765"/>
          </a:solidFill>
          <a:ln xmlns:a="http://schemas.openxmlformats.org/drawingml/2006/main" w="11430">
            <a:solidFill>
              <a:srgbClr val="168765"/>
            </a:solidFill>
            <a:prstDash val="solid"/>
          </a:ln>
        </p:spPr>
      </p:sp>
      <p:sp>
        <p:nvSpPr>
          <p:cNvPr id="71" name="sasrec-graph-title">
            <a:extLst xmlns:a="http://schemas.openxmlformats.org/drawingml/2006/main">
              <a:ext uri="{FF2B5EF4-FFF2-40B4-BE49-F238E27FC236}">
                <a16:creationId xmlns:a16="http://schemas.microsoft.com/office/drawing/2014/main" id="{AC678BF6-8568-4E5E-9F8B-C3AA3A8E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809875"/>
            <a:ext cx="1676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SASRec_GRAPH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QWEN</a:t>
            </a:r>
          </a:p>
        </p:txBody>
      </p:sp>
      <p:sp>
        <p:nvSpPr>
          <p:cNvPr id="72" name="sasrec-id-box">
            <a:extLst xmlns:a="http://schemas.openxmlformats.org/drawingml/2006/main">
              <a:ext uri="{FF2B5EF4-FFF2-40B4-BE49-F238E27FC236}">
                <a16:creationId xmlns:a16="http://schemas.microsoft.com/office/drawing/2014/main" id="{04AFFAC0-5E24-41AD-89F6-A8F4CD0A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62400"/>
            <a:ext cx="1866900" cy="3619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F0F3"/>
          </a:solidFill>
          <a:ln xmlns:a="http://schemas.openxmlformats.org/drawingml/2006/main" w="11430">
            <a:solidFill>
              <a:srgbClr val="B7BBC2"/>
            </a:solidFill>
            <a:prstDash val="solid"/>
          </a:ln>
        </p:spPr>
      </p:sp>
      <p:sp>
        <p:nvSpPr>
          <p:cNvPr id="73" name="sasrec-id-title">
            <a:extLst xmlns:a="http://schemas.openxmlformats.org/drawingml/2006/main">
              <a:ext uri="{FF2B5EF4-FFF2-40B4-BE49-F238E27FC236}">
                <a16:creationId xmlns:a16="http://schemas.microsoft.com/office/drawing/2014/main" id="{200C4F2E-27F0-457E-A7D6-0B190E60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96240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SASRec_ID</a:t>
            </a:r>
          </a:p>
        </p:txBody>
      </p:sp>
      <p:sp>
        <p:nvSpPr>
          <p:cNvPr id="74" name="desc-embed-box">
            <a:extLst xmlns:a="http://schemas.openxmlformats.org/drawingml/2006/main">
              <a:ext uri="{FF2B5EF4-FFF2-40B4-BE49-F238E27FC236}">
                <a16:creationId xmlns:a16="http://schemas.microsoft.com/office/drawing/2014/main" id="{8817C308-035D-4DA5-AF2A-9F6ECB6D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76750"/>
            <a:ext cx="1866900" cy="3238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1430">
            <a:solidFill>
              <a:srgbClr val="B7CEF5"/>
            </a:solidFill>
            <a:prstDash val="solid"/>
          </a:ln>
        </p:spPr>
      </p:sp>
      <p:sp>
        <p:nvSpPr>
          <p:cNvPr id="75" name="desc-embed-title">
            <a:extLst xmlns:a="http://schemas.openxmlformats.org/drawingml/2006/main">
              <a:ext uri="{FF2B5EF4-FFF2-40B4-BE49-F238E27FC236}">
                <a16:creationId xmlns:a16="http://schemas.microsoft.com/office/drawing/2014/main" id="{5FB43F6E-B273-484B-8601-020337038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767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F78E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F78E8"/>
                </a:solidFill>
                <a:latin typeface="Arial"/>
                <a:ea typeface="Arial"/>
                <a:cs typeface="Arial"/>
              </a:rPr>
              <a:t>BGE 1024D  ·  DESC</a:t>
            </a:r>
          </a:p>
        </p:txBody>
      </p:sp>
      <p:sp>
        <p:nvSpPr>
          <p:cNvPr id="76" name="sasrec-desc-box">
            <a:extLst xmlns:a="http://schemas.openxmlformats.org/drawingml/2006/main">
              <a:ext uri="{FF2B5EF4-FFF2-40B4-BE49-F238E27FC236}">
                <a16:creationId xmlns:a16="http://schemas.microsoft.com/office/drawing/2014/main" id="{13EFABDB-6663-4597-A8B0-7FB3FBAF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1866900" cy="3429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F78E8"/>
          </a:solidFill>
          <a:ln xmlns:a="http://schemas.openxmlformats.org/drawingml/2006/main" w="11430">
            <a:solidFill>
              <a:srgbClr val="2F78E8"/>
            </a:solidFill>
            <a:prstDash val="solid"/>
          </a:ln>
        </p:spPr>
      </p:sp>
      <p:sp>
        <p:nvSpPr>
          <p:cNvPr id="77" name="sasrec-desc-title">
            <a:extLst xmlns:a="http://schemas.openxmlformats.org/drawingml/2006/main">
              <a:ext uri="{FF2B5EF4-FFF2-40B4-BE49-F238E27FC236}">
                <a16:creationId xmlns:a16="http://schemas.microsoft.com/office/drawing/2014/main" id="{51C2299E-8051-4F5D-9CDC-2798665C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857750"/>
            <a:ext cx="1676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SASRec_DESC</a:t>
            </a:r>
          </a:p>
        </p:txBody>
      </p:sp>
      <p:sp>
        <p:nvSpPr>
          <p:cNvPr id="78" name="evaluation-scope">
            <a:extLst xmlns:a="http://schemas.openxmlformats.org/drawingml/2006/main">
              <a:ext uri="{FF2B5EF4-FFF2-40B4-BE49-F238E27FC236}">
                <a16:creationId xmlns:a16="http://schemas.microsoft.com/office/drawing/2014/main" id="{756ECDF0-CA34-4262-B58C-F1447030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69545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85D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85D00"/>
                </a:solidFill>
                <a:latin typeface="Arial"/>
                <a:ea typeface="Arial"/>
                <a:cs typeface="Arial"/>
              </a:rPr>
              <a:t>SAME TEST TARGETS</a:t>
            </a:r>
          </a:p>
        </p:txBody>
      </p:sp>
      <p:sp>
        <p:nvSpPr>
          <p:cNvPr id="79" name="evaluation-step-1-marker">
            <a:extLst xmlns:a="http://schemas.openxmlformats.org/drawingml/2006/main">
              <a:ext uri="{FF2B5EF4-FFF2-40B4-BE49-F238E27FC236}">
                <a16:creationId xmlns:a16="http://schemas.microsoft.com/office/drawing/2014/main" id="{9C54C4CF-FDCE-4DA6-9F05-276C38B2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0097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5D00"/>
          </a:solidFill>
          <a:ln xmlns:a="http://schemas.openxmlformats.org/drawingml/2006/main" w="0">
            <a:solidFill>
              <a:srgbClr val="A85D00"/>
            </a:solidFill>
            <a:prstDash val="solid"/>
          </a:ln>
        </p:spPr>
      </p:sp>
      <p:sp>
        <p:nvSpPr>
          <p:cNvPr id="80" name="evaluation-step-1-number">
            <a:extLst xmlns:a="http://schemas.openxmlformats.org/drawingml/2006/main">
              <a:ext uri="{FF2B5EF4-FFF2-40B4-BE49-F238E27FC236}">
                <a16:creationId xmlns:a16="http://schemas.microsoft.com/office/drawing/2014/main" id="{96766910-FE80-4703-9232-5FC7F8D7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00977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1" name="evaluation-step-1-title">
            <a:extLst xmlns:a="http://schemas.openxmlformats.org/drawingml/2006/main">
              <a:ext uri="{FF2B5EF4-FFF2-40B4-BE49-F238E27FC236}">
                <a16:creationId xmlns:a16="http://schemas.microsoft.com/office/drawing/2014/main" id="{2BE85DFE-9823-4982-90E6-3D2018C0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952625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85D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A85D00"/>
                </a:solidFill>
                <a:latin typeface="Arial"/>
                <a:ea typeface="Arial"/>
                <a:cs typeface="Arial"/>
              </a:rPr>
              <a:t>Full-catalog ranking</a:t>
            </a:r>
          </a:p>
        </p:txBody>
      </p:sp>
      <p:sp>
        <p:nvSpPr>
          <p:cNvPr id="82" name="evaluation-step-1-note">
            <a:extLst xmlns:a="http://schemas.openxmlformats.org/drawingml/2006/main">
              <a:ext uri="{FF2B5EF4-FFF2-40B4-BE49-F238E27FC236}">
                <a16:creationId xmlns:a16="http://schemas.microsoft.com/office/drawing/2014/main" id="{6E7C3889-2A44-46D4-BD13-92737B7C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343150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45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모든 후보 item을 점수화</a:t>
            </a:r>
          </a:p>
        </p:txBody>
      </p:sp>
      <p:cxnSp>
        <p:nvCxnSpPr>
          <p:cNvPr id="392" name="evaluation-rule-1"/>
          <p:cNvCxnSpPr/>
          <p:nvPr/>
        </p:nvCxnSpPr>
        <p:spPr>
          <a:xfrm xmlns:a="http://schemas.openxmlformats.org/drawingml/2006/main">
            <a:off x="10210800" y="2667000"/>
            <a:ext cx="13525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5A55E"/>
            </a:solidFill>
            <a:prstDash val="solid"/>
          </a:ln>
        </p:spPr>
      </p:cxnSp>
      <p:sp>
        <p:nvSpPr>
          <p:cNvPr id="84" name="evaluation-step-2-marker">
            <a:extLst xmlns:a="http://schemas.openxmlformats.org/drawingml/2006/main">
              <a:ext uri="{FF2B5EF4-FFF2-40B4-BE49-F238E27FC236}">
                <a16:creationId xmlns:a16="http://schemas.microsoft.com/office/drawing/2014/main" id="{0DCA05AE-E18B-4D39-B01B-E5B87FDA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8003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5D00"/>
          </a:solidFill>
          <a:ln xmlns:a="http://schemas.openxmlformats.org/drawingml/2006/main" w="0">
            <a:solidFill>
              <a:srgbClr val="A85D00"/>
            </a:solidFill>
            <a:prstDash val="solid"/>
          </a:ln>
        </p:spPr>
      </p:sp>
      <p:sp>
        <p:nvSpPr>
          <p:cNvPr id="85" name="evaluation-step-2-number">
            <a:extLst xmlns:a="http://schemas.openxmlformats.org/drawingml/2006/main">
              <a:ext uri="{FF2B5EF4-FFF2-40B4-BE49-F238E27FC236}">
                <a16:creationId xmlns:a16="http://schemas.microsoft.com/office/drawing/2014/main" id="{7C073C4A-40E6-4517-9FC5-8C4F40C3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8003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6" name="evaluation-step-2-title">
            <a:extLst xmlns:a="http://schemas.openxmlformats.org/drawingml/2006/main">
              <a:ext uri="{FF2B5EF4-FFF2-40B4-BE49-F238E27FC236}">
                <a16:creationId xmlns:a16="http://schemas.microsoft.com/office/drawing/2014/main" id="{AB2E5F0E-A568-4CF5-BDA3-B07A703B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762250"/>
            <a:ext cx="104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87" name="rank-quality">
            <a:extLst xmlns:a="http://schemas.openxmlformats.org/drawingml/2006/main">
              <a:ext uri="{FF2B5EF4-FFF2-40B4-BE49-F238E27FC236}">
                <a16:creationId xmlns:a16="http://schemas.microsoft.com/office/drawing/2014/main" id="{2CE7973E-307D-43B8-BC70-BF2B2FE5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124200"/>
            <a:ext cx="135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443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Rank quality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HR@10 · NDCG@10</a:t>
            </a:r>
          </a:p>
        </p:txBody>
      </p:sp>
      <p:sp>
        <p:nvSpPr>
          <p:cNvPr id="88" name="catalog-spread">
            <a:extLst xmlns:a="http://schemas.openxmlformats.org/drawingml/2006/main">
              <a:ext uri="{FF2B5EF4-FFF2-40B4-BE49-F238E27FC236}">
                <a16:creationId xmlns:a16="http://schemas.microsoft.com/office/drawing/2014/main" id="{7C96D9E2-210B-4DD3-987D-95EB8989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57600"/>
            <a:ext cx="1352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91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Catalog spread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Top-20 coverage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Top-1 concentration</a:t>
            </a:r>
          </a:p>
        </p:txBody>
      </p:sp>
      <p:cxnSp>
        <p:nvCxnSpPr>
          <p:cNvPr id="398" name="evaluation-rule-2"/>
          <p:cNvCxnSpPr/>
          <p:nvPr/>
        </p:nvCxnSpPr>
        <p:spPr>
          <a:xfrm xmlns:a="http://schemas.openxmlformats.org/drawingml/2006/main">
            <a:off x="10210800" y="4362450"/>
            <a:ext cx="13525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5A55E"/>
            </a:solidFill>
            <a:prstDash val="solid"/>
          </a:ln>
        </p:spPr>
      </p:cxnSp>
      <p:sp>
        <p:nvSpPr>
          <p:cNvPr id="90" name="evaluation-step-3-marker">
            <a:extLst xmlns:a="http://schemas.openxmlformats.org/drawingml/2006/main">
              <a:ext uri="{FF2B5EF4-FFF2-40B4-BE49-F238E27FC236}">
                <a16:creationId xmlns:a16="http://schemas.microsoft.com/office/drawing/2014/main" id="{B06C640C-C820-419E-825C-1ABF5062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4958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5D00"/>
          </a:solidFill>
          <a:ln xmlns:a="http://schemas.openxmlformats.org/drawingml/2006/main" w="0">
            <a:solidFill>
              <a:srgbClr val="A85D00"/>
            </a:solidFill>
            <a:prstDash val="solid"/>
          </a:ln>
        </p:spPr>
      </p:sp>
      <p:sp>
        <p:nvSpPr>
          <p:cNvPr id="91" name="evaluation-step-3-number">
            <a:extLst xmlns:a="http://schemas.openxmlformats.org/drawingml/2006/main">
              <a:ext uri="{FF2B5EF4-FFF2-40B4-BE49-F238E27FC236}">
                <a16:creationId xmlns:a16="http://schemas.microsoft.com/office/drawing/2014/main" id="{6213FA49-0F59-49DA-AB76-60496540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4958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2" name="evaluation-step-3-title">
            <a:extLst xmlns:a="http://schemas.openxmlformats.org/drawingml/2006/main">
              <a:ext uri="{FF2B5EF4-FFF2-40B4-BE49-F238E27FC236}">
                <a16:creationId xmlns:a16="http://schemas.microsoft.com/office/drawing/2014/main" id="{E4CA031C-307A-402B-9BD6-31870CAC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457700"/>
            <a:ext cx="104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0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A85D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85D00"/>
                </a:solidFill>
                <a:latin typeface="Arial"/>
                <a:ea typeface="Arial"/>
                <a:cs typeface="Arial"/>
              </a:rPr>
              <a:t>Compare 4 arms</a:t>
            </a:r>
          </a:p>
        </p:txBody>
      </p:sp>
      <p:sp>
        <p:nvSpPr>
          <p:cNvPr id="93" name="arm-comparisons">
            <a:extLst xmlns:a="http://schemas.openxmlformats.org/drawingml/2006/main">
              <a:ext uri="{FF2B5EF4-FFF2-40B4-BE49-F238E27FC236}">
                <a16:creationId xmlns:a16="http://schemas.microsoft.com/office/drawing/2014/main" id="{64C72BED-58D2-4F21-9C49-1F995D76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819650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3× VC vs ID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2× GRAPH vs DESC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QWEN ↔ GEMINI</a:t>
            </a:r>
          </a:p>
        </p:txBody>
      </p:sp>
      <p:sp>
        <p:nvSpPr>
          <p:cNvPr id="94" name="diagnosis">
            <a:extLst xmlns:a="http://schemas.openxmlformats.org/drawingml/2006/main">
              <a:ext uri="{FF2B5EF4-FFF2-40B4-BE49-F238E27FC236}">
                <a16:creationId xmlns:a16="http://schemas.microsoft.com/office/drawing/2014/main" id="{9C220A0E-16D0-49BE-A4ED-ADFA8D6D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46735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1137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67085"/>
                </a:solidFill>
                <a:latin typeface="Arial"/>
                <a:ea typeface="Arial"/>
                <a:cs typeface="Arial"/>
              </a:rPr>
              <a:t>paired bootstrap → diagnosis</a:t>
            </a:r>
          </a:p>
        </p:txBody>
      </p:sp>
      <p:cxnSp>
        <p:nvCxnSpPr>
          <p:cNvPr id="404" name="footer-rule"/>
          <p:cNvCxnSpPr/>
          <p:nvPr/>
        </p:nvCxnSpPr>
        <p:spPr>
          <a:xfrm xmlns:a="http://schemas.openxmlformats.org/drawingml/2006/main">
            <a:off x="457200" y="5953125"/>
            <a:ext cx="11277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8CDD5"/>
            </a:solidFill>
            <a:prstDash val="solid"/>
          </a:ln>
        </p:spPr>
      </p:cxnSp>
      <p:sp>
        <p:nvSpPr>
          <p:cNvPr id="96" name="footer">
            <a:extLst xmlns:a="http://schemas.openxmlformats.org/drawingml/2006/main">
              <a:ext uri="{FF2B5EF4-FFF2-40B4-BE49-F238E27FC236}">
                <a16:creationId xmlns:a16="http://schemas.microsoft.com/office/drawing/2014/main" id="{01969799-C872-46C3-AB6E-B550B117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76950"/>
            <a:ext cx="11277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67085"/>
                </a:solidFill>
                <a:latin typeface="Arial"/>
                <a:ea typeface="Arial"/>
                <a:cs typeface="Arial"/>
              </a:rPr>
              <a:t>통제 조건  ·  cohort, split, seeds, full-catalog scoring과 SASRec protocol은 고정</a:t>
            </a:r>
          </a:p>
        </p:txBody>
      </p:sp>
      <p:sp>
        <p:nvSpPr>
          <p:cNvPr id="97" name="acronym-note">
            <a:extLst xmlns:a="http://schemas.openxmlformats.org/drawingml/2006/main">
              <a:ext uri="{FF2B5EF4-FFF2-40B4-BE49-F238E27FC236}">
                <a16:creationId xmlns:a16="http://schemas.microsoft.com/office/drawing/2014/main" id="{AF89D02D-4889-4FE2-8DFC-C5DE42F4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9850"/>
            <a:ext cx="1127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>
                <a:solidFill>
                  <a:srgbClr val="8A919C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8A919C"/>
                </a:solidFill>
                <a:latin typeface="Arial"/>
                <a:ea typeface="Arial"/>
                <a:cs typeface="Arial"/>
              </a:rPr>
              <a:t>SCG = Scene Context Graph  ·  VS_GRAPH Q/G = Qwen/Gemini-source Graph Summary  ·  SD = Scene Description  ·  VS_desc = Description Summary</a:t>
            </a:r>
          </a:p>
        </p:txBody>
      </p:sp>
      <p:sp>
        <p:nvSpPr>
          <p:cNvPr id="288" name="gemini-extract-box">
            <a:extLst xmlns:a="http://schemas.openxmlformats.org/drawingml/2006/main">
              <a:ext uri="{FF2B5EF4-FFF2-40B4-BE49-F238E27FC236}">
                <a16:creationId xmlns:a16="http://schemas.microsoft.com/office/drawing/2014/main" id="{F2310AA1-2840-4007-8602-C1695D02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24175"/>
            <a:ext cx="781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D8C8"/>
            </a:solidFill>
            <a:prstDash val="solid"/>
          </a:ln>
        </p:spPr>
      </p:sp>
      <p:sp>
        <p:nvSpPr>
          <p:cNvPr id="289" name="gemini-extract-title">
            <a:extLst xmlns:a="http://schemas.openxmlformats.org/drawingml/2006/main">
              <a:ext uri="{FF2B5EF4-FFF2-40B4-BE49-F238E27FC236}">
                <a16:creationId xmlns:a16="http://schemas.microsoft.com/office/drawing/2014/main" id="{C73AB193-708A-4A73-86B4-730D15F8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9337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76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68765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290" name="gemini-extract-subtitle">
            <a:extLst xmlns:a="http://schemas.openxmlformats.org/drawingml/2006/main">
              <a:ext uri="{FF2B5EF4-FFF2-40B4-BE49-F238E27FC236}">
                <a16:creationId xmlns:a16="http://schemas.microsoft.com/office/drawing/2014/main" id="{8BD9FEF3-4F22-47F2-BD24-21C11A3C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124200"/>
            <a:ext cx="6858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scene graph</a:t>
            </a:r>
          </a:p>
        </p:txBody>
      </p:sp>
      <p:sp>
        <p:nvSpPr>
          <p:cNvPr id="291" name="gemini-step-1">
            <a:extLst xmlns:a="http://schemas.openxmlformats.org/drawingml/2006/main">
              <a:ext uri="{FF2B5EF4-FFF2-40B4-BE49-F238E27FC236}">
                <a16:creationId xmlns:a16="http://schemas.microsoft.com/office/drawing/2014/main" id="{90FDFCF8-4F09-452D-9E51-36E7E980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86100"/>
            <a:ext cx="142875" cy="666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765"/>
          </a:solidFill>
          <a:ln xmlns:a="http://schemas.openxmlformats.org/drawingml/2006/main" w="0">
            <a:solidFill>
              <a:srgbClr val="168765"/>
            </a:solidFill>
            <a:prstDash val="solid"/>
          </a:ln>
        </p:spPr>
      </p:sp>
      <p:sp>
        <p:nvSpPr>
          <p:cNvPr id="292" name="gemini-scg-box">
            <a:extLst xmlns:a="http://schemas.openxmlformats.org/drawingml/2006/main">
              <a:ext uri="{FF2B5EF4-FFF2-40B4-BE49-F238E27FC236}">
                <a16:creationId xmlns:a16="http://schemas.microsoft.com/office/drawing/2014/main" id="{C66BAEE5-2FDF-4AF9-9B2F-04AA5FCB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924175"/>
            <a:ext cx="781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D8C8"/>
            </a:solidFill>
            <a:prstDash val="solid"/>
          </a:ln>
        </p:spPr>
      </p:sp>
      <p:sp>
        <p:nvSpPr>
          <p:cNvPr id="293" name="gemini-scg-title">
            <a:extLst xmlns:a="http://schemas.openxmlformats.org/drawingml/2006/main">
              <a:ext uri="{FF2B5EF4-FFF2-40B4-BE49-F238E27FC236}">
                <a16:creationId xmlns:a16="http://schemas.microsoft.com/office/drawing/2014/main" id="{674B8ED6-3D39-4402-AA5B-EE42E067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9337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9365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6876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8765"/>
                </a:solidFill>
                <a:latin typeface="Arial"/>
                <a:ea typeface="Arial"/>
                <a:cs typeface="Arial"/>
              </a:rPr>
              <a:t>SCG</a:t>
            </a:r>
          </a:p>
        </p:txBody>
      </p:sp>
      <p:sp>
        <p:nvSpPr>
          <p:cNvPr id="294" name="gemini-scg-subtitle">
            <a:extLst xmlns:a="http://schemas.openxmlformats.org/drawingml/2006/main">
              <a:ext uri="{FF2B5EF4-FFF2-40B4-BE49-F238E27FC236}">
                <a16:creationId xmlns:a16="http://schemas.microsoft.com/office/drawing/2014/main" id="{DF82D877-C814-4339-9DCB-4CA25873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24200"/>
            <a:ext cx="6858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Gemini source</a:t>
            </a:r>
          </a:p>
        </p:txBody>
      </p:sp>
      <p:sp>
        <p:nvSpPr>
          <p:cNvPr id="295" name="gemini-step-2">
            <a:extLst xmlns:a="http://schemas.openxmlformats.org/drawingml/2006/main">
              <a:ext uri="{FF2B5EF4-FFF2-40B4-BE49-F238E27FC236}">
                <a16:creationId xmlns:a16="http://schemas.microsoft.com/office/drawing/2014/main" id="{81940B71-CF3B-41F8-9944-54869468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086100"/>
            <a:ext cx="142875" cy="666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765"/>
          </a:solidFill>
          <a:ln xmlns:a="http://schemas.openxmlformats.org/drawingml/2006/main" w="0">
            <a:solidFill>
              <a:srgbClr val="168765"/>
            </a:solidFill>
            <a:prstDash val="solid"/>
          </a:ln>
        </p:spPr>
      </p:sp>
      <p:sp>
        <p:nvSpPr>
          <p:cNvPr id="296" name="gemini-summary-box">
            <a:extLst xmlns:a="http://schemas.openxmlformats.org/drawingml/2006/main">
              <a:ext uri="{FF2B5EF4-FFF2-40B4-BE49-F238E27FC236}">
                <a16:creationId xmlns:a16="http://schemas.microsoft.com/office/drawing/2014/main" id="{4B2B71F2-4267-4A16-BE49-9A106AE9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24175"/>
            <a:ext cx="781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D8C8"/>
            </a:solidFill>
            <a:prstDash val="solid"/>
          </a:ln>
        </p:spPr>
      </p:sp>
      <p:sp>
        <p:nvSpPr>
          <p:cNvPr id="297" name="gemini-summary-title">
            <a:extLst xmlns:a="http://schemas.openxmlformats.org/drawingml/2006/main">
              <a:ext uri="{FF2B5EF4-FFF2-40B4-BE49-F238E27FC236}">
                <a16:creationId xmlns:a16="http://schemas.microsoft.com/office/drawing/2014/main" id="{6375D760-5B83-48DA-8F17-FC2EB173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9337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76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68765"/>
                </a:solidFill>
                <a:latin typeface="Arial"/>
                <a:ea typeface="Arial"/>
                <a:cs typeface="Arial"/>
              </a:rPr>
              <a:t>Qwen</a:t>
            </a:r>
          </a:p>
        </p:txBody>
      </p:sp>
      <p:sp>
        <p:nvSpPr>
          <p:cNvPr id="298" name="gemini-summary-subtitle">
            <a:extLst xmlns:a="http://schemas.openxmlformats.org/drawingml/2006/main">
              <a:ext uri="{FF2B5EF4-FFF2-40B4-BE49-F238E27FC236}">
                <a16:creationId xmlns:a16="http://schemas.microsoft.com/office/drawing/2014/main" id="{94DFBD11-6A42-4096-A102-9037F51C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3124200"/>
            <a:ext cx="6858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668"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video summary</a:t>
            </a:r>
          </a:p>
        </p:txBody>
      </p:sp>
      <p:sp>
        <p:nvSpPr>
          <p:cNvPr id="299" name="gemini-step-3">
            <a:extLst xmlns:a="http://schemas.openxmlformats.org/drawingml/2006/main">
              <a:ext uri="{FF2B5EF4-FFF2-40B4-BE49-F238E27FC236}">
                <a16:creationId xmlns:a16="http://schemas.microsoft.com/office/drawing/2014/main" id="{83759F80-9B08-486E-BB1D-D907A733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86100"/>
            <a:ext cx="142875" cy="666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765"/>
          </a:solidFill>
          <a:ln xmlns:a="http://schemas.openxmlformats.org/drawingml/2006/main" w="0">
            <a:solidFill>
              <a:srgbClr val="168765"/>
            </a:solidFill>
            <a:prstDash val="solid"/>
          </a:ln>
        </p:spPr>
      </p:sp>
      <p:sp>
        <p:nvSpPr>
          <p:cNvPr id="300" name="vs-graph-gemini-box">
            <a:extLst xmlns:a="http://schemas.openxmlformats.org/drawingml/2006/main">
              <a:ext uri="{FF2B5EF4-FFF2-40B4-BE49-F238E27FC236}">
                <a16:creationId xmlns:a16="http://schemas.microsoft.com/office/drawing/2014/main" id="{87E03A52-BF87-4400-A5AD-ADD5E2C1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2924175"/>
            <a:ext cx="128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68765"/>
          </a:solidFill>
          <a:ln xmlns:a="http://schemas.openxmlformats.org/drawingml/2006/main" w="11430">
            <a:solidFill>
              <a:srgbClr val="168765"/>
            </a:solidFill>
            <a:prstDash val="solid"/>
          </a:ln>
        </p:spPr>
      </p:sp>
      <p:sp>
        <p:nvSpPr>
          <p:cNvPr id="301" name="vs-graph-gemini-title">
            <a:extLst xmlns:a="http://schemas.openxmlformats.org/drawingml/2006/main">
              <a:ext uri="{FF2B5EF4-FFF2-40B4-BE49-F238E27FC236}">
                <a16:creationId xmlns:a16="http://schemas.microsoft.com/office/drawing/2014/main" id="{A0D145AF-88A9-44A1-8FA5-EB4225268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924175"/>
            <a:ext cx="109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VS_GRAPH</a:t>
            </a:r>
          </a:p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cxnSp>
        <p:nvCxnSpPr>
          <p:cNvPr id="421" name=""/>
          <p:cNvCxnSpPr>
            <a:stCxn xmlns:a="http://schemas.openxmlformats.org/drawingml/2006/main" id="38" idx="3"/>
            <a:endCxn xmlns:a="http://schemas.openxmlformats.org/drawingml/2006/main" id="288" idx="1"/>
          </p:cNvCxnSpPr>
          <p:nvPr/>
        </p:nvCxnSpPr>
        <p:spPr>
          <a:xfrm xmlns:a="http://schemas.openxmlformats.org/drawingml/2006/main">
            <a:off x="2190750" y="2657475"/>
            <a:ext cx="762000" cy="4667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168765"/>
            </a:solidFill>
            <a:prstDash val="solid"/>
            <a:headEnd type="arrow" w="med" len="med"/>
          </a:ln>
        </p:spPr>
      </p:cxnSp>
      <p:cxnSp>
        <p:nvCxnSpPr>
          <p:cNvPr id="422" name=""/>
          <p:cNvCxnSpPr>
            <a:stCxn xmlns:a="http://schemas.openxmlformats.org/drawingml/2006/main" id="38" idx="3"/>
            <a:endCxn xmlns:a="http://schemas.openxmlformats.org/drawingml/2006/main" id="56" idx="1"/>
          </p:cNvCxnSpPr>
          <p:nvPr/>
        </p:nvCxnSpPr>
        <p:spPr>
          <a:xfrm xmlns:a="http://schemas.openxmlformats.org/drawingml/2006/main">
            <a:off x="2190750" y="2657475"/>
            <a:ext cx="762000" cy="21336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2F78E8"/>
            </a:solidFill>
            <a:prstDash val="solid"/>
            <a:headEnd type="arrow" w="med" len="med"/>
          </a:ln>
        </p:spPr>
      </p:cxnSp>
      <p:sp>
        <p:nvSpPr>
          <p:cNvPr id="304" name="graph-gemini-embed-box">
            <a:extLst xmlns:a="http://schemas.openxmlformats.org/drawingml/2006/main">
              <a:ext uri="{FF2B5EF4-FFF2-40B4-BE49-F238E27FC236}">
                <a16:creationId xmlns:a16="http://schemas.microsoft.com/office/drawing/2014/main" id="{437904B7-6CAB-4F10-93E3-DA5099DB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09925"/>
            <a:ext cx="1866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7F5F0"/>
          </a:solidFill>
          <a:ln xmlns:a="http://schemas.openxmlformats.org/drawingml/2006/main" w="11430">
            <a:solidFill>
              <a:srgbClr val="A8D8C8"/>
            </a:solidFill>
            <a:prstDash val="solid"/>
          </a:ln>
        </p:spPr>
      </p:sp>
      <p:sp>
        <p:nvSpPr>
          <p:cNvPr id="305" name="graph-gemini-embed-title">
            <a:extLst xmlns:a="http://schemas.openxmlformats.org/drawingml/2006/main">
              <a:ext uri="{FF2B5EF4-FFF2-40B4-BE49-F238E27FC236}">
                <a16:creationId xmlns:a16="http://schemas.microsoft.com/office/drawing/2014/main" id="{43BBD819-A0A5-4FBA-86FC-890116E0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09925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76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68765"/>
                </a:solidFill>
                <a:latin typeface="Arial"/>
                <a:ea typeface="Arial"/>
                <a:cs typeface="Arial"/>
              </a:rPr>
              <a:t>BGE 1024D  ·  GEMINI</a:t>
            </a:r>
          </a:p>
        </p:txBody>
      </p:sp>
      <p:sp>
        <p:nvSpPr>
          <p:cNvPr id="306" name="graph-gemini-embed-to-sasrec">
            <a:extLst xmlns:a="http://schemas.openxmlformats.org/drawingml/2006/main">
              <a:ext uri="{FF2B5EF4-FFF2-40B4-BE49-F238E27FC236}">
                <a16:creationId xmlns:a16="http://schemas.microsoft.com/office/drawing/2014/main" id="{6B99462E-2BDF-46A3-A754-7824343D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533775"/>
            <a:ext cx="95250" cy="762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8765"/>
          </a:solidFill>
          <a:ln xmlns:a="http://schemas.openxmlformats.org/drawingml/2006/main" w="0">
            <a:solidFill>
              <a:srgbClr val="168765"/>
            </a:solidFill>
            <a:prstDash val="solid"/>
          </a:ln>
        </p:spPr>
      </p:sp>
      <p:sp>
        <p:nvSpPr>
          <p:cNvPr id="307" name="sasrec-graph-gemini-box">
            <a:extLst xmlns:a="http://schemas.openxmlformats.org/drawingml/2006/main">
              <a:ext uri="{FF2B5EF4-FFF2-40B4-BE49-F238E27FC236}">
                <a16:creationId xmlns:a16="http://schemas.microsoft.com/office/drawing/2014/main" id="{97E580C6-935D-4674-8100-D7D97449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90925"/>
            <a:ext cx="18669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68765"/>
          </a:solidFill>
          <a:ln xmlns:a="http://schemas.openxmlformats.org/drawingml/2006/main" w="11430">
            <a:solidFill>
              <a:srgbClr val="168765"/>
            </a:solidFill>
            <a:prstDash val="solid"/>
          </a:ln>
        </p:spPr>
      </p:sp>
      <p:sp>
        <p:nvSpPr>
          <p:cNvPr id="308" name="sasrec-graph-gemini-title">
            <a:extLst xmlns:a="http://schemas.openxmlformats.org/drawingml/2006/main">
              <a:ext uri="{FF2B5EF4-FFF2-40B4-BE49-F238E27FC236}">
                <a16:creationId xmlns:a16="http://schemas.microsoft.com/office/drawing/2014/main" id="{A71C181C-3382-4FB4-ABF1-48088076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590925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958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SASRec_GRAPH</a:t>
            </a:r>
          </a:p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309" name="gemini-to-rec">
            <a:extLst xmlns:a="http://schemas.openxmlformats.org/drawingml/2006/main">
              <a:ext uri="{FF2B5EF4-FFF2-40B4-BE49-F238E27FC236}">
                <a16:creationId xmlns:a16="http://schemas.microsoft.com/office/drawing/2014/main" id="{1E0A4EDA-9122-4844-9B0C-0C250E65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333750"/>
            <a:ext cx="723900" cy="85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765"/>
          </a:solidFill>
          <a:ln xmlns:a="http://schemas.openxmlformats.org/drawingml/2006/main" w="0">
            <a:solidFill>
              <a:srgbClr val="168765"/>
            </a:solidFill>
            <a:prstDash val="solid"/>
          </a:ln>
        </p:spPr>
      </p:sp>
      <p:cxnSp>
        <p:nvCxnSpPr>
          <p:cNvPr id="429" name="gemini-to-evaluation-collector"/>
          <p:cNvCxnSpPr/>
          <p:nvPr/>
        </p:nvCxnSpPr>
        <p:spPr>
          <a:xfrm xmlns:a="http://schemas.openxmlformats.org/drawingml/2006/main">
            <a:off x="9601200" y="37719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765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17467412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2026-08-27T08:35:57.3890000Z</dcterms:created>
  <dcterms:modified xsi:type="dcterms:W3CDTF">2026-08-27T08:35:57.3890000Z</dcterms:modified>
</coreProperties>
</file>