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a39e75be146a3" /><Relationship Type="http://schemas.openxmlformats.org/officeDocument/2006/relationships/extended-properties" Target="/docProps/app.xml" Id="R4549858a0ce2423a" /><Relationship Type="http://schemas.openxmlformats.org/officeDocument/2006/relationships/officeDocument" Target="/ppt/presentation.xml" Id="Refde213e071643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ec943eb0984ac7"/>
  </p:sldMasterIdLst>
  <p:notesMasterIdLst>
    <p:notesMasterId xmlns:r="http://schemas.openxmlformats.org/officeDocument/2006/relationships" r:id="R6e7d6d82195d4411"/>
  </p:notesMasterIdLst>
  <p:sldIdLst>
    <p:sldId xmlns:r="http://schemas.openxmlformats.org/officeDocument/2006/relationships" id="256" r:id="Ree9cb4604b6647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c5244ad49443d" /><Relationship Type="http://schemas.openxmlformats.org/officeDocument/2006/relationships/slideMaster" Target="/ppt/slideMasters/slideMaster1.xml" Id="R58ec943eb0984ac7" /><Relationship Type="http://schemas.openxmlformats.org/officeDocument/2006/relationships/notesMaster" Target="/ppt/notesMasters/notesMaster1.xml" Id="R6e7d6d82195d4411" /><Relationship Type="http://schemas.openxmlformats.org/officeDocument/2006/relationships/presProps" Target="/ppt/presProps.xml" Id="R0494094c54034da1" /><Relationship Type="http://schemas.openxmlformats.org/officeDocument/2006/relationships/tableStyles" Target="/ppt/tableStyles.xml" Id="R5cde64c9a333499f" /><Relationship Type="http://schemas.openxmlformats.org/officeDocument/2006/relationships/slide" Target="/ppt/slides/slide1.xml" Id="Ree9cb4604b66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8eb57d30e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2f69cdc82b475d" /><Relationship Type="http://schemas.openxmlformats.org/officeDocument/2006/relationships/notesMaster" Target="/ppt/notesMasters/notesMaster1.xml" Id="R8a742b8ff15c47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README.md, pipeline runner, and current extraction/validation contracts (2026-08-24).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0a2d153f6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f21e12ce44b98" /><Relationship Type="http://schemas.openxmlformats.org/officeDocument/2006/relationships/slideLayout" Target="/ppt/slideLayouts/slideLayout1.xml" Id="R4cac61b1eca8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ac61b1eca8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118dd74314162" /><Relationship Type="http://schemas.openxmlformats.org/officeDocument/2006/relationships/notesSlide" Target="/ppt/notesSlides/notesSlide1.xml" Id="Rc3ab2539d0774e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title">
            <a:extLst xmlns:a="http://schemas.openxmlformats.org/drawingml/2006/main">
              <a:ext uri="{FF2B5EF4-FFF2-40B4-BE49-F238E27FC236}">
                <a16:creationId xmlns:a16="http://schemas.microsoft.com/office/drawing/2014/main" id="{FDDB64F0-A6BD-4027-B4B0-DBEB18D4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같은 visual evidence로 Graph·Description 공정 비교</a:t>
            </a:r>
          </a:p>
        </p:txBody>
      </p:sp>
      <p:sp>
        <p:nvSpPr>
          <p:cNvPr id="2" name="protocol">
            <a:extLst xmlns:a="http://schemas.openxmlformats.org/drawingml/2006/main">
              <a:ext uri="{FF2B5EF4-FFF2-40B4-BE49-F238E27FC236}">
                <a16:creationId xmlns:a16="http://schemas.microsoft.com/office/drawing/2014/main" id="{97B07524-91CE-4E5A-A48D-F7AC45EE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67085"/>
                </a:solidFill>
                <a:latin typeface="Arial"/>
                <a:ea typeface="Arial"/>
                <a:cs typeface="Arial"/>
              </a:rPr>
              <a:t>MicroLens-100K  ·  visual-only  ·  fixed 30s  ·  Qwen3-VL-2B</a:t>
            </a:r>
          </a:p>
        </p:txBody>
      </p:sp>
      <p:sp>
        <p:nvSpPr>
          <p:cNvPr id="3" name="deck-label">
            <a:extLst xmlns:a="http://schemas.openxmlformats.org/drawingml/2006/main">
              <a:ext uri="{FF2B5EF4-FFF2-40B4-BE49-F238E27FC236}">
                <a16:creationId xmlns:a16="http://schemas.microsoft.com/office/drawing/2014/main" id="{44B6951F-106C-4352-9365-686F1E63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VIEWING CONTEXT PIPELINE</a:t>
            </a:r>
          </a:p>
        </p:txBody>
      </p:sp>
      <p:sp>
        <p:nvSpPr>
          <p:cNvPr id="4" name="section-01">
            <a:extLst xmlns:a="http://schemas.openxmlformats.org/drawingml/2006/main">
              <a:ext uri="{FF2B5EF4-FFF2-40B4-BE49-F238E27FC236}">
                <a16:creationId xmlns:a16="http://schemas.microsoft.com/office/drawing/2014/main" id="{0252CBB3-856F-40E1-890F-1AE0940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  DATA &amp; EVIDENCE</a:t>
            </a:r>
          </a:p>
        </p:txBody>
      </p:sp>
      <p:sp>
        <p:nvSpPr>
          <p:cNvPr id="5" name="section-02">
            <a:extLst xmlns:a="http://schemas.openxmlformats.org/drawingml/2006/main">
              <a:ext uri="{FF2B5EF4-FFF2-40B4-BE49-F238E27FC236}">
                <a16:creationId xmlns:a16="http://schemas.microsoft.com/office/drawing/2014/main" id="{42E5CCB8-8CFE-4BB3-97BC-717CB42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049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  VIEWING CONTEXT EXTRACTION</a:t>
            </a:r>
          </a:p>
        </p:txBody>
      </p:sp>
      <p:sp>
        <p:nvSpPr>
          <p:cNvPr id="6" name="section-03">
            <a:extLst xmlns:a="http://schemas.openxmlformats.org/drawingml/2006/main">
              <a:ext uri="{FF2B5EF4-FFF2-40B4-BE49-F238E27FC236}">
                <a16:creationId xmlns:a16="http://schemas.microsoft.com/office/drawing/2014/main" id="{DF3C3F2C-8084-4242-A49C-FF42CC9E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04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  EMBEDDING &amp; SASREC</a:t>
            </a:r>
          </a:p>
        </p:txBody>
      </p:sp>
      <p:sp>
        <p:nvSpPr>
          <p:cNvPr id="7" name="section-04">
            <a:extLst xmlns:a="http://schemas.openxmlformats.org/drawingml/2006/main">
              <a:ext uri="{FF2B5EF4-FFF2-40B4-BE49-F238E27FC236}">
                <a16:creationId xmlns:a16="http://schemas.microsoft.com/office/drawing/2014/main" id="{810A3CD4-4CCD-4BA6-83F1-DF91F0E4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1049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  EVALUATION</a:t>
            </a:r>
          </a:p>
        </p:txBody>
      </p:sp>
      <p:sp>
        <p:nvSpPr>
          <p:cNvPr id="8" name="input-panel">
            <a:extLst xmlns:a="http://schemas.openxmlformats.org/drawingml/2006/main">
              <a:ext uri="{FF2B5EF4-FFF2-40B4-BE49-F238E27FC236}">
                <a16:creationId xmlns:a16="http://schemas.microsoft.com/office/drawing/2014/main" id="{16AE7EDA-79CA-434C-83E6-482482B8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905000" cy="4191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9" name="extraction-panel">
            <a:extLst xmlns:a="http://schemas.openxmlformats.org/drawingml/2006/main">
              <a:ext uri="{FF2B5EF4-FFF2-40B4-BE49-F238E27FC236}">
                <a16:creationId xmlns:a16="http://schemas.microsoft.com/office/drawing/2014/main" id="{90C188D0-8E46-4641-A962-B882A117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04950"/>
            <a:ext cx="46291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10" name="recommendation-panel">
            <a:extLst xmlns:a="http://schemas.openxmlformats.org/drawingml/2006/main">
              <a:ext uri="{FF2B5EF4-FFF2-40B4-BE49-F238E27FC236}">
                <a16:creationId xmlns:a16="http://schemas.microsoft.com/office/drawing/2014/main" id="{5955693F-22A4-4729-93F2-0816A339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2133600" cy="4191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11" name="evaluation-panel">
            <a:extLst xmlns:a="http://schemas.openxmlformats.org/drawingml/2006/main">
              <a:ext uri="{FF2B5EF4-FFF2-40B4-BE49-F238E27FC236}">
                <a16:creationId xmlns:a16="http://schemas.microsoft.com/office/drawing/2014/main" id="{7FD8791D-E128-4337-84FD-31E3DC9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04950"/>
            <a:ext cx="1695450" cy="41910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11430">
            <a:solidFill>
              <a:srgbClr val="E2B476"/>
            </a:solidFill>
            <a:prstDash val="solid"/>
          </a:ln>
        </p:spPr>
      </p:sp>
      <p:sp>
        <p:nvSpPr>
          <p:cNvPr id="12" name="shared-evidence-band">
            <a:extLst xmlns:a="http://schemas.openxmlformats.org/drawingml/2006/main">
              <a:ext uri="{FF2B5EF4-FFF2-40B4-BE49-F238E27FC236}">
                <a16:creationId xmlns:a16="http://schemas.microsoft.com/office/drawing/2014/main" id="{BBE2A2EA-C6E4-4899-A832-10D0B11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57350"/>
            <a:ext cx="432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13" name="graph-lane">
            <a:extLst xmlns:a="http://schemas.openxmlformats.org/drawingml/2006/main">
              <a:ext uri="{FF2B5EF4-FFF2-40B4-BE49-F238E27FC236}">
                <a16:creationId xmlns:a16="http://schemas.microsoft.com/office/drawing/2014/main" id="{31115EA7-FB7B-46FC-B2AE-FF2173C8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4324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14" name="description-lane">
            <a:extLst xmlns:a="http://schemas.openxmlformats.org/drawingml/2006/main">
              <a:ext uri="{FF2B5EF4-FFF2-40B4-BE49-F238E27FC236}">
                <a16:creationId xmlns:a16="http://schemas.microsoft.com/office/drawing/2014/main" id="{1827CCB7-AB96-4EE2-AD61-4ECC500B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4324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15" name="input-to-graph">
            <a:extLst xmlns:a="http://schemas.openxmlformats.org/drawingml/2006/main">
              <a:ext uri="{FF2B5EF4-FFF2-40B4-BE49-F238E27FC236}">
                <a16:creationId xmlns:a16="http://schemas.microsoft.com/office/drawing/2014/main" id="{9EEDFC3E-AE6C-4D72-A9DF-69BB9D5F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52725"/>
            <a:ext cx="6858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16" name="input-to-description">
            <a:extLst xmlns:a="http://schemas.openxmlformats.org/drawingml/2006/main">
              <a:ext uri="{FF2B5EF4-FFF2-40B4-BE49-F238E27FC236}">
                <a16:creationId xmlns:a16="http://schemas.microsoft.com/office/drawing/2014/main" id="{25D7CDD2-F5C5-4193-9AB8-CE836E0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6858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17" name="graph-step-1">
            <a:extLst xmlns:a="http://schemas.openxmlformats.org/drawingml/2006/main">
              <a:ext uri="{FF2B5EF4-FFF2-40B4-BE49-F238E27FC236}">
                <a16:creationId xmlns:a16="http://schemas.microsoft.com/office/drawing/2014/main" id="{6D9ED615-98FC-46CD-95A8-5DD1B70A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52725"/>
            <a:ext cx="14287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18" name="graph-step-2">
            <a:extLst xmlns:a="http://schemas.openxmlformats.org/drawingml/2006/main">
              <a:ext uri="{FF2B5EF4-FFF2-40B4-BE49-F238E27FC236}">
                <a16:creationId xmlns:a16="http://schemas.microsoft.com/office/drawing/2014/main" id="{6B8D9688-B4B5-486B-9C47-9A700535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52725"/>
            <a:ext cx="14287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19" name="graph-step-3">
            <a:extLst xmlns:a="http://schemas.openxmlformats.org/drawingml/2006/main">
              <a:ext uri="{FF2B5EF4-FFF2-40B4-BE49-F238E27FC236}">
                <a16:creationId xmlns:a16="http://schemas.microsoft.com/office/drawing/2014/main" id="{1BB46EDE-A0F1-48F0-8427-CD75F55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52725"/>
            <a:ext cx="14287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0" name="desc-step-1">
            <a:extLst xmlns:a="http://schemas.openxmlformats.org/drawingml/2006/main">
              <a:ext uri="{FF2B5EF4-FFF2-40B4-BE49-F238E27FC236}">
                <a16:creationId xmlns:a16="http://schemas.microsoft.com/office/drawing/2014/main" id="{2BE8BD4D-1620-40B4-82F5-2B2A932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57725"/>
            <a:ext cx="14287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1" name="desc-step-2">
            <a:extLst xmlns:a="http://schemas.openxmlformats.org/drawingml/2006/main">
              <a:ext uri="{FF2B5EF4-FFF2-40B4-BE49-F238E27FC236}">
                <a16:creationId xmlns:a16="http://schemas.microsoft.com/office/drawing/2014/main" id="{3597897F-5478-43E6-AD68-704E8DB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57725"/>
            <a:ext cx="14287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2" name="desc-step-3">
            <a:extLst xmlns:a="http://schemas.openxmlformats.org/drawingml/2006/main">
              <a:ext uri="{FF2B5EF4-FFF2-40B4-BE49-F238E27FC236}">
                <a16:creationId xmlns:a16="http://schemas.microsoft.com/office/drawing/2014/main" id="{C1E7ABB8-8F7D-4B69-AC2F-6833927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57725"/>
            <a:ext cx="14287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3" name="graph-to-rec">
            <a:extLst xmlns:a="http://schemas.openxmlformats.org/drawingml/2006/main">
              <a:ext uri="{FF2B5EF4-FFF2-40B4-BE49-F238E27FC236}">
                <a16:creationId xmlns:a16="http://schemas.microsoft.com/office/drawing/2014/main" id="{CDF23197-584B-4946-B28B-EF4FCCCD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7239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4" name="desc-to-rec">
            <a:extLst xmlns:a="http://schemas.openxmlformats.org/drawingml/2006/main">
              <a:ext uri="{FF2B5EF4-FFF2-40B4-BE49-F238E27FC236}">
                <a16:creationId xmlns:a16="http://schemas.microsoft.com/office/drawing/2014/main" id="{ADE6D2A2-682B-4499-B3DF-B415A7ED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7239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5" name="id-bypass">
            <a:extLst xmlns:a="http://schemas.openxmlformats.org/drawingml/2006/main">
              <a:ext uri="{FF2B5EF4-FFF2-40B4-BE49-F238E27FC236}">
                <a16:creationId xmlns:a16="http://schemas.microsoft.com/office/drawing/2014/main" id="{2538F674-78DB-45BB-A9DB-75F9B95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05225"/>
            <a:ext cx="54673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95A1"/>
          </a:solidFill>
          <a:ln xmlns:a="http://schemas.openxmlformats.org/drawingml/2006/main" w="0">
            <a:solidFill>
              <a:srgbClr val="8D95A1"/>
            </a:solidFill>
            <a:prstDash val="solid"/>
          </a:ln>
        </p:spPr>
      </p:sp>
      <p:sp>
        <p:nvSpPr>
          <p:cNvPr id="26" name="graph-embed-to-sasrec">
            <a:extLst xmlns:a="http://schemas.openxmlformats.org/drawingml/2006/main">
              <a:ext uri="{FF2B5EF4-FFF2-40B4-BE49-F238E27FC236}">
                <a16:creationId xmlns:a16="http://schemas.microsoft.com/office/drawing/2014/main" id="{A3716D83-10C6-4AEF-B2EF-282DC8C3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05075"/>
            <a:ext cx="952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7" name="desc-embed-to-sasrec">
            <a:extLst xmlns:a="http://schemas.openxmlformats.org/drawingml/2006/main">
              <a:ext uri="{FF2B5EF4-FFF2-40B4-BE49-F238E27FC236}">
                <a16:creationId xmlns:a16="http://schemas.microsoft.com/office/drawing/2014/main" id="{A8FFFB18-CE68-4F3F-9524-574789F3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10075"/>
            <a:ext cx="952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cxnSp>
        <p:nvCxnSpPr>
          <p:cNvPr id="125" name="graph-to-evaluation-collector"/>
          <p:cNvCxnSpPr/>
          <p:nvPr/>
        </p:nvCxnSpPr>
        <p:spPr>
          <a:xfrm xmlns:a="http://schemas.openxmlformats.org/drawingml/2006/main">
            <a:off x="9601200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765"/>
            </a:solidFill>
            <a:prstDash val="solid"/>
          </a:ln>
        </p:spPr>
      </p:cxnSp>
      <p:cxnSp>
        <p:nvCxnSpPr>
          <p:cNvPr id="126" name="id-to-evaluation-collector"/>
          <p:cNvCxnSpPr/>
          <p:nvPr/>
        </p:nvCxnSpPr>
        <p:spPr>
          <a:xfrm xmlns:a="http://schemas.openxmlformats.org/drawingml/2006/main">
            <a:off x="9601200" y="37433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B7280"/>
            </a:solidFill>
            <a:prstDash val="solid"/>
          </a:ln>
        </p:spPr>
      </p:cxnSp>
      <p:cxnSp>
        <p:nvCxnSpPr>
          <p:cNvPr id="127" name="desc-to-evaluation-collector"/>
          <p:cNvCxnSpPr/>
          <p:nvPr/>
        </p:nvCxnSpPr>
        <p:spPr>
          <a:xfrm xmlns:a="http://schemas.openxmlformats.org/drawingml/2006/main">
            <a:off x="9601200" y="4819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78E8"/>
            </a:solidFill>
            <a:prstDash val="solid"/>
          </a:ln>
        </p:spPr>
      </p:cxnSp>
      <p:cxnSp>
        <p:nvCxnSpPr>
          <p:cNvPr id="128" name="evaluation-collector"/>
          <p:cNvCxnSpPr/>
          <p:nvPr/>
        </p:nvCxnSpPr>
        <p:spPr>
          <a:xfrm xmlns:a="http://schemas.openxmlformats.org/drawingml/2006/main">
            <a:off x="9886950" y="2162175"/>
            <a:ext cx="0" cy="26574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85D00"/>
            </a:solidFill>
            <a:prstDash val="solid"/>
          </a:ln>
        </p:spPr>
      </p:cxnSp>
      <p:sp>
        <p:nvSpPr>
          <p:cNvPr id="32" name="collector-to-evaluation">
            <a:extLst xmlns:a="http://schemas.openxmlformats.org/drawingml/2006/main">
              <a:ext uri="{FF2B5EF4-FFF2-40B4-BE49-F238E27FC236}">
                <a16:creationId xmlns:a16="http://schemas.microsoft.com/office/drawing/2014/main" id="{CAC833E5-425F-4A3E-8064-B5F3825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14550"/>
            <a:ext cx="3238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solidFill>
              <a:srgbClr val="A85D00"/>
            </a:solidFill>
            <a:prstDash val="solid"/>
          </a:ln>
        </p:spPr>
      </p:sp>
      <p:sp>
        <p:nvSpPr>
          <p:cNvPr id="33" name="input-title">
            <a:extLst xmlns:a="http://schemas.openxmlformats.org/drawingml/2006/main">
              <a:ext uri="{FF2B5EF4-FFF2-40B4-BE49-F238E27FC236}">
                <a16:creationId xmlns:a16="http://schemas.microsoft.com/office/drawing/2014/main" id="{73234CBA-FB1B-4F4D-9D8A-EFE5B34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MicroLens-100K</a:t>
            </a:r>
          </a:p>
        </p:txBody>
      </p:sp>
      <p:sp>
        <p:nvSpPr>
          <p:cNvPr id="34" name="input-subtitle">
            <a:extLst xmlns:a="http://schemas.openxmlformats.org/drawingml/2006/main">
              <a:ext uri="{FF2B5EF4-FFF2-40B4-BE49-F238E27FC236}">
                <a16:creationId xmlns:a16="http://schemas.microsoft.com/office/drawing/2014/main" id="{C01EFCF7-C926-42B5-B1C8-EB8DF1A6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67085"/>
                </a:solidFill>
                <a:latin typeface="Arial"/>
                <a:ea typeface="Arial"/>
                <a:cs typeface="Arial"/>
              </a:rPr>
              <a:t>video_id 기준으로 정렬</a:t>
            </a:r>
          </a:p>
        </p:txBody>
      </p:sp>
      <p:sp>
        <p:nvSpPr>
          <p:cNvPr id="35" name="interactions-box">
            <a:extLst xmlns:a="http://schemas.openxmlformats.org/drawingml/2006/main">
              <a:ext uri="{FF2B5EF4-FFF2-40B4-BE49-F238E27FC236}">
                <a16:creationId xmlns:a16="http://schemas.microsoft.com/office/drawing/2014/main" id="{8F303A24-B502-47F6-86B0-F2830D25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36" name="interactions-title">
            <a:extLst xmlns:a="http://schemas.openxmlformats.org/drawingml/2006/main">
              <a:ext uri="{FF2B5EF4-FFF2-40B4-BE49-F238E27FC236}">
                <a16:creationId xmlns:a16="http://schemas.microsoft.com/office/drawing/2014/main" id="{0AFE26AF-0F34-45BE-B49A-DD370FB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2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Interaction sequence</a:t>
            </a:r>
          </a:p>
        </p:txBody>
      </p:sp>
      <p:sp>
        <p:nvSpPr>
          <p:cNvPr id="37" name="interactions-subtitle">
            <a:extLst xmlns:a="http://schemas.openxmlformats.org/drawingml/2006/main">
              <a:ext uri="{FF2B5EF4-FFF2-40B4-BE49-F238E27FC236}">
                <a16:creationId xmlns:a16="http://schemas.microsoft.com/office/drawing/2014/main" id="{CE9297C0-2A82-4873-9234-B415A17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140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cohort + Leave-Two-Out</a:t>
            </a:r>
          </a:p>
        </p:txBody>
      </p:sp>
      <p:sp>
        <p:nvSpPr>
          <p:cNvPr id="38" name="local-video-box">
            <a:extLst xmlns:a="http://schemas.openxmlformats.org/drawingml/2006/main">
              <a:ext uri="{FF2B5EF4-FFF2-40B4-BE49-F238E27FC236}">
                <a16:creationId xmlns:a16="http://schemas.microsoft.com/office/drawing/2014/main" id="{50DE83A1-9A5E-4B5D-AA15-BCAB661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39" name="local-video-title">
            <a:extLst xmlns:a="http://schemas.openxmlformats.org/drawingml/2006/main">
              <a:ext uri="{FF2B5EF4-FFF2-40B4-BE49-F238E27FC236}">
                <a16:creationId xmlns:a16="http://schemas.microsoft.com/office/drawing/2014/main" id="{4A4B89C7-EBF2-493D-805F-D360BC4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MP4</a:t>
            </a:r>
          </a:p>
        </p:txBody>
      </p:sp>
      <p:sp>
        <p:nvSpPr>
          <p:cNvPr id="40" name="local-video-subtitle">
            <a:extLst xmlns:a="http://schemas.openxmlformats.org/drawingml/2006/main">
              <a:ext uri="{FF2B5EF4-FFF2-40B4-BE49-F238E27FC236}">
                <a16:creationId xmlns:a16="http://schemas.microsoft.com/office/drawing/2014/main" id="{9D62F71C-FE74-4E9C-9A9C-6A5F9C6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40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5s · 15s · 25s keyframes</a:t>
            </a:r>
          </a:p>
        </p:txBody>
      </p:sp>
      <p:sp>
        <p:nvSpPr>
          <p:cNvPr id="41" name="fresh-run">
            <a:extLst xmlns:a="http://schemas.openxmlformats.org/drawingml/2006/main">
              <a:ext uri="{FF2B5EF4-FFF2-40B4-BE49-F238E27FC236}">
                <a16:creationId xmlns:a16="http://schemas.microsoft.com/office/drawing/2014/main" id="{4331E193-A4BB-4F7A-83A9-3EC89C2A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fresh artifacts/&lt;run_id&gt;/</a:t>
            </a:r>
          </a:p>
        </p:txBody>
      </p:sp>
      <p:sp>
        <p:nvSpPr>
          <p:cNvPr id="42" name="shared-evidence">
            <a:extLst xmlns:a="http://schemas.openxmlformats.org/drawingml/2006/main">
              <a:ext uri="{FF2B5EF4-FFF2-40B4-BE49-F238E27FC236}">
                <a16:creationId xmlns:a16="http://schemas.microsoft.com/office/drawing/2014/main" id="{10E4D51E-4774-4448-9F8E-161CC6AC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1450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3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SHARED INPUT  ·  same cohort  ·  same keyframes  ·  same scene order</a:t>
            </a:r>
          </a:p>
        </p:txBody>
      </p:sp>
      <p:sp>
        <p:nvSpPr>
          <p:cNvPr id="43" name="graph-arm-label">
            <a:extLst xmlns:a="http://schemas.openxmlformats.org/drawingml/2006/main">
              <a:ext uri="{FF2B5EF4-FFF2-40B4-BE49-F238E27FC236}">
                <a16:creationId xmlns:a16="http://schemas.microsoft.com/office/drawing/2014/main" id="{BA60B006-72BC-49DA-864C-7646BD50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GRAPH ARM</a:t>
            </a:r>
          </a:p>
        </p:txBody>
      </p:sp>
      <p:sp>
        <p:nvSpPr>
          <p:cNvPr id="44" name="desc-arm-label">
            <a:extLst xmlns:a="http://schemas.openxmlformats.org/drawingml/2006/main">
              <a:ext uri="{FF2B5EF4-FFF2-40B4-BE49-F238E27FC236}">
                <a16:creationId xmlns:a16="http://schemas.microsoft.com/office/drawing/2014/main" id="{7D806474-5DE8-4DC9-AA96-8A03C4D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DESCRIPTION ARM</a:t>
            </a:r>
          </a:p>
        </p:txBody>
      </p:sp>
      <p:sp>
        <p:nvSpPr>
          <p:cNvPr id="45" name="graph-extract-box">
            <a:extLst xmlns:a="http://schemas.openxmlformats.org/drawingml/2006/main">
              <a:ext uri="{FF2B5EF4-FFF2-40B4-BE49-F238E27FC236}">
                <a16:creationId xmlns:a16="http://schemas.microsoft.com/office/drawing/2014/main" id="{83D8D0B7-A012-4912-95E0-4A2070A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781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46" name="graph-extract-title">
            <a:extLst xmlns:a="http://schemas.openxmlformats.org/drawingml/2006/main">
              <a:ext uri="{FF2B5EF4-FFF2-40B4-BE49-F238E27FC236}">
                <a16:creationId xmlns:a16="http://schemas.microsoft.com/office/drawing/2014/main" id="{99C8C7EF-81AE-4FF0-A654-CC928CE0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47" name="graph-extract-subtitle">
            <a:extLst xmlns:a="http://schemas.openxmlformats.org/drawingml/2006/main">
              <a:ext uri="{FF2B5EF4-FFF2-40B4-BE49-F238E27FC236}">
                <a16:creationId xmlns:a16="http://schemas.microsoft.com/office/drawing/2014/main" id="{5A9CD7F7-6269-4ED1-801C-09A2406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scene relations</a:t>
            </a:r>
          </a:p>
        </p:txBody>
      </p:sp>
      <p:sp>
        <p:nvSpPr>
          <p:cNvPr id="48" name="scg-box">
            <a:extLst xmlns:a="http://schemas.openxmlformats.org/drawingml/2006/main">
              <a:ext uri="{FF2B5EF4-FFF2-40B4-BE49-F238E27FC236}">
                <a16:creationId xmlns:a16="http://schemas.microsoft.com/office/drawing/2014/main" id="{2A219219-E378-4C94-9851-F4053ABC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43175"/>
            <a:ext cx="781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49" name="scg-title">
            <a:extLst xmlns:a="http://schemas.openxmlformats.org/drawingml/2006/main">
              <a:ext uri="{FF2B5EF4-FFF2-40B4-BE49-F238E27FC236}">
                <a16:creationId xmlns:a16="http://schemas.microsoft.com/office/drawing/2014/main" id="{5F2AFBBE-FED1-411C-AB8C-BD0868DD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19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SCG</a:t>
            </a:r>
          </a:p>
        </p:txBody>
      </p:sp>
      <p:sp>
        <p:nvSpPr>
          <p:cNvPr id="50" name="scg-subtitle">
            <a:extLst xmlns:a="http://schemas.openxmlformats.org/drawingml/2006/main">
              <a:ext uri="{FF2B5EF4-FFF2-40B4-BE49-F238E27FC236}">
                <a16:creationId xmlns:a16="http://schemas.microsoft.com/office/drawing/2014/main" id="{0F2EAB76-4259-48B0-87DF-D7003EC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14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relational triples</a:t>
            </a:r>
          </a:p>
        </p:txBody>
      </p:sp>
      <p:sp>
        <p:nvSpPr>
          <p:cNvPr id="51" name="graph-summarize-box">
            <a:extLst xmlns:a="http://schemas.openxmlformats.org/drawingml/2006/main">
              <a:ext uri="{FF2B5EF4-FFF2-40B4-BE49-F238E27FC236}">
                <a16:creationId xmlns:a16="http://schemas.microsoft.com/office/drawing/2014/main" id="{B1A3F3D6-C818-4B9D-AA26-CBBE6180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43175"/>
            <a:ext cx="781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52" name="graph-summarize-title">
            <a:extLst xmlns:a="http://schemas.openxmlformats.org/drawingml/2006/main">
              <a:ext uri="{FF2B5EF4-FFF2-40B4-BE49-F238E27FC236}">
                <a16:creationId xmlns:a16="http://schemas.microsoft.com/office/drawing/2014/main" id="{4BE61D50-19CF-44A1-8A1E-3473BEC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19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53" name="graph-summarize-subtitle">
            <a:extLst xmlns:a="http://schemas.openxmlformats.org/drawingml/2006/main">
              <a:ext uri="{FF2B5EF4-FFF2-40B4-BE49-F238E27FC236}">
                <a16:creationId xmlns:a16="http://schemas.microsoft.com/office/drawing/2014/main" id="{4B106C94-7A1A-4CFE-9AE9-68E2D0D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video summary</a:t>
            </a:r>
          </a:p>
        </p:txBody>
      </p:sp>
      <p:sp>
        <p:nvSpPr>
          <p:cNvPr id="54" name="vs-graph-box">
            <a:extLst xmlns:a="http://schemas.openxmlformats.org/drawingml/2006/main">
              <a:ext uri="{FF2B5EF4-FFF2-40B4-BE49-F238E27FC236}">
                <a16:creationId xmlns:a16="http://schemas.microsoft.com/office/drawing/2014/main" id="{DD94FE2A-994A-482E-B2AC-6CD01E51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543175"/>
            <a:ext cx="1285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8765"/>
          </a:solidFill>
          <a:ln xmlns:a="http://schemas.openxmlformats.org/drawingml/2006/main" w="11430">
            <a:solidFill>
              <a:srgbClr val="168765"/>
            </a:solidFill>
            <a:prstDash val="solid"/>
          </a:ln>
        </p:spPr>
      </p:sp>
      <p:sp>
        <p:nvSpPr>
          <p:cNvPr id="55" name="vs-graph-title">
            <a:extLst xmlns:a="http://schemas.openxmlformats.org/drawingml/2006/main">
              <a:ext uri="{FF2B5EF4-FFF2-40B4-BE49-F238E27FC236}">
                <a16:creationId xmlns:a16="http://schemas.microsoft.com/office/drawing/2014/main" id="{F1A347AB-5E37-4954-B4DE-B899E21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43175"/>
            <a:ext cx="109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VS_Graph</a:t>
            </a:r>
          </a:p>
        </p:txBody>
      </p:sp>
      <p:sp>
        <p:nvSpPr>
          <p:cNvPr id="56" name="desc-extract-box">
            <a:extLst xmlns:a="http://schemas.openxmlformats.org/drawingml/2006/main">
              <a:ext uri="{FF2B5EF4-FFF2-40B4-BE49-F238E27FC236}">
                <a16:creationId xmlns:a16="http://schemas.microsoft.com/office/drawing/2014/main" id="{AC1B8A87-C81E-439D-A337-719A8432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48175"/>
            <a:ext cx="781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57" name="desc-extract-title">
            <a:extLst xmlns:a="http://schemas.openxmlformats.org/drawingml/2006/main">
              <a:ext uri="{FF2B5EF4-FFF2-40B4-BE49-F238E27FC236}">
                <a16:creationId xmlns:a16="http://schemas.microsoft.com/office/drawing/2014/main" id="{25315ED2-1343-43D9-9CAD-59680CE9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24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58" name="desc-extract-subtitle">
            <a:extLst xmlns:a="http://schemas.openxmlformats.org/drawingml/2006/main">
              <a:ext uri="{FF2B5EF4-FFF2-40B4-BE49-F238E27FC236}">
                <a16:creationId xmlns:a16="http://schemas.microsoft.com/office/drawing/2014/main" id="{33072E79-9F3D-48CD-B9AB-0A8B2D9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19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scene description</a:t>
            </a:r>
          </a:p>
        </p:txBody>
      </p:sp>
      <p:sp>
        <p:nvSpPr>
          <p:cNvPr id="59" name="sd-box">
            <a:extLst xmlns:a="http://schemas.openxmlformats.org/drawingml/2006/main">
              <a:ext uri="{FF2B5EF4-FFF2-40B4-BE49-F238E27FC236}">
                <a16:creationId xmlns:a16="http://schemas.microsoft.com/office/drawing/2014/main" id="{7C8DB0FD-DE39-46A3-A8FC-22430EF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48175"/>
            <a:ext cx="781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60" name="sd-title">
            <a:extLst xmlns:a="http://schemas.openxmlformats.org/drawingml/2006/main">
              <a:ext uri="{FF2B5EF4-FFF2-40B4-BE49-F238E27FC236}">
                <a16:creationId xmlns:a16="http://schemas.microsoft.com/office/drawing/2014/main" id="{4CDD24C1-CE05-488D-9F3F-6E551520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524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SD</a:t>
            </a:r>
          </a:p>
        </p:txBody>
      </p:sp>
      <p:sp>
        <p:nvSpPr>
          <p:cNvPr id="61" name="sd-subtitle">
            <a:extLst xmlns:a="http://schemas.openxmlformats.org/drawingml/2006/main">
              <a:ext uri="{FF2B5EF4-FFF2-40B4-BE49-F238E27FC236}">
                <a16:creationId xmlns:a16="http://schemas.microsoft.com/office/drawing/2014/main" id="{7707E5E8-F998-467E-BBC3-2F16EB5E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819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scene text</a:t>
            </a:r>
          </a:p>
        </p:txBody>
      </p:sp>
      <p:sp>
        <p:nvSpPr>
          <p:cNvPr id="62" name="desc-summarize-box">
            <a:extLst xmlns:a="http://schemas.openxmlformats.org/drawingml/2006/main">
              <a:ext uri="{FF2B5EF4-FFF2-40B4-BE49-F238E27FC236}">
                <a16:creationId xmlns:a16="http://schemas.microsoft.com/office/drawing/2014/main" id="{E75ABAAE-09F8-4374-A491-8B1B47C0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48175"/>
            <a:ext cx="781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63" name="desc-summarize-title">
            <a:extLst xmlns:a="http://schemas.openxmlformats.org/drawingml/2006/main">
              <a:ext uri="{FF2B5EF4-FFF2-40B4-BE49-F238E27FC236}">
                <a16:creationId xmlns:a16="http://schemas.microsoft.com/office/drawing/2014/main" id="{E0BBCFE2-025E-4E20-924D-F8D48F1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243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64" name="desc-summarize-subtitle">
            <a:extLst xmlns:a="http://schemas.openxmlformats.org/drawingml/2006/main">
              <a:ext uri="{FF2B5EF4-FFF2-40B4-BE49-F238E27FC236}">
                <a16:creationId xmlns:a16="http://schemas.microsoft.com/office/drawing/2014/main" id="{F2C52146-5C7F-4BE9-82DD-F839E022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video summary</a:t>
            </a:r>
          </a:p>
        </p:txBody>
      </p:sp>
      <p:sp>
        <p:nvSpPr>
          <p:cNvPr id="65" name="vs-desc-box">
            <a:extLst xmlns:a="http://schemas.openxmlformats.org/drawingml/2006/main">
              <a:ext uri="{FF2B5EF4-FFF2-40B4-BE49-F238E27FC236}">
                <a16:creationId xmlns:a16="http://schemas.microsoft.com/office/drawing/2014/main" id="{6DC3F05C-CBA1-4F14-93E5-4FCD9DE7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48175"/>
            <a:ext cx="1285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78E8"/>
          </a:solidFill>
          <a:ln xmlns:a="http://schemas.openxmlformats.org/drawingml/2006/main" w="11430">
            <a:solidFill>
              <a:srgbClr val="2F78E8"/>
            </a:solidFill>
            <a:prstDash val="solid"/>
          </a:ln>
        </p:spPr>
      </p:sp>
      <p:sp>
        <p:nvSpPr>
          <p:cNvPr id="66" name="vs-desc-title">
            <a:extLst xmlns:a="http://schemas.openxmlformats.org/drawingml/2006/main">
              <a:ext uri="{FF2B5EF4-FFF2-40B4-BE49-F238E27FC236}">
                <a16:creationId xmlns:a16="http://schemas.microsoft.com/office/drawing/2014/main" id="{917C9E44-D42C-4630-AC6D-00795658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48175"/>
            <a:ext cx="109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VS_desc</a:t>
            </a:r>
          </a:p>
        </p:txBody>
      </p:sp>
      <p:sp>
        <p:nvSpPr>
          <p:cNvPr id="67" name="id-baseline-label">
            <a:extLst xmlns:a="http://schemas.openxmlformats.org/drawingml/2006/main">
              <a:ext uri="{FF2B5EF4-FFF2-40B4-BE49-F238E27FC236}">
                <a16:creationId xmlns:a16="http://schemas.microsoft.com/office/drawing/2014/main" id="{E822ED0D-E034-47DA-97D2-848C3CEB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ID BASELINE  ·  same interaction sequence</a:t>
            </a:r>
          </a:p>
        </p:txBody>
      </p:sp>
      <p:sp>
        <p:nvSpPr>
          <p:cNvPr id="68" name="graph-embed-box">
            <a:extLst xmlns:a="http://schemas.openxmlformats.org/drawingml/2006/main">
              <a:ext uri="{FF2B5EF4-FFF2-40B4-BE49-F238E27FC236}">
                <a16:creationId xmlns:a16="http://schemas.microsoft.com/office/drawing/2014/main" id="{52D1BB73-E7AD-4FA1-8BE6-0DDE4319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05025"/>
            <a:ext cx="1866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69" name="graph-embed-title">
            <a:extLst xmlns:a="http://schemas.openxmlformats.org/drawingml/2006/main">
              <a:ext uri="{FF2B5EF4-FFF2-40B4-BE49-F238E27FC236}">
                <a16:creationId xmlns:a16="http://schemas.microsoft.com/office/drawing/2014/main" id="{2964591D-3A8B-4C75-8BAD-C8C00BC0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050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BGE 1024D  ·  frozen embedding</a:t>
            </a:r>
          </a:p>
        </p:txBody>
      </p:sp>
      <p:sp>
        <p:nvSpPr>
          <p:cNvPr id="70" name="sasrec-graph-box">
            <a:extLst xmlns:a="http://schemas.openxmlformats.org/drawingml/2006/main">
              <a:ext uri="{FF2B5EF4-FFF2-40B4-BE49-F238E27FC236}">
                <a16:creationId xmlns:a16="http://schemas.microsoft.com/office/drawing/2014/main" id="{B1400DF1-76E6-4B84-ACAB-86C617D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76525"/>
            <a:ext cx="1866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8765"/>
          </a:solidFill>
          <a:ln xmlns:a="http://schemas.openxmlformats.org/drawingml/2006/main" w="11430">
            <a:solidFill>
              <a:srgbClr val="168765"/>
            </a:solidFill>
            <a:prstDash val="solid"/>
          </a:ln>
        </p:spPr>
      </p:sp>
      <p:sp>
        <p:nvSpPr>
          <p:cNvPr id="71" name="sasrec-graph-title">
            <a:extLst xmlns:a="http://schemas.openxmlformats.org/drawingml/2006/main">
              <a:ext uri="{FF2B5EF4-FFF2-40B4-BE49-F238E27FC236}">
                <a16:creationId xmlns:a16="http://schemas.microsoft.com/office/drawing/2014/main" id="{AC678BF6-8568-4E5E-9F8B-C3AA3A8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SASRec_GRAPH</a:t>
            </a:r>
          </a:p>
        </p:txBody>
      </p:sp>
      <p:sp>
        <p:nvSpPr>
          <p:cNvPr id="72" name="sasrec-id-box">
            <a:extLst xmlns:a="http://schemas.openxmlformats.org/drawingml/2006/main">
              <a:ext uri="{FF2B5EF4-FFF2-40B4-BE49-F238E27FC236}">
                <a16:creationId xmlns:a16="http://schemas.microsoft.com/office/drawing/2014/main" id="{04AFFAC0-5E24-41AD-89F6-A8F4CD0A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38525"/>
            <a:ext cx="1866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11430">
            <a:solidFill>
              <a:srgbClr val="B7BBC2"/>
            </a:solidFill>
            <a:prstDash val="solid"/>
          </a:ln>
        </p:spPr>
      </p:sp>
      <p:sp>
        <p:nvSpPr>
          <p:cNvPr id="73" name="sasrec-id-title">
            <a:extLst xmlns:a="http://schemas.openxmlformats.org/drawingml/2006/main">
              <a:ext uri="{FF2B5EF4-FFF2-40B4-BE49-F238E27FC236}">
                <a16:creationId xmlns:a16="http://schemas.microsoft.com/office/drawing/2014/main" id="{200C4F2E-27F0-457E-A7D6-0B190E60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385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SASRec_ID</a:t>
            </a:r>
          </a:p>
        </p:txBody>
      </p:sp>
      <p:sp>
        <p:nvSpPr>
          <p:cNvPr id="74" name="desc-embed-box">
            <a:extLst xmlns:a="http://schemas.openxmlformats.org/drawingml/2006/main">
              <a:ext uri="{FF2B5EF4-FFF2-40B4-BE49-F238E27FC236}">
                <a16:creationId xmlns:a16="http://schemas.microsoft.com/office/drawing/2014/main" id="{8817C308-035D-4DA5-AF2A-9F6ECB6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0025"/>
            <a:ext cx="1866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75" name="desc-embed-title">
            <a:extLst xmlns:a="http://schemas.openxmlformats.org/drawingml/2006/main">
              <a:ext uri="{FF2B5EF4-FFF2-40B4-BE49-F238E27FC236}">
                <a16:creationId xmlns:a16="http://schemas.microsoft.com/office/drawing/2014/main" id="{5FB43F6E-B273-484B-8601-02033703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00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BGE 1024D  ·  frozen embedding</a:t>
            </a:r>
          </a:p>
        </p:txBody>
      </p:sp>
      <p:sp>
        <p:nvSpPr>
          <p:cNvPr id="76" name="sasrec-desc-box">
            <a:extLst xmlns:a="http://schemas.openxmlformats.org/drawingml/2006/main">
              <a:ext uri="{FF2B5EF4-FFF2-40B4-BE49-F238E27FC236}">
                <a16:creationId xmlns:a16="http://schemas.microsoft.com/office/drawing/2014/main" id="{13EFABDB-6663-4597-A8B0-7FB3FBA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81525"/>
            <a:ext cx="1866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8E8"/>
          </a:solidFill>
          <a:ln xmlns:a="http://schemas.openxmlformats.org/drawingml/2006/main" w="11430">
            <a:solidFill>
              <a:srgbClr val="2F78E8"/>
            </a:solidFill>
            <a:prstDash val="solid"/>
          </a:ln>
        </p:spPr>
      </p:sp>
      <p:sp>
        <p:nvSpPr>
          <p:cNvPr id="77" name="sasrec-desc-title">
            <a:extLst xmlns:a="http://schemas.openxmlformats.org/drawingml/2006/main">
              <a:ext uri="{FF2B5EF4-FFF2-40B4-BE49-F238E27FC236}">
                <a16:creationId xmlns:a16="http://schemas.microsoft.com/office/drawing/2014/main" id="{51C2299E-8051-4F5D-9CDC-2798665C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815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SASRec_DESC</a:t>
            </a:r>
          </a:p>
        </p:txBody>
      </p:sp>
      <p:sp>
        <p:nvSpPr>
          <p:cNvPr id="78" name="evaluation-scope">
            <a:extLst xmlns:a="http://schemas.openxmlformats.org/drawingml/2006/main">
              <a:ext uri="{FF2B5EF4-FFF2-40B4-BE49-F238E27FC236}">
                <a16:creationId xmlns:a16="http://schemas.microsoft.com/office/drawing/2014/main" id="{756ECDF0-CA34-4262-B58C-F144703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954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SAME TEST TARGETS</a:t>
            </a:r>
          </a:p>
        </p:txBody>
      </p:sp>
      <p:sp>
        <p:nvSpPr>
          <p:cNvPr id="79" name="evaluation-step-1-marker">
            <a:extLst xmlns:a="http://schemas.openxmlformats.org/drawingml/2006/main">
              <a:ext uri="{FF2B5EF4-FFF2-40B4-BE49-F238E27FC236}">
                <a16:creationId xmlns:a16="http://schemas.microsoft.com/office/drawing/2014/main" id="{9C54C4CF-FDCE-4DA6-9F05-276C38B2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9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solidFill>
              <a:srgbClr val="A85D00"/>
            </a:solidFill>
            <a:prstDash val="solid"/>
          </a:ln>
        </p:spPr>
      </p:sp>
      <p:sp>
        <p:nvSpPr>
          <p:cNvPr id="80" name="evaluation-step-1-number">
            <a:extLst xmlns:a="http://schemas.openxmlformats.org/drawingml/2006/main">
              <a:ext uri="{FF2B5EF4-FFF2-40B4-BE49-F238E27FC236}">
                <a16:creationId xmlns:a16="http://schemas.microsoft.com/office/drawing/2014/main" id="{96766910-FE80-4703-9232-5FC7F8D7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9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evaluation-step-1-title">
            <a:extLst xmlns:a="http://schemas.openxmlformats.org/drawingml/2006/main">
              <a:ext uri="{FF2B5EF4-FFF2-40B4-BE49-F238E27FC236}">
                <a16:creationId xmlns:a16="http://schemas.microsoft.com/office/drawing/2014/main" id="{2BE85DFE-9823-4982-90E6-3D2018C0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9526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Full-catalog ranking</a:t>
            </a:r>
          </a:p>
        </p:txBody>
      </p:sp>
      <p:sp>
        <p:nvSpPr>
          <p:cNvPr id="82" name="evaluation-step-1-note">
            <a:extLst xmlns:a="http://schemas.openxmlformats.org/drawingml/2006/main">
              <a:ext uri="{FF2B5EF4-FFF2-40B4-BE49-F238E27FC236}">
                <a16:creationId xmlns:a16="http://schemas.microsoft.com/office/drawing/2014/main" id="{6E7C3889-2A44-46D4-BD13-92737B7C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431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58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모든 후보 item을 점수화</a:t>
            </a:r>
          </a:p>
        </p:txBody>
      </p:sp>
      <p:cxnSp>
        <p:nvCxnSpPr>
          <p:cNvPr id="180" name="evaluation-rule-1"/>
          <p:cNvCxnSpPr/>
          <p:nvPr/>
        </p:nvCxnSpPr>
        <p:spPr>
          <a:xfrm xmlns:a="http://schemas.openxmlformats.org/drawingml/2006/main">
            <a:off x="10210800" y="26670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A55E"/>
            </a:solidFill>
            <a:prstDash val="solid"/>
          </a:ln>
        </p:spPr>
      </p:cxnSp>
      <p:sp>
        <p:nvSpPr>
          <p:cNvPr id="84" name="evaluation-step-2-marker">
            <a:extLst xmlns:a="http://schemas.openxmlformats.org/drawingml/2006/main">
              <a:ext uri="{FF2B5EF4-FFF2-40B4-BE49-F238E27FC236}">
                <a16:creationId xmlns:a16="http://schemas.microsoft.com/office/drawing/2014/main" id="{0DCA05AE-E18B-4D39-B01B-E5B87FDA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00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solidFill>
              <a:srgbClr val="A85D00"/>
            </a:solidFill>
            <a:prstDash val="solid"/>
          </a:ln>
        </p:spPr>
      </p:sp>
      <p:sp>
        <p:nvSpPr>
          <p:cNvPr id="85" name="evaluation-step-2-number">
            <a:extLst xmlns:a="http://schemas.openxmlformats.org/drawingml/2006/main">
              <a:ext uri="{FF2B5EF4-FFF2-40B4-BE49-F238E27FC236}">
                <a16:creationId xmlns:a16="http://schemas.microsoft.com/office/drawing/2014/main" id="{7C073C4A-40E6-4517-9FC5-8C4F40C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" name="evaluation-step-2-title">
            <a:extLst xmlns:a="http://schemas.openxmlformats.org/drawingml/2006/main">
              <a:ext uri="{FF2B5EF4-FFF2-40B4-BE49-F238E27FC236}">
                <a16:creationId xmlns:a16="http://schemas.microsoft.com/office/drawing/2014/main" id="{AB2E5F0E-A568-4CF5-BDA3-B07A703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622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87" name="rank-quality">
            <a:extLst xmlns:a="http://schemas.openxmlformats.org/drawingml/2006/main">
              <a:ext uri="{FF2B5EF4-FFF2-40B4-BE49-F238E27FC236}">
                <a16:creationId xmlns:a16="http://schemas.microsoft.com/office/drawing/2014/main" id="{2CE7973E-307D-43B8-BC70-BF2B2FE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242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43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Rank quality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HR@10 · NDCG@10</a:t>
            </a:r>
          </a:p>
        </p:txBody>
      </p:sp>
      <p:sp>
        <p:nvSpPr>
          <p:cNvPr id="88" name="catalog-spread">
            <a:extLst xmlns:a="http://schemas.openxmlformats.org/drawingml/2006/main">
              <a:ext uri="{FF2B5EF4-FFF2-40B4-BE49-F238E27FC236}">
                <a16:creationId xmlns:a16="http://schemas.microsoft.com/office/drawing/2014/main" id="{7C96D9E2-210B-4DD3-987D-95EB898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57600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2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Catalog spread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Top-20 coverage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Top-1 concentration</a:t>
            </a:r>
          </a:p>
        </p:txBody>
      </p:sp>
      <p:cxnSp>
        <p:nvCxnSpPr>
          <p:cNvPr id="186" name="evaluation-rule-2"/>
          <p:cNvCxnSpPr/>
          <p:nvPr/>
        </p:nvCxnSpPr>
        <p:spPr>
          <a:xfrm xmlns:a="http://schemas.openxmlformats.org/drawingml/2006/main">
            <a:off x="10210800" y="436245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A55E"/>
            </a:solidFill>
            <a:prstDash val="solid"/>
          </a:ln>
        </p:spPr>
      </p:cxnSp>
      <p:sp>
        <p:nvSpPr>
          <p:cNvPr id="90" name="evaluation-step-3-marker">
            <a:extLst xmlns:a="http://schemas.openxmlformats.org/drawingml/2006/main">
              <a:ext uri="{FF2B5EF4-FFF2-40B4-BE49-F238E27FC236}">
                <a16:creationId xmlns:a16="http://schemas.microsoft.com/office/drawing/2014/main" id="{B06C640C-C820-419E-825C-1ABF5062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solidFill>
              <a:srgbClr val="A85D00"/>
            </a:solidFill>
            <a:prstDash val="solid"/>
          </a:ln>
        </p:spPr>
      </p:sp>
      <p:sp>
        <p:nvSpPr>
          <p:cNvPr id="91" name="evaluation-step-3-number">
            <a:extLst xmlns:a="http://schemas.openxmlformats.org/drawingml/2006/main">
              <a:ext uri="{FF2B5EF4-FFF2-40B4-BE49-F238E27FC236}">
                <a16:creationId xmlns:a16="http://schemas.microsoft.com/office/drawing/2014/main" id="{6213FA49-0F59-49DA-AB76-60496540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95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2" name="evaluation-step-3-title">
            <a:extLst xmlns:a="http://schemas.openxmlformats.org/drawingml/2006/main">
              <a:ext uri="{FF2B5EF4-FFF2-40B4-BE49-F238E27FC236}">
                <a16:creationId xmlns:a16="http://schemas.microsoft.com/office/drawing/2014/main" id="{E4CA031C-307A-402B-9BD6-31870CA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57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Compare arms</a:t>
            </a:r>
          </a:p>
        </p:txBody>
      </p:sp>
      <p:sp>
        <p:nvSpPr>
          <p:cNvPr id="93" name="arm-comparisons">
            <a:extLst xmlns:a="http://schemas.openxmlformats.org/drawingml/2006/main">
              <a:ext uri="{FF2B5EF4-FFF2-40B4-BE49-F238E27FC236}">
                <a16:creationId xmlns:a16="http://schemas.microsoft.com/office/drawing/2014/main" id="{64C72BED-58D2-4F21-9C49-1F995D7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96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GRAPH vs ID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DESC vs ID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GRAPH ↔ DESC</a:t>
            </a:r>
          </a:p>
        </p:txBody>
      </p:sp>
      <p:sp>
        <p:nvSpPr>
          <p:cNvPr id="94" name="diagnosis">
            <a:extLst xmlns:a="http://schemas.openxmlformats.org/drawingml/2006/main">
              <a:ext uri="{FF2B5EF4-FFF2-40B4-BE49-F238E27FC236}">
                <a16:creationId xmlns:a16="http://schemas.microsoft.com/office/drawing/2014/main" id="{9C220A0E-16D0-49BE-A4ED-ADFA8D6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04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7085"/>
                </a:solidFill>
                <a:latin typeface="Arial"/>
                <a:ea typeface="Arial"/>
                <a:cs typeface="Arial"/>
              </a:rPr>
              <a:t>paired bootstrap → diagnosis/report</a:t>
            </a:r>
          </a:p>
        </p:txBody>
      </p:sp>
      <p:cxnSp>
        <p:nvCxnSpPr>
          <p:cNvPr id="192" name="footer-rule"/>
          <p:cNvCxnSpPr/>
          <p:nvPr/>
        </p:nvCxnSpPr>
        <p:spPr>
          <a:xfrm xmlns:a="http://schemas.openxmlformats.org/drawingml/2006/main">
            <a:off x="457200" y="5953125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6" name="footer">
            <a:extLst xmlns:a="http://schemas.openxmlformats.org/drawingml/2006/main">
              <a:ext uri="{FF2B5EF4-FFF2-40B4-BE49-F238E27FC236}">
                <a16:creationId xmlns:a16="http://schemas.microsoft.com/office/drawing/2014/main" id="{01969799-C872-46C3-AB6E-B550B11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통제 조건  ·  split, seeds, candidate scoring과 SASRec protocol은 고정하고 representation arm만 비교</a:t>
            </a:r>
          </a:p>
        </p:txBody>
      </p:sp>
      <p:sp>
        <p:nvSpPr>
          <p:cNvPr id="97" name="acronym-note">
            <a:extLst xmlns:a="http://schemas.openxmlformats.org/drawingml/2006/main">
              <a:ext uri="{FF2B5EF4-FFF2-40B4-BE49-F238E27FC236}">
                <a16:creationId xmlns:a16="http://schemas.microsoft.com/office/drawing/2014/main" id="{AF89D02D-4889-4FE2-8DFC-C5DE42F4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8A919C"/>
                </a:solidFill>
                <a:latin typeface="Arial"/>
                <a:ea typeface="Arial"/>
                <a:cs typeface="Arial"/>
              </a:rPr>
              <a:t>SCG = Scene Context Graph  ·  SD = Scene Description  ·  VS_Graph = Graph-based Video Summary  ·  VS_desc = Description-based Video Summary</a:t>
            </a:r>
          </a:p>
        </p:txBody>
      </p:sp>
    </p:spTree>
    <p:extLst>
      <p:ext uri="{BB962C8B-B14F-4D97-AF65-F5344CB8AC3E}">
        <p14:creationId xmlns:p14="http://schemas.microsoft.com/office/powerpoint/2010/main" val="1746741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2026-08-25T00:28:36.8220000Z</dcterms:created>
  <dcterms:modified xsi:type="dcterms:W3CDTF">2026-08-25T00:28:36.8220000Z</dcterms:modified>
</coreProperties>
</file>